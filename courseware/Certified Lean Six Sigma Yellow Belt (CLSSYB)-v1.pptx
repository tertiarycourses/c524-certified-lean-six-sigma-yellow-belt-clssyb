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9" r:id="rId10"/>
    <p:sldId id="260" r:id="rId11"/>
    <p:sldId id="261" r:id="rId12"/>
    <p:sldId id="262" r:id="rId13"/>
    <p:sldId id="263" r:id="rId14"/>
    <p:sldId id="264" r:id="rId15"/>
    <p:sldId id="266" r:id="rId17"/>
    <p:sldId id="267" r:id="rId18"/>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3" r:id="rId274"/>
    <p:sldId id="524" r:id="rId275"/>
    <p:sldId id="525" r:id="rId27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27" Type="http://schemas.openxmlformats.org/officeDocument/2006/relationships/slide" Target="slides/slide16.xml"/><Relationship Id="rId28" Type="http://schemas.openxmlformats.org/officeDocument/2006/relationships/slide" Target="slides/slide17.xml"/><Relationship Id="rId29" Type="http://schemas.openxmlformats.org/officeDocument/2006/relationships/slide" Target="slides/slide18.xml"/><Relationship Id="rId30" Type="http://schemas.openxmlformats.org/officeDocument/2006/relationships/slide" Target="slides/slide19.xml"/><Relationship Id="rId31" Type="http://schemas.openxmlformats.org/officeDocument/2006/relationships/slide" Target="slides/slide20.xml"/><Relationship Id="rId32" Type="http://schemas.openxmlformats.org/officeDocument/2006/relationships/slide" Target="slides/slide21.xml"/><Relationship Id="rId33" Type="http://schemas.openxmlformats.org/officeDocument/2006/relationships/slide" Target="slides/slide22.xml"/><Relationship Id="rId34" Type="http://schemas.openxmlformats.org/officeDocument/2006/relationships/slide" Target="slides/slide23.xml"/><Relationship Id="rId35" Type="http://schemas.openxmlformats.org/officeDocument/2006/relationships/slide" Target="slides/slide24.xml"/><Relationship Id="rId36" Type="http://schemas.openxmlformats.org/officeDocument/2006/relationships/slide" Target="slides/slide25.xml"/><Relationship Id="rId37" Type="http://schemas.openxmlformats.org/officeDocument/2006/relationships/slide" Target="slides/slide26.xml"/><Relationship Id="rId38" Type="http://schemas.openxmlformats.org/officeDocument/2006/relationships/slide" Target="slides/slide27.xml"/><Relationship Id="rId39" Type="http://schemas.openxmlformats.org/officeDocument/2006/relationships/slide" Target="slides/slide28.xml"/><Relationship Id="rId40" Type="http://schemas.openxmlformats.org/officeDocument/2006/relationships/slide" Target="slides/slide29.xml"/><Relationship Id="rId41" Type="http://schemas.openxmlformats.org/officeDocument/2006/relationships/slide" Target="slides/slide30.xml"/><Relationship Id="rId42" Type="http://schemas.openxmlformats.org/officeDocument/2006/relationships/slide" Target="slides/slide31.xml"/><Relationship Id="rId43" Type="http://schemas.openxmlformats.org/officeDocument/2006/relationships/slide" Target="slides/slide32.xml"/><Relationship Id="rId44" Type="http://schemas.openxmlformats.org/officeDocument/2006/relationships/slide" Target="slides/slide33.xml"/><Relationship Id="rId45" Type="http://schemas.openxmlformats.org/officeDocument/2006/relationships/slide" Target="slides/slide34.xml"/><Relationship Id="rId46" Type="http://schemas.openxmlformats.org/officeDocument/2006/relationships/slide" Target="slides/slide35.xml"/><Relationship Id="rId47" Type="http://schemas.openxmlformats.org/officeDocument/2006/relationships/slide" Target="slides/slide36.xml"/><Relationship Id="rId48" Type="http://schemas.openxmlformats.org/officeDocument/2006/relationships/slide" Target="slides/slide37.xml"/><Relationship Id="rId49" Type="http://schemas.openxmlformats.org/officeDocument/2006/relationships/slide" Target="slides/slide38.xml"/><Relationship Id="rId50" Type="http://schemas.openxmlformats.org/officeDocument/2006/relationships/slide" Target="slides/slide39.xml"/><Relationship Id="rId51" Type="http://schemas.openxmlformats.org/officeDocument/2006/relationships/slide" Target="slides/slide40.xml"/><Relationship Id="rId52" Type="http://schemas.openxmlformats.org/officeDocument/2006/relationships/slide" Target="slides/slide41.xml"/><Relationship Id="rId53" Type="http://schemas.openxmlformats.org/officeDocument/2006/relationships/slide" Target="slides/slide42.xml"/><Relationship Id="rId54" Type="http://schemas.openxmlformats.org/officeDocument/2006/relationships/slide" Target="slides/slide43.xml"/><Relationship Id="rId55" Type="http://schemas.openxmlformats.org/officeDocument/2006/relationships/slide" Target="slides/slide44.xml"/><Relationship Id="rId56" Type="http://schemas.openxmlformats.org/officeDocument/2006/relationships/slide" Target="slides/slide45.xml"/><Relationship Id="rId57" Type="http://schemas.openxmlformats.org/officeDocument/2006/relationships/slide" Target="slides/slide46.xml"/><Relationship Id="rId58" Type="http://schemas.openxmlformats.org/officeDocument/2006/relationships/slide" Target="slides/slide47.xml"/><Relationship Id="rId59" Type="http://schemas.openxmlformats.org/officeDocument/2006/relationships/slide" Target="slides/slide48.xml"/><Relationship Id="rId60" Type="http://schemas.openxmlformats.org/officeDocument/2006/relationships/slide" Target="slides/slide49.xml"/><Relationship Id="rId61" Type="http://schemas.openxmlformats.org/officeDocument/2006/relationships/slide" Target="slides/slide50.xml"/><Relationship Id="rId62" Type="http://schemas.openxmlformats.org/officeDocument/2006/relationships/slide" Target="slides/slide51.xml"/><Relationship Id="rId63" Type="http://schemas.openxmlformats.org/officeDocument/2006/relationships/slide" Target="slides/slide52.xml"/><Relationship Id="rId64" Type="http://schemas.openxmlformats.org/officeDocument/2006/relationships/slide" Target="slides/slide53.xml"/><Relationship Id="rId65" Type="http://schemas.openxmlformats.org/officeDocument/2006/relationships/slide" Target="slides/slide54.xml"/><Relationship Id="rId66" Type="http://schemas.openxmlformats.org/officeDocument/2006/relationships/slide" Target="slides/slide55.xml"/><Relationship Id="rId67" Type="http://schemas.openxmlformats.org/officeDocument/2006/relationships/slide" Target="slides/slide56.xml"/><Relationship Id="rId68" Type="http://schemas.openxmlformats.org/officeDocument/2006/relationships/slide" Target="slides/slide57.xml"/><Relationship Id="rId69" Type="http://schemas.openxmlformats.org/officeDocument/2006/relationships/slide" Target="slides/slide58.xml"/><Relationship Id="rId70" Type="http://schemas.openxmlformats.org/officeDocument/2006/relationships/slide" Target="slides/slide59.xml"/><Relationship Id="rId71" Type="http://schemas.openxmlformats.org/officeDocument/2006/relationships/slide" Target="slides/slide60.xml"/><Relationship Id="rId72" Type="http://schemas.openxmlformats.org/officeDocument/2006/relationships/slide" Target="slides/slide61.xml"/><Relationship Id="rId73" Type="http://schemas.openxmlformats.org/officeDocument/2006/relationships/slide" Target="slides/slide62.xml"/><Relationship Id="rId74" Type="http://schemas.openxmlformats.org/officeDocument/2006/relationships/slide" Target="slides/slide63.xml"/><Relationship Id="rId75" Type="http://schemas.openxmlformats.org/officeDocument/2006/relationships/slide" Target="slides/slide64.xml"/><Relationship Id="rId76" Type="http://schemas.openxmlformats.org/officeDocument/2006/relationships/slide" Target="slides/slide65.xml"/><Relationship Id="rId77" Type="http://schemas.openxmlformats.org/officeDocument/2006/relationships/slide" Target="slides/slide66.xml"/><Relationship Id="rId78" Type="http://schemas.openxmlformats.org/officeDocument/2006/relationships/slide" Target="slides/slide67.xml"/><Relationship Id="rId79" Type="http://schemas.openxmlformats.org/officeDocument/2006/relationships/slide" Target="slides/slide68.xml"/><Relationship Id="rId80" Type="http://schemas.openxmlformats.org/officeDocument/2006/relationships/slide" Target="slides/slide69.xml"/><Relationship Id="rId81" Type="http://schemas.openxmlformats.org/officeDocument/2006/relationships/slide" Target="slides/slide70.xml"/><Relationship Id="rId82" Type="http://schemas.openxmlformats.org/officeDocument/2006/relationships/slide" Target="slides/slide71.xml"/><Relationship Id="rId83" Type="http://schemas.openxmlformats.org/officeDocument/2006/relationships/slide" Target="slides/slide72.xml"/><Relationship Id="rId84" Type="http://schemas.openxmlformats.org/officeDocument/2006/relationships/slide" Target="slides/slide73.xml"/><Relationship Id="rId85" Type="http://schemas.openxmlformats.org/officeDocument/2006/relationships/slide" Target="slides/slide74.xml"/><Relationship Id="rId86" Type="http://schemas.openxmlformats.org/officeDocument/2006/relationships/slide" Target="slides/slide75.xml"/><Relationship Id="rId87" Type="http://schemas.openxmlformats.org/officeDocument/2006/relationships/slide" Target="slides/slide76.xml"/><Relationship Id="rId88" Type="http://schemas.openxmlformats.org/officeDocument/2006/relationships/slide" Target="slides/slide77.xml"/><Relationship Id="rId89" Type="http://schemas.openxmlformats.org/officeDocument/2006/relationships/slide" Target="slides/slide78.xml"/><Relationship Id="rId90" Type="http://schemas.openxmlformats.org/officeDocument/2006/relationships/slide" Target="slides/slide79.xml"/><Relationship Id="rId91" Type="http://schemas.openxmlformats.org/officeDocument/2006/relationships/slide" Target="slides/slide80.xml"/><Relationship Id="rId92" Type="http://schemas.openxmlformats.org/officeDocument/2006/relationships/slide" Target="slides/slide81.xml"/><Relationship Id="rId93" Type="http://schemas.openxmlformats.org/officeDocument/2006/relationships/slide" Target="slides/slide82.xml"/><Relationship Id="rId94" Type="http://schemas.openxmlformats.org/officeDocument/2006/relationships/slide" Target="slides/slide83.xml"/><Relationship Id="rId95" Type="http://schemas.openxmlformats.org/officeDocument/2006/relationships/slide" Target="slides/slide84.xml"/><Relationship Id="rId96" Type="http://schemas.openxmlformats.org/officeDocument/2006/relationships/slide" Target="slides/slide85.xml"/><Relationship Id="rId97" Type="http://schemas.openxmlformats.org/officeDocument/2006/relationships/slide" Target="slides/slide86.xml"/><Relationship Id="rId98" Type="http://schemas.openxmlformats.org/officeDocument/2006/relationships/slide" Target="slides/slide87.xml"/><Relationship Id="rId99" Type="http://schemas.openxmlformats.org/officeDocument/2006/relationships/slide" Target="slides/slide88.xml"/><Relationship Id="rId100" Type="http://schemas.openxmlformats.org/officeDocument/2006/relationships/slide" Target="slides/slide89.xml"/><Relationship Id="rId101" Type="http://schemas.openxmlformats.org/officeDocument/2006/relationships/slide" Target="slides/slide90.xml"/><Relationship Id="rId102" Type="http://schemas.openxmlformats.org/officeDocument/2006/relationships/slide" Target="slides/slide91.xml"/><Relationship Id="rId103" Type="http://schemas.openxmlformats.org/officeDocument/2006/relationships/slide" Target="slides/slide92.xml"/><Relationship Id="rId104" Type="http://schemas.openxmlformats.org/officeDocument/2006/relationships/slide" Target="slides/slide93.xml"/><Relationship Id="rId105" Type="http://schemas.openxmlformats.org/officeDocument/2006/relationships/slide" Target="slides/slide94.xml"/><Relationship Id="rId106" Type="http://schemas.openxmlformats.org/officeDocument/2006/relationships/slide" Target="slides/slide95.xml"/><Relationship Id="rId107" Type="http://schemas.openxmlformats.org/officeDocument/2006/relationships/slide" Target="slides/slide96.xml"/><Relationship Id="rId108" Type="http://schemas.openxmlformats.org/officeDocument/2006/relationships/slide" Target="slides/slide97.xml"/><Relationship Id="rId109" Type="http://schemas.openxmlformats.org/officeDocument/2006/relationships/slide" Target="slides/slide98.xml"/><Relationship Id="rId110" Type="http://schemas.openxmlformats.org/officeDocument/2006/relationships/slide" Target="slides/slide99.xml"/><Relationship Id="rId111" Type="http://schemas.openxmlformats.org/officeDocument/2006/relationships/slide" Target="slides/slide100.xml"/><Relationship Id="rId112" Type="http://schemas.openxmlformats.org/officeDocument/2006/relationships/slide" Target="slides/slide101.xml"/><Relationship Id="rId113" Type="http://schemas.openxmlformats.org/officeDocument/2006/relationships/slide" Target="slides/slide102.xml"/><Relationship Id="rId114" Type="http://schemas.openxmlformats.org/officeDocument/2006/relationships/slide" Target="slides/slide103.xml"/><Relationship Id="rId115" Type="http://schemas.openxmlformats.org/officeDocument/2006/relationships/slide" Target="slides/slide104.xml"/><Relationship Id="rId116" Type="http://schemas.openxmlformats.org/officeDocument/2006/relationships/slide" Target="slides/slide105.xml"/><Relationship Id="rId117" Type="http://schemas.openxmlformats.org/officeDocument/2006/relationships/slide" Target="slides/slide106.xml"/><Relationship Id="rId118" Type="http://schemas.openxmlformats.org/officeDocument/2006/relationships/slide" Target="slides/slide107.xml"/><Relationship Id="rId119" Type="http://schemas.openxmlformats.org/officeDocument/2006/relationships/slide" Target="slides/slide108.xml"/><Relationship Id="rId120" Type="http://schemas.openxmlformats.org/officeDocument/2006/relationships/slide" Target="slides/slide109.xml"/><Relationship Id="rId121" Type="http://schemas.openxmlformats.org/officeDocument/2006/relationships/slide" Target="slides/slide110.xml"/><Relationship Id="rId122" Type="http://schemas.openxmlformats.org/officeDocument/2006/relationships/slide" Target="slides/slide111.xml"/><Relationship Id="rId123" Type="http://schemas.openxmlformats.org/officeDocument/2006/relationships/slide" Target="slides/slide112.xml"/><Relationship Id="rId124" Type="http://schemas.openxmlformats.org/officeDocument/2006/relationships/slide" Target="slides/slide113.xml"/><Relationship Id="rId125" Type="http://schemas.openxmlformats.org/officeDocument/2006/relationships/slide" Target="slides/slide114.xml"/><Relationship Id="rId126" Type="http://schemas.openxmlformats.org/officeDocument/2006/relationships/slide" Target="slides/slide115.xml"/><Relationship Id="rId127" Type="http://schemas.openxmlformats.org/officeDocument/2006/relationships/slide" Target="slides/slide116.xml"/><Relationship Id="rId128" Type="http://schemas.openxmlformats.org/officeDocument/2006/relationships/slide" Target="slides/slide117.xml"/><Relationship Id="rId129" Type="http://schemas.openxmlformats.org/officeDocument/2006/relationships/slide" Target="slides/slide118.xml"/><Relationship Id="rId130" Type="http://schemas.openxmlformats.org/officeDocument/2006/relationships/slide" Target="slides/slide119.xml"/><Relationship Id="rId131" Type="http://schemas.openxmlformats.org/officeDocument/2006/relationships/slide" Target="slides/slide120.xml"/><Relationship Id="rId132" Type="http://schemas.openxmlformats.org/officeDocument/2006/relationships/slide" Target="slides/slide121.xml"/><Relationship Id="rId133" Type="http://schemas.openxmlformats.org/officeDocument/2006/relationships/slide" Target="slides/slide122.xml"/><Relationship Id="rId134" Type="http://schemas.openxmlformats.org/officeDocument/2006/relationships/slide" Target="slides/slide123.xml"/><Relationship Id="rId135" Type="http://schemas.openxmlformats.org/officeDocument/2006/relationships/slide" Target="slides/slide124.xml"/><Relationship Id="rId136" Type="http://schemas.openxmlformats.org/officeDocument/2006/relationships/slide" Target="slides/slide125.xml"/><Relationship Id="rId137" Type="http://schemas.openxmlformats.org/officeDocument/2006/relationships/slide" Target="slides/slide126.xml"/><Relationship Id="rId138" Type="http://schemas.openxmlformats.org/officeDocument/2006/relationships/slide" Target="slides/slide127.xml"/><Relationship Id="rId139" Type="http://schemas.openxmlformats.org/officeDocument/2006/relationships/slide" Target="slides/slide128.xml"/><Relationship Id="rId140" Type="http://schemas.openxmlformats.org/officeDocument/2006/relationships/slide" Target="slides/slide129.xml"/><Relationship Id="rId141" Type="http://schemas.openxmlformats.org/officeDocument/2006/relationships/slide" Target="slides/slide130.xml"/><Relationship Id="rId142" Type="http://schemas.openxmlformats.org/officeDocument/2006/relationships/slide" Target="slides/slide131.xml"/><Relationship Id="rId143" Type="http://schemas.openxmlformats.org/officeDocument/2006/relationships/slide" Target="slides/slide132.xml"/><Relationship Id="rId144" Type="http://schemas.openxmlformats.org/officeDocument/2006/relationships/slide" Target="slides/slide133.xml"/><Relationship Id="rId145" Type="http://schemas.openxmlformats.org/officeDocument/2006/relationships/slide" Target="slides/slide134.xml"/><Relationship Id="rId146" Type="http://schemas.openxmlformats.org/officeDocument/2006/relationships/slide" Target="slides/slide135.xml"/><Relationship Id="rId147" Type="http://schemas.openxmlformats.org/officeDocument/2006/relationships/slide" Target="slides/slide136.xml"/><Relationship Id="rId148" Type="http://schemas.openxmlformats.org/officeDocument/2006/relationships/slide" Target="slides/slide137.xml"/><Relationship Id="rId149" Type="http://schemas.openxmlformats.org/officeDocument/2006/relationships/slide" Target="slides/slide138.xml"/><Relationship Id="rId150" Type="http://schemas.openxmlformats.org/officeDocument/2006/relationships/slide" Target="slides/slide139.xml"/><Relationship Id="rId151" Type="http://schemas.openxmlformats.org/officeDocument/2006/relationships/slide" Target="slides/slide140.xml"/><Relationship Id="rId152" Type="http://schemas.openxmlformats.org/officeDocument/2006/relationships/slide" Target="slides/slide141.xml"/><Relationship Id="rId153" Type="http://schemas.openxmlformats.org/officeDocument/2006/relationships/slide" Target="slides/slide142.xml"/><Relationship Id="rId154" Type="http://schemas.openxmlformats.org/officeDocument/2006/relationships/slide" Target="slides/slide143.xml"/><Relationship Id="rId155" Type="http://schemas.openxmlformats.org/officeDocument/2006/relationships/slide" Target="slides/slide144.xml"/><Relationship Id="rId156" Type="http://schemas.openxmlformats.org/officeDocument/2006/relationships/slide" Target="slides/slide145.xml"/><Relationship Id="rId157" Type="http://schemas.openxmlformats.org/officeDocument/2006/relationships/slide" Target="slides/slide146.xml"/><Relationship Id="rId158" Type="http://schemas.openxmlformats.org/officeDocument/2006/relationships/slide" Target="slides/slide147.xml"/><Relationship Id="rId159" Type="http://schemas.openxmlformats.org/officeDocument/2006/relationships/slide" Target="slides/slide148.xml"/><Relationship Id="rId160" Type="http://schemas.openxmlformats.org/officeDocument/2006/relationships/slide" Target="slides/slide149.xml"/><Relationship Id="rId161" Type="http://schemas.openxmlformats.org/officeDocument/2006/relationships/slide" Target="slides/slide150.xml"/><Relationship Id="rId162" Type="http://schemas.openxmlformats.org/officeDocument/2006/relationships/slide" Target="slides/slide151.xml"/><Relationship Id="rId163" Type="http://schemas.openxmlformats.org/officeDocument/2006/relationships/slide" Target="slides/slide152.xml"/><Relationship Id="rId164" Type="http://schemas.openxmlformats.org/officeDocument/2006/relationships/slide" Target="slides/slide153.xml"/><Relationship Id="rId165" Type="http://schemas.openxmlformats.org/officeDocument/2006/relationships/slide" Target="slides/slide154.xml"/><Relationship Id="rId166" Type="http://schemas.openxmlformats.org/officeDocument/2006/relationships/slide" Target="slides/slide155.xml"/><Relationship Id="rId167" Type="http://schemas.openxmlformats.org/officeDocument/2006/relationships/slide" Target="slides/slide156.xml"/><Relationship Id="rId168" Type="http://schemas.openxmlformats.org/officeDocument/2006/relationships/slide" Target="slides/slide157.xml"/><Relationship Id="rId169" Type="http://schemas.openxmlformats.org/officeDocument/2006/relationships/slide" Target="slides/slide158.xml"/><Relationship Id="rId170" Type="http://schemas.openxmlformats.org/officeDocument/2006/relationships/slide" Target="slides/slide159.xml"/><Relationship Id="rId171" Type="http://schemas.openxmlformats.org/officeDocument/2006/relationships/slide" Target="slides/slide160.xml"/><Relationship Id="rId172" Type="http://schemas.openxmlformats.org/officeDocument/2006/relationships/slide" Target="slides/slide161.xml"/><Relationship Id="rId173" Type="http://schemas.openxmlformats.org/officeDocument/2006/relationships/slide" Target="slides/slide162.xml"/><Relationship Id="rId174" Type="http://schemas.openxmlformats.org/officeDocument/2006/relationships/slide" Target="slides/slide163.xml"/><Relationship Id="rId175" Type="http://schemas.openxmlformats.org/officeDocument/2006/relationships/slide" Target="slides/slide164.xml"/><Relationship Id="rId176" Type="http://schemas.openxmlformats.org/officeDocument/2006/relationships/slide" Target="slides/slide165.xml"/><Relationship Id="rId177" Type="http://schemas.openxmlformats.org/officeDocument/2006/relationships/slide" Target="slides/slide166.xml"/><Relationship Id="rId178" Type="http://schemas.openxmlformats.org/officeDocument/2006/relationships/slide" Target="slides/slide167.xml"/><Relationship Id="rId179" Type="http://schemas.openxmlformats.org/officeDocument/2006/relationships/slide" Target="slides/slide168.xml"/><Relationship Id="rId180" Type="http://schemas.openxmlformats.org/officeDocument/2006/relationships/slide" Target="slides/slide169.xml"/><Relationship Id="rId181" Type="http://schemas.openxmlformats.org/officeDocument/2006/relationships/slide" Target="slides/slide170.xml"/><Relationship Id="rId182" Type="http://schemas.openxmlformats.org/officeDocument/2006/relationships/slide" Target="slides/slide171.xml"/><Relationship Id="rId183" Type="http://schemas.openxmlformats.org/officeDocument/2006/relationships/slide" Target="slides/slide172.xml"/><Relationship Id="rId184" Type="http://schemas.openxmlformats.org/officeDocument/2006/relationships/slide" Target="slides/slide173.xml"/><Relationship Id="rId185" Type="http://schemas.openxmlformats.org/officeDocument/2006/relationships/slide" Target="slides/slide174.xml"/><Relationship Id="rId186" Type="http://schemas.openxmlformats.org/officeDocument/2006/relationships/slide" Target="slides/slide175.xml"/><Relationship Id="rId187" Type="http://schemas.openxmlformats.org/officeDocument/2006/relationships/slide" Target="slides/slide176.xml"/><Relationship Id="rId188" Type="http://schemas.openxmlformats.org/officeDocument/2006/relationships/slide" Target="slides/slide177.xml"/><Relationship Id="rId189" Type="http://schemas.openxmlformats.org/officeDocument/2006/relationships/slide" Target="slides/slide178.xml"/><Relationship Id="rId190" Type="http://schemas.openxmlformats.org/officeDocument/2006/relationships/slide" Target="slides/slide179.xml"/><Relationship Id="rId191" Type="http://schemas.openxmlformats.org/officeDocument/2006/relationships/slide" Target="slides/slide180.xml"/><Relationship Id="rId192" Type="http://schemas.openxmlformats.org/officeDocument/2006/relationships/slide" Target="slides/slide181.xml"/><Relationship Id="rId193" Type="http://schemas.openxmlformats.org/officeDocument/2006/relationships/slide" Target="slides/slide182.xml"/><Relationship Id="rId194" Type="http://schemas.openxmlformats.org/officeDocument/2006/relationships/slide" Target="slides/slide183.xml"/><Relationship Id="rId195" Type="http://schemas.openxmlformats.org/officeDocument/2006/relationships/slide" Target="slides/slide184.xml"/><Relationship Id="rId196" Type="http://schemas.openxmlformats.org/officeDocument/2006/relationships/slide" Target="slides/slide185.xml"/><Relationship Id="rId197" Type="http://schemas.openxmlformats.org/officeDocument/2006/relationships/slide" Target="slides/slide186.xml"/><Relationship Id="rId198" Type="http://schemas.openxmlformats.org/officeDocument/2006/relationships/slide" Target="slides/slide187.xml"/><Relationship Id="rId199" Type="http://schemas.openxmlformats.org/officeDocument/2006/relationships/slide" Target="slides/slide188.xml"/><Relationship Id="rId200" Type="http://schemas.openxmlformats.org/officeDocument/2006/relationships/slide" Target="slides/slide189.xml"/><Relationship Id="rId201" Type="http://schemas.openxmlformats.org/officeDocument/2006/relationships/slide" Target="slides/slide190.xml"/><Relationship Id="rId202" Type="http://schemas.openxmlformats.org/officeDocument/2006/relationships/slide" Target="slides/slide191.xml"/><Relationship Id="rId203" Type="http://schemas.openxmlformats.org/officeDocument/2006/relationships/slide" Target="slides/slide192.xml"/><Relationship Id="rId204" Type="http://schemas.openxmlformats.org/officeDocument/2006/relationships/slide" Target="slides/slide193.xml"/><Relationship Id="rId205" Type="http://schemas.openxmlformats.org/officeDocument/2006/relationships/slide" Target="slides/slide194.xml"/><Relationship Id="rId206" Type="http://schemas.openxmlformats.org/officeDocument/2006/relationships/slide" Target="slides/slide195.xml"/><Relationship Id="rId207" Type="http://schemas.openxmlformats.org/officeDocument/2006/relationships/slide" Target="slides/slide196.xml"/><Relationship Id="rId208" Type="http://schemas.openxmlformats.org/officeDocument/2006/relationships/slide" Target="slides/slide197.xml"/><Relationship Id="rId209" Type="http://schemas.openxmlformats.org/officeDocument/2006/relationships/slide" Target="slides/slide198.xml"/><Relationship Id="rId210" Type="http://schemas.openxmlformats.org/officeDocument/2006/relationships/slide" Target="slides/slide199.xml"/><Relationship Id="rId211" Type="http://schemas.openxmlformats.org/officeDocument/2006/relationships/slide" Target="slides/slide200.xml"/><Relationship Id="rId212" Type="http://schemas.openxmlformats.org/officeDocument/2006/relationships/slide" Target="slides/slide201.xml"/><Relationship Id="rId213" Type="http://schemas.openxmlformats.org/officeDocument/2006/relationships/slide" Target="slides/slide202.xml"/><Relationship Id="rId214" Type="http://schemas.openxmlformats.org/officeDocument/2006/relationships/slide" Target="slides/slide203.xml"/><Relationship Id="rId215" Type="http://schemas.openxmlformats.org/officeDocument/2006/relationships/slide" Target="slides/slide204.xml"/><Relationship Id="rId216" Type="http://schemas.openxmlformats.org/officeDocument/2006/relationships/slide" Target="slides/slide205.xml"/><Relationship Id="rId217" Type="http://schemas.openxmlformats.org/officeDocument/2006/relationships/slide" Target="slides/slide206.xml"/><Relationship Id="rId218" Type="http://schemas.openxmlformats.org/officeDocument/2006/relationships/slide" Target="slides/slide207.xml"/><Relationship Id="rId219" Type="http://schemas.openxmlformats.org/officeDocument/2006/relationships/slide" Target="slides/slide208.xml"/><Relationship Id="rId220" Type="http://schemas.openxmlformats.org/officeDocument/2006/relationships/slide" Target="slides/slide209.xml"/><Relationship Id="rId221" Type="http://schemas.openxmlformats.org/officeDocument/2006/relationships/slide" Target="slides/slide210.xml"/><Relationship Id="rId222" Type="http://schemas.openxmlformats.org/officeDocument/2006/relationships/slide" Target="slides/slide211.xml"/><Relationship Id="rId223" Type="http://schemas.openxmlformats.org/officeDocument/2006/relationships/slide" Target="slides/slide212.xml"/><Relationship Id="rId224" Type="http://schemas.openxmlformats.org/officeDocument/2006/relationships/slide" Target="slides/slide213.xml"/><Relationship Id="rId225" Type="http://schemas.openxmlformats.org/officeDocument/2006/relationships/slide" Target="slides/slide214.xml"/><Relationship Id="rId226" Type="http://schemas.openxmlformats.org/officeDocument/2006/relationships/slide" Target="slides/slide215.xml"/><Relationship Id="rId227" Type="http://schemas.openxmlformats.org/officeDocument/2006/relationships/slide" Target="slides/slide216.xml"/><Relationship Id="rId228" Type="http://schemas.openxmlformats.org/officeDocument/2006/relationships/slide" Target="slides/slide217.xml"/><Relationship Id="rId229" Type="http://schemas.openxmlformats.org/officeDocument/2006/relationships/slide" Target="slides/slide218.xml"/><Relationship Id="rId230" Type="http://schemas.openxmlformats.org/officeDocument/2006/relationships/slide" Target="slides/slide219.xml"/><Relationship Id="rId231" Type="http://schemas.openxmlformats.org/officeDocument/2006/relationships/slide" Target="slides/slide220.xml"/><Relationship Id="rId232" Type="http://schemas.openxmlformats.org/officeDocument/2006/relationships/slide" Target="slides/slide221.xml"/><Relationship Id="rId233" Type="http://schemas.openxmlformats.org/officeDocument/2006/relationships/slide" Target="slides/slide222.xml"/><Relationship Id="rId234" Type="http://schemas.openxmlformats.org/officeDocument/2006/relationships/slide" Target="slides/slide223.xml"/><Relationship Id="rId235" Type="http://schemas.openxmlformats.org/officeDocument/2006/relationships/slide" Target="slides/slide224.xml"/><Relationship Id="rId236" Type="http://schemas.openxmlformats.org/officeDocument/2006/relationships/slide" Target="slides/slide225.xml"/><Relationship Id="rId237" Type="http://schemas.openxmlformats.org/officeDocument/2006/relationships/slide" Target="slides/slide226.xml"/><Relationship Id="rId238" Type="http://schemas.openxmlformats.org/officeDocument/2006/relationships/slide" Target="slides/slide227.xml"/><Relationship Id="rId239" Type="http://schemas.openxmlformats.org/officeDocument/2006/relationships/slide" Target="slides/slide228.xml"/><Relationship Id="rId240" Type="http://schemas.openxmlformats.org/officeDocument/2006/relationships/slide" Target="slides/slide229.xml"/><Relationship Id="rId241" Type="http://schemas.openxmlformats.org/officeDocument/2006/relationships/slide" Target="slides/slide230.xml"/><Relationship Id="rId242" Type="http://schemas.openxmlformats.org/officeDocument/2006/relationships/slide" Target="slides/slide231.xml"/><Relationship Id="rId243" Type="http://schemas.openxmlformats.org/officeDocument/2006/relationships/slide" Target="slides/slide232.xml"/><Relationship Id="rId244" Type="http://schemas.openxmlformats.org/officeDocument/2006/relationships/slide" Target="slides/slide233.xml"/><Relationship Id="rId245" Type="http://schemas.openxmlformats.org/officeDocument/2006/relationships/slide" Target="slides/slide234.xml"/><Relationship Id="rId246" Type="http://schemas.openxmlformats.org/officeDocument/2006/relationships/slide" Target="slides/slide235.xml"/><Relationship Id="rId247" Type="http://schemas.openxmlformats.org/officeDocument/2006/relationships/slide" Target="slides/slide236.xml"/><Relationship Id="rId248" Type="http://schemas.openxmlformats.org/officeDocument/2006/relationships/slide" Target="slides/slide237.xml"/><Relationship Id="rId249" Type="http://schemas.openxmlformats.org/officeDocument/2006/relationships/slide" Target="slides/slide238.xml"/><Relationship Id="rId250" Type="http://schemas.openxmlformats.org/officeDocument/2006/relationships/slide" Target="slides/slide239.xml"/><Relationship Id="rId251" Type="http://schemas.openxmlformats.org/officeDocument/2006/relationships/slide" Target="slides/slide240.xml"/><Relationship Id="rId252" Type="http://schemas.openxmlformats.org/officeDocument/2006/relationships/slide" Target="slides/slide241.xml"/><Relationship Id="rId253" Type="http://schemas.openxmlformats.org/officeDocument/2006/relationships/slide" Target="slides/slide242.xml"/><Relationship Id="rId254" Type="http://schemas.openxmlformats.org/officeDocument/2006/relationships/slide" Target="slides/slide243.xml"/><Relationship Id="rId255" Type="http://schemas.openxmlformats.org/officeDocument/2006/relationships/slide" Target="slides/slide244.xml"/><Relationship Id="rId256" Type="http://schemas.openxmlformats.org/officeDocument/2006/relationships/slide" Target="slides/slide245.xml"/><Relationship Id="rId257" Type="http://schemas.openxmlformats.org/officeDocument/2006/relationships/slide" Target="slides/slide246.xml"/><Relationship Id="rId258" Type="http://schemas.openxmlformats.org/officeDocument/2006/relationships/slide" Target="slides/slide247.xml"/><Relationship Id="rId259" Type="http://schemas.openxmlformats.org/officeDocument/2006/relationships/slide" Target="slides/slide248.xml"/><Relationship Id="rId260" Type="http://schemas.openxmlformats.org/officeDocument/2006/relationships/slide" Target="slides/slide249.xml"/><Relationship Id="rId261" Type="http://schemas.openxmlformats.org/officeDocument/2006/relationships/slide" Target="slides/slide250.xml"/><Relationship Id="rId262" Type="http://schemas.openxmlformats.org/officeDocument/2006/relationships/slide" Target="slides/slide251.xml"/><Relationship Id="rId263" Type="http://schemas.openxmlformats.org/officeDocument/2006/relationships/slide" Target="slides/slide252.xml"/><Relationship Id="rId264" Type="http://schemas.openxmlformats.org/officeDocument/2006/relationships/slide" Target="slides/slide253.xml"/><Relationship Id="rId265" Type="http://schemas.openxmlformats.org/officeDocument/2006/relationships/slide" Target="slides/slide254.xml"/><Relationship Id="rId266" Type="http://schemas.openxmlformats.org/officeDocument/2006/relationships/slide" Target="slides/slide255.xml"/><Relationship Id="rId267" Type="http://schemas.openxmlformats.org/officeDocument/2006/relationships/slide" Target="slides/slide256.xml"/><Relationship Id="rId268" Type="http://schemas.openxmlformats.org/officeDocument/2006/relationships/slide" Target="slides/slide257.xml"/><Relationship Id="rId269" Type="http://schemas.openxmlformats.org/officeDocument/2006/relationships/slide" Target="slides/slide258.xml"/><Relationship Id="rId270" Type="http://schemas.openxmlformats.org/officeDocument/2006/relationships/slide" Target="slides/slide259.xml"/><Relationship Id="rId274" Type="http://schemas.openxmlformats.org/officeDocument/2006/relationships/slide" Target="slides/slide260.xml"/><Relationship Id="rId275" Type="http://schemas.openxmlformats.org/officeDocument/2006/relationships/slide" Target="slides/slide261.xml"/><Relationship Id="rId276" Type="http://schemas.openxmlformats.org/officeDocument/2006/relationships/slide" Target="slides/slide26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384048"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822960" y="1417320"/>
            <a:ext cx="2194560" cy="12801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60" y="1783080"/>
            <a:ext cx="10607040" cy="2103120"/>
          </a:xfrm>
          <a:prstGeom prst="rect">
            <a:avLst/>
          </a:prstGeom>
          <a:noFill/>
        </p:spPr>
        <p:txBody>
          <a:bodyPr wrap="square" anchor="t">
            <a:spAutoFit/>
          </a:bodyPr>
          <a:lstStyle/>
          <a:p>
            <a:pPr algn="l">
              <a:spcAft>
                <a:spcPts val="400"/>
              </a:spcAft>
            </a:pPr>
            <a:r>
              <a:rPr sz="4200" b="1">
                <a:solidFill>
                  <a:srgbClr val="161B26"/>
                </a:solidFill>
                <a:latin typeface="Arial"/>
              </a:rPr>
              <a:t>Certified Lean Six Sigma Yellow Belt (CLSSYB)</a:t>
            </a:r>
          </a:p>
        </p:txBody>
      </p:sp>
      <p:sp>
        <p:nvSpPr>
          <p:cNvPr id="6" name="Rectangle 5"/>
          <p:cNvSpPr/>
          <p:nvPr/>
        </p:nvSpPr>
        <p:spPr>
          <a:xfrm>
            <a:off x="841248" y="3977639"/>
            <a:ext cx="2194560" cy="5486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251960"/>
            <a:ext cx="10972800" cy="1280160"/>
          </a:xfrm>
          <a:prstGeom prst="rect">
            <a:avLst/>
          </a:prstGeom>
          <a:noFill/>
        </p:spPr>
        <p:txBody>
          <a:bodyPr wrap="square" anchor="t">
            <a:spAutoFit/>
          </a:bodyPr>
          <a:lstStyle/>
          <a:p>
            <a:pPr algn="l">
              <a:spcAft>
                <a:spcPts val="600"/>
              </a:spcAft>
            </a:pPr>
            <a:r>
              <a:rPr sz="1600" b="0">
                <a:solidFill>
                  <a:srgbClr val="5B6372"/>
                </a:solidFill>
                <a:latin typeface="Arial"/>
              </a:rPr>
              <a:t>Course Code: C524</a:t>
            </a:r>
          </a:p>
          <a:p>
            <a:r>
              <a:rPr sz="1600" b="0">
                <a:latin typeface="Arial"/>
              </a:rPr>
              <a:t>Conducted by Tertiary Infotech Academy Pte Ltd  ·  UEN: 201200696W</a:t>
            </a:r>
          </a:p>
          <a:p>
            <a:r>
              <a:rPr sz="1600" b="0">
                <a:latin typeface="Arial"/>
              </a:rPr>
              <a:t>Conducted in Singapore</a:t>
            </a:r>
          </a:p>
        </p:txBody>
      </p:sp>
      <p:sp>
        <p:nvSpPr>
          <p:cNvPr id="8" name="TextBox 7"/>
          <p:cNvSpPr txBox="1"/>
          <p:nvPr/>
        </p:nvSpPr>
        <p:spPr>
          <a:xfrm>
            <a:off x="822960" y="5870448"/>
            <a:ext cx="10972800" cy="365760"/>
          </a:xfrm>
          <a:prstGeom prst="rect">
            <a:avLst/>
          </a:prstGeom>
          <a:noFill/>
        </p:spPr>
        <p:txBody>
          <a:bodyPr wrap="square" anchor="t">
            <a:spAutoFit/>
          </a:bodyPr>
          <a:lstStyle/>
          <a:p>
            <a:pPr algn="l">
              <a:spcAft>
                <a:spcPts val="400"/>
              </a:spcAft>
            </a:pPr>
            <a:r>
              <a:rPr sz="1200" b="0">
                <a:solidFill>
                  <a:srgbClr val="5B6372"/>
                </a:solidFill>
                <a:latin typeface="Arial"/>
              </a:rPr>
              <a:t>Version v1  ·  23 September 2026  ·  Trainer: Dr. Alfred Ang</a:t>
            </a:r>
          </a:p>
        </p:txBody>
      </p:sp>
      <p:sp>
        <p:nvSpPr>
          <p:cNvPr id="9" name="TextBox 8"/>
          <p:cNvSpPr txBox="1"/>
          <p:nvPr/>
        </p:nvSpPr>
        <p:spPr>
          <a:xfrm>
            <a:off x="822960" y="6263640"/>
            <a:ext cx="10972800" cy="310896"/>
          </a:xfrm>
          <a:prstGeom prst="rect">
            <a:avLst/>
          </a:prstGeom>
          <a:noFill/>
        </p:spPr>
        <p:txBody>
          <a:bodyPr wrap="square" anchor="t">
            <a:spAutoFit/>
          </a:bodyPr>
          <a:lstStyle/>
          <a:p>
            <a:pPr algn="l">
              <a:spcAft>
                <a:spcPts val="400"/>
              </a:spcAft>
            </a:pPr>
            <a:r>
              <a:rPr sz="1000" b="0">
                <a:solidFill>
                  <a:srgbClr val="5B6372"/>
                </a:solidFill>
                <a:latin typeface="Arial"/>
              </a:rPr>
              <a:t>© 2026 Tertiary Infotech Academy Pte Ltd. All rights reserved.  ·  www.tertiarycourses.com.sg</a:t>
            </a:r>
          </a:p>
        </p:txBody>
      </p:sp>
      <p:pic>
        <p:nvPicPr>
          <p:cNvPr id="10" name="Picture 9" descr="tertiary-logo.png"/>
          <p:cNvPicPr>
            <a:picLocks noChangeAspect="1"/>
          </p:cNvPicPr>
          <p:nvPr/>
        </p:nvPicPr>
        <p:blipFill>
          <a:blip r:embed="rId2"/>
          <a:stretch>
            <a:fillRect/>
          </a:stretch>
        </p:blipFill>
        <p:spPr>
          <a:xfrm>
            <a:off x="9692640" y="502920"/>
            <a:ext cx="777240" cy="777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COURSE ADMINISTRATION</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Welcome &amp; Housekeeping</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5B6372"/>
                </a:solidFill>
                <a:latin typeface="Arial"/>
              </a:rPr>
              <a:t>YOUR TRAINER · GENERAL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68780" y="2286000"/>
            <a:ext cx="1554480" cy="1554480"/>
          </a:xfrm>
          <a:prstGeom prst="ellipse">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t>
            </a:r>
          </a:p>
        </p:txBody>
      </p:sp>
      <p:sp>
        <p:nvSpPr>
          <p:cNvPr id="10" name="TextBox 9"/>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Your Trainer</a:t>
            </a:r>
          </a:p>
        </p:txBody>
      </p:sp>
      <p:sp>
        <p:nvSpPr>
          <p:cNvPr id="11" name="TextBox 10"/>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General Trainer template —</a:t>
            </a:r>
          </a:p>
          <a:p>
            <a:pPr algn="ctr">
              <a:spcAft>
                <a:spcPts val="400"/>
              </a:spcAft>
            </a:pPr>
            <a:r>
              <a:rPr sz="1300" b="0">
                <a:solidFill>
                  <a:srgbClr val="5B6372"/>
                </a:solidFill>
                <a:latin typeface="Arial"/>
              </a:rPr>
              <a:t>to be completed by the trainer</a:t>
            </a:r>
          </a:p>
        </p:txBody>
      </p:sp>
      <p:sp>
        <p:nvSpPr>
          <p:cNvPr id="12" name="Rectangle 11"/>
          <p:cNvSpPr/>
          <p:nvPr/>
        </p:nvSpPr>
        <p:spPr>
          <a:xfrm>
            <a:off x="4480560" y="178308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0560" y="1783080"/>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54880" y="1783080"/>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NAME</a:t>
            </a:r>
          </a:p>
          <a:p>
            <a:pPr algn="l">
              <a:spcAft>
                <a:spcPts val="300"/>
              </a:spcAft>
            </a:pPr>
            <a:r>
              <a:rPr sz="1200" b="0">
                <a:solidFill>
                  <a:srgbClr val="E2E8F0"/>
                </a:solidFill>
                <a:latin typeface="Arial"/>
              </a:rPr>
              <a:t>____________________________________________</a:t>
            </a:r>
          </a:p>
        </p:txBody>
      </p:sp>
      <p:sp>
        <p:nvSpPr>
          <p:cNvPr id="15" name="Rectangle 14"/>
          <p:cNvSpPr/>
          <p:nvPr/>
        </p:nvSpPr>
        <p:spPr>
          <a:xfrm>
            <a:off x="4480560" y="2526792"/>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480560" y="2526792"/>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54880" y="2526792"/>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TITLE / DESIGNATION</a:t>
            </a:r>
          </a:p>
          <a:p>
            <a:pPr algn="l">
              <a:spcAft>
                <a:spcPts val="300"/>
              </a:spcAft>
            </a:pPr>
            <a:r>
              <a:rPr sz="1200" b="0">
                <a:solidFill>
                  <a:srgbClr val="E2E8F0"/>
                </a:solidFill>
                <a:latin typeface="Arial"/>
              </a:rPr>
              <a:t>____________________________________________</a:t>
            </a:r>
          </a:p>
        </p:txBody>
      </p:sp>
      <p:sp>
        <p:nvSpPr>
          <p:cNvPr id="18" name="Rectangle 17"/>
          <p:cNvSpPr/>
          <p:nvPr/>
        </p:nvSpPr>
        <p:spPr>
          <a:xfrm>
            <a:off x="4480560" y="3270504"/>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80560" y="3270504"/>
            <a:ext cx="91440" cy="5791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54880" y="3270504"/>
            <a:ext cx="6437376" cy="579120"/>
          </a:xfrm>
          <a:prstGeom prst="rect">
            <a:avLst/>
          </a:prstGeom>
          <a:noFill/>
        </p:spPr>
        <p:txBody>
          <a:bodyPr wrap="square" anchor="ctr">
            <a:spAutoFit/>
          </a:bodyPr>
          <a:lstStyle/>
          <a:p>
            <a:pPr algn="l">
              <a:spcAft>
                <a:spcPts val="300"/>
              </a:spcAft>
            </a:pPr>
            <a:r>
              <a:rPr sz="1000" b="1">
                <a:solidFill>
                  <a:srgbClr val="7C3AED"/>
                </a:solidFill>
                <a:latin typeface="Arial"/>
              </a:rPr>
              <a:t>QUALIFICATIONS</a:t>
            </a:r>
          </a:p>
          <a:p>
            <a:pPr algn="l">
              <a:spcAft>
                <a:spcPts val="300"/>
              </a:spcAft>
            </a:pPr>
            <a:r>
              <a:rPr sz="1200" b="0">
                <a:solidFill>
                  <a:srgbClr val="E2E8F0"/>
                </a:solidFill>
                <a:latin typeface="Arial"/>
              </a:rPr>
              <a:t>____________________________________________</a:t>
            </a:r>
          </a:p>
        </p:txBody>
      </p:sp>
      <p:sp>
        <p:nvSpPr>
          <p:cNvPr id="21" name="Rectangle 20"/>
          <p:cNvSpPr/>
          <p:nvPr/>
        </p:nvSpPr>
        <p:spPr>
          <a:xfrm>
            <a:off x="4480560" y="4014216"/>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480560" y="4014216"/>
            <a:ext cx="91440" cy="5791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54880" y="4014216"/>
            <a:ext cx="6437376" cy="579120"/>
          </a:xfrm>
          <a:prstGeom prst="rect">
            <a:avLst/>
          </a:prstGeom>
          <a:noFill/>
        </p:spPr>
        <p:txBody>
          <a:bodyPr wrap="square" anchor="ctr">
            <a:spAutoFit/>
          </a:bodyPr>
          <a:lstStyle/>
          <a:p>
            <a:pPr algn="l">
              <a:spcAft>
                <a:spcPts val="300"/>
              </a:spcAft>
            </a:pPr>
            <a:r>
              <a:rPr sz="1000" b="1">
                <a:solidFill>
                  <a:srgbClr val="F59E0B"/>
                </a:solidFill>
                <a:latin typeface="Arial"/>
              </a:rPr>
              <a:t>AREAS OF EXPERTISE</a:t>
            </a:r>
          </a:p>
          <a:p>
            <a:pPr algn="l">
              <a:spcAft>
                <a:spcPts val="300"/>
              </a:spcAft>
            </a:pPr>
            <a:r>
              <a:rPr sz="1200" b="0">
                <a:solidFill>
                  <a:srgbClr val="E2E8F0"/>
                </a:solidFill>
                <a:latin typeface="Arial"/>
              </a:rPr>
              <a:t>____________________________________________</a:t>
            </a:r>
          </a:p>
        </p:txBody>
      </p:sp>
      <p:sp>
        <p:nvSpPr>
          <p:cNvPr id="24" name="Rectangle 23"/>
          <p:cNvSpPr/>
          <p:nvPr/>
        </p:nvSpPr>
        <p:spPr>
          <a:xfrm>
            <a:off x="4480560" y="4757928"/>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0560" y="4757928"/>
            <a:ext cx="91440" cy="5791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54880" y="4757928"/>
            <a:ext cx="6437376" cy="579120"/>
          </a:xfrm>
          <a:prstGeom prst="rect">
            <a:avLst/>
          </a:prstGeom>
          <a:noFill/>
        </p:spPr>
        <p:txBody>
          <a:bodyPr wrap="square" anchor="ctr">
            <a:spAutoFit/>
          </a:bodyPr>
          <a:lstStyle/>
          <a:p>
            <a:pPr algn="l">
              <a:spcAft>
                <a:spcPts val="300"/>
              </a:spcAft>
            </a:pPr>
            <a:r>
              <a:rPr sz="1000" b="1">
                <a:solidFill>
                  <a:srgbClr val="1F6FEB"/>
                </a:solidFill>
                <a:latin typeface="Arial"/>
              </a:rPr>
              <a:t>TRAINING &amp; INDUSTRY EXPERIENCE</a:t>
            </a:r>
          </a:p>
          <a:p>
            <a:pPr algn="l">
              <a:spcAft>
                <a:spcPts val="300"/>
              </a:spcAft>
            </a:pPr>
            <a:r>
              <a:rPr sz="1200" b="0">
                <a:solidFill>
                  <a:srgbClr val="E2E8F0"/>
                </a:solidFill>
                <a:latin typeface="Arial"/>
              </a:rPr>
              <a:t>____________________________________________</a:t>
            </a:r>
          </a:p>
        </p:txBody>
      </p:sp>
      <p:sp>
        <p:nvSpPr>
          <p:cNvPr id="27" name="Rectangle 26"/>
          <p:cNvSpPr/>
          <p:nvPr/>
        </p:nvSpPr>
        <p:spPr>
          <a:xfrm>
            <a:off x="4480560" y="5501640"/>
            <a:ext cx="6949440" cy="579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4480560" y="5501640"/>
            <a:ext cx="91440" cy="5791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754880" y="5501640"/>
            <a:ext cx="6437376" cy="579120"/>
          </a:xfrm>
          <a:prstGeom prst="rect">
            <a:avLst/>
          </a:prstGeom>
          <a:noFill/>
        </p:spPr>
        <p:txBody>
          <a:bodyPr wrap="square" anchor="ctr">
            <a:spAutoFit/>
          </a:bodyPr>
          <a:lstStyle/>
          <a:p>
            <a:pPr algn="l">
              <a:spcAft>
                <a:spcPts val="300"/>
              </a:spcAft>
            </a:pPr>
            <a:r>
              <a:rPr sz="1000" b="1">
                <a:solidFill>
                  <a:srgbClr val="10B981"/>
                </a:solidFill>
                <a:latin typeface="Arial"/>
              </a:rPr>
              <a:t>CONTACT</a:t>
            </a:r>
          </a:p>
          <a:p>
            <a:pPr algn="l">
              <a:spcAft>
                <a:spcPts val="300"/>
              </a:spcAft>
            </a:pPr>
            <a:r>
              <a:rPr sz="1200" b="0">
                <a:solidFill>
                  <a:srgbClr val="E2E8F0"/>
                </a:solidFill>
                <a:latin typeface="Arial"/>
              </a:rPr>
              <a:t>____________________________________________</a:t>
            </a:r>
          </a:p>
        </p:txBody>
      </p:sp>
      <p:sp>
        <p:nvSpPr>
          <p:cNvPr id="30" name="TextBox 2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1" name="TextBox 3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2" name="TextBox 3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TRAINER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About the Trainer</a:t>
            </a:r>
          </a:p>
        </p:txBody>
      </p:sp>
      <p:sp>
        <p:nvSpPr>
          <p:cNvPr id="6" name="Rectangle 5"/>
          <p:cNvSpPr/>
          <p:nvPr/>
        </p:nvSpPr>
        <p:spPr>
          <a:xfrm>
            <a:off x="777240" y="1783080"/>
            <a:ext cx="333756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37560" cy="1097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68780" y="2286000"/>
            <a:ext cx="1554480" cy="155448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68780" y="2286000"/>
            <a:ext cx="1554480" cy="1554480"/>
          </a:xfrm>
          <a:prstGeom prst="rect">
            <a:avLst/>
          </a:prstGeom>
          <a:noFill/>
        </p:spPr>
        <p:txBody>
          <a:bodyPr wrap="square" anchor="ctr">
            <a:spAutoFit/>
          </a:bodyPr>
          <a:lstStyle/>
          <a:p>
            <a:pPr algn="ctr">
              <a:spcAft>
                <a:spcPts val="400"/>
              </a:spcAft>
            </a:pPr>
            <a:r>
              <a:rPr sz="4200" b="1">
                <a:solidFill>
                  <a:srgbClr val="FFFFFF"/>
                </a:solidFill>
                <a:latin typeface="Arial"/>
              </a:rPr>
              <a:t>AA</a:t>
            </a:r>
          </a:p>
        </p:txBody>
      </p:sp>
      <p:sp>
        <p:nvSpPr>
          <p:cNvPr id="10" name="TextBox 9"/>
          <p:cNvSpPr txBox="1"/>
          <p:nvPr/>
        </p:nvSpPr>
        <p:spPr>
          <a:xfrm>
            <a:off x="914400" y="4114800"/>
            <a:ext cx="3063240" cy="548640"/>
          </a:xfrm>
          <a:prstGeom prst="rect">
            <a:avLst/>
          </a:prstGeom>
          <a:noFill/>
        </p:spPr>
        <p:txBody>
          <a:bodyPr wrap="square" anchor="t">
            <a:spAutoFit/>
          </a:bodyPr>
          <a:lstStyle/>
          <a:p>
            <a:pPr algn="ctr">
              <a:spcAft>
                <a:spcPts val="400"/>
              </a:spcAft>
            </a:pPr>
            <a:r>
              <a:rPr sz="2100" b="1">
                <a:solidFill>
                  <a:srgbClr val="161B26"/>
                </a:solidFill>
                <a:latin typeface="Arial"/>
              </a:rPr>
              <a:t>Dr. Alfred Ang</a:t>
            </a:r>
          </a:p>
        </p:txBody>
      </p:sp>
      <p:sp>
        <p:nvSpPr>
          <p:cNvPr id="11" name="TextBox 10"/>
          <p:cNvSpPr txBox="1"/>
          <p:nvPr/>
        </p:nvSpPr>
        <p:spPr>
          <a:xfrm>
            <a:off x="914400" y="4709160"/>
            <a:ext cx="3063240" cy="1188720"/>
          </a:xfrm>
          <a:prstGeom prst="rect">
            <a:avLst/>
          </a:prstGeom>
          <a:noFill/>
        </p:spPr>
        <p:txBody>
          <a:bodyPr wrap="square" anchor="t">
            <a:spAutoFit/>
          </a:bodyPr>
          <a:lstStyle/>
          <a:p>
            <a:pPr algn="ctr">
              <a:spcAft>
                <a:spcPts val="400"/>
              </a:spcAft>
            </a:pPr>
            <a:r>
              <a:rPr sz="1300" b="0">
                <a:solidFill>
                  <a:srgbClr val="5B6372"/>
                </a:solidFill>
                <a:latin typeface="Arial"/>
              </a:rPr>
              <a:t>Principal Trainer</a:t>
            </a:r>
          </a:p>
          <a:p>
            <a:pPr algn="ctr">
              <a:spcAft>
                <a:spcPts val="400"/>
              </a:spcAft>
            </a:pPr>
            <a:r>
              <a:rPr sz="1300" b="0">
                <a:solidFill>
                  <a:srgbClr val="5B6372"/>
                </a:solidFill>
                <a:latin typeface="Arial"/>
              </a:rPr>
              <a:t>Tertiary Infotech Academy Pte. Ltd.</a:t>
            </a:r>
          </a:p>
        </p:txBody>
      </p:sp>
      <p:sp>
        <p:nvSpPr>
          <p:cNvPr id="12" name="Rectangle 11"/>
          <p:cNvSpPr/>
          <p:nvPr/>
        </p:nvSpPr>
        <p:spPr>
          <a:xfrm>
            <a:off x="4480560" y="1783080"/>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0560" y="1783080"/>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54880" y="1783080"/>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ROLE</a:t>
            </a:r>
          </a:p>
          <a:p>
            <a:pPr algn="l">
              <a:spcAft>
                <a:spcPts val="300"/>
              </a:spcAft>
            </a:pPr>
            <a:r>
              <a:rPr sz="1300" b="0">
                <a:solidFill>
                  <a:srgbClr val="161B26"/>
                </a:solidFill>
                <a:latin typeface="Arial"/>
              </a:rPr>
              <a:t>Principal Trainer, Tertiary Infotech Academy Pte. Ltd.</a:t>
            </a:r>
          </a:p>
        </p:txBody>
      </p:sp>
      <p:sp>
        <p:nvSpPr>
          <p:cNvPr id="15" name="Rectangle 14"/>
          <p:cNvSpPr/>
          <p:nvPr/>
        </p:nvSpPr>
        <p:spPr>
          <a:xfrm>
            <a:off x="4480560" y="2675534"/>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480560" y="2675534"/>
            <a:ext cx="91440" cy="72786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754880" y="2675534"/>
            <a:ext cx="6437376" cy="727862"/>
          </a:xfrm>
          <a:prstGeom prst="rect">
            <a:avLst/>
          </a:prstGeom>
          <a:noFill/>
        </p:spPr>
        <p:txBody>
          <a:bodyPr wrap="square" anchor="ctr">
            <a:spAutoFit/>
          </a:bodyPr>
          <a:lstStyle/>
          <a:p>
            <a:pPr algn="l">
              <a:spcAft>
                <a:spcPts val="300"/>
              </a:spcAft>
            </a:pPr>
            <a:r>
              <a:rPr sz="1000" b="1">
                <a:solidFill>
                  <a:srgbClr val="10B981"/>
                </a:solidFill>
                <a:latin typeface="Arial"/>
              </a:rPr>
              <a:t>QUALIFICATIONS</a:t>
            </a:r>
          </a:p>
          <a:p>
            <a:pPr algn="l">
              <a:spcAft>
                <a:spcPts val="300"/>
              </a:spcAft>
            </a:pPr>
            <a:r>
              <a:rPr sz="1300" b="0">
                <a:solidFill>
                  <a:srgbClr val="161B26"/>
                </a:solidFill>
                <a:latin typeface="Arial"/>
              </a:rPr>
              <a:t>PhD; Certified Lean Six Sigma practitioner and trainer.</a:t>
            </a:r>
          </a:p>
        </p:txBody>
      </p:sp>
      <p:sp>
        <p:nvSpPr>
          <p:cNvPr id="18" name="Rectangle 17"/>
          <p:cNvSpPr/>
          <p:nvPr/>
        </p:nvSpPr>
        <p:spPr>
          <a:xfrm>
            <a:off x="4480560" y="3567988"/>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4480560" y="3567988"/>
            <a:ext cx="91440" cy="72786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754880" y="3567988"/>
            <a:ext cx="6437376" cy="727862"/>
          </a:xfrm>
          <a:prstGeom prst="rect">
            <a:avLst/>
          </a:prstGeom>
          <a:noFill/>
        </p:spPr>
        <p:txBody>
          <a:bodyPr wrap="square" anchor="ctr">
            <a:spAutoFit/>
          </a:bodyPr>
          <a:lstStyle/>
          <a:p>
            <a:pPr algn="l">
              <a:spcAft>
                <a:spcPts val="300"/>
              </a:spcAft>
            </a:pPr>
            <a:r>
              <a:rPr sz="1000" b="1">
                <a:solidFill>
                  <a:srgbClr val="7C3AED"/>
                </a:solidFill>
                <a:latin typeface="Arial"/>
              </a:rPr>
              <a:t>DELIVERS</a:t>
            </a:r>
          </a:p>
          <a:p>
            <a:pPr algn="l">
              <a:spcAft>
                <a:spcPts val="300"/>
              </a:spcAft>
            </a:pPr>
            <a:r>
              <a:rPr sz="1300" b="0">
                <a:solidFill>
                  <a:srgbClr val="161B26"/>
                </a:solidFill>
                <a:latin typeface="Arial"/>
              </a:rPr>
              <a:t>Courses on Lean Six Sigma, quality management and data analytics.</a:t>
            </a:r>
          </a:p>
        </p:txBody>
      </p:sp>
      <p:sp>
        <p:nvSpPr>
          <p:cNvPr id="21" name="Rectangle 20"/>
          <p:cNvSpPr/>
          <p:nvPr/>
        </p:nvSpPr>
        <p:spPr>
          <a:xfrm>
            <a:off x="4480560" y="4460442"/>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480560" y="4460442"/>
            <a:ext cx="91440" cy="72786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4754880" y="4460442"/>
            <a:ext cx="6437376" cy="727862"/>
          </a:xfrm>
          <a:prstGeom prst="rect">
            <a:avLst/>
          </a:prstGeom>
          <a:noFill/>
        </p:spPr>
        <p:txBody>
          <a:bodyPr wrap="square" anchor="ctr">
            <a:spAutoFit/>
          </a:bodyPr>
          <a:lstStyle/>
          <a:p>
            <a:pPr algn="l">
              <a:spcAft>
                <a:spcPts val="300"/>
              </a:spcAft>
            </a:pPr>
            <a:r>
              <a:rPr sz="1000" b="1">
                <a:solidFill>
                  <a:srgbClr val="F59E0B"/>
                </a:solidFill>
                <a:latin typeface="Arial"/>
              </a:rPr>
              <a:t>EXPERIENCE</a:t>
            </a:r>
          </a:p>
          <a:p>
            <a:pPr algn="l">
              <a:spcAft>
                <a:spcPts val="300"/>
              </a:spcAft>
            </a:pPr>
            <a:r>
              <a:rPr sz="1300" b="0">
                <a:solidFill>
                  <a:srgbClr val="161B26"/>
                </a:solidFill>
                <a:latin typeface="Arial"/>
              </a:rPr>
              <a:t>Process improvement across manufacturing, service and technology sectors.</a:t>
            </a:r>
          </a:p>
        </p:txBody>
      </p:sp>
      <p:sp>
        <p:nvSpPr>
          <p:cNvPr id="24" name="Rectangle 23"/>
          <p:cNvSpPr/>
          <p:nvPr/>
        </p:nvSpPr>
        <p:spPr>
          <a:xfrm>
            <a:off x="4480560" y="5352896"/>
            <a:ext cx="6949440" cy="72786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0560" y="5352896"/>
            <a:ext cx="91440" cy="72786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754880" y="5352896"/>
            <a:ext cx="6437376" cy="727862"/>
          </a:xfrm>
          <a:prstGeom prst="rect">
            <a:avLst/>
          </a:prstGeom>
          <a:noFill/>
        </p:spPr>
        <p:txBody>
          <a:bodyPr wrap="square" anchor="ctr">
            <a:spAutoFit/>
          </a:bodyPr>
          <a:lstStyle/>
          <a:p>
            <a:pPr algn="l">
              <a:spcAft>
                <a:spcPts val="300"/>
              </a:spcAft>
            </a:pPr>
            <a:r>
              <a:rPr sz="1000" b="1">
                <a:solidFill>
                  <a:srgbClr val="1F6FEB"/>
                </a:solidFill>
                <a:latin typeface="Arial"/>
              </a:rPr>
              <a:t>FOUNDER</a:t>
            </a:r>
          </a:p>
          <a:p>
            <a:pPr algn="l">
              <a:spcAft>
                <a:spcPts val="300"/>
              </a:spcAft>
            </a:pPr>
            <a:r>
              <a:rPr sz="1300" b="0">
                <a:solidFill>
                  <a:srgbClr val="161B26"/>
                </a:solidFill>
                <a:latin typeface="Arial"/>
              </a:rPr>
              <a:t>Founder and lead instructor at Tertiary Infotech / Tertiary Courses.</a:t>
            </a:r>
          </a:p>
        </p:txBody>
      </p:sp>
      <p:sp>
        <p:nvSpPr>
          <p:cNvPr id="27" name="TextBox 2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8" name="TextBox 2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9" name="TextBox 2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ICE-BREAKER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Let's Know Each Other</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Your name, organisation and role.</a:t>
            </a:r>
          </a:p>
          <a:p>
            <a:pPr>
              <a:spcAft>
                <a:spcPts val="1000"/>
              </a:spcAft>
            </a:pPr>
            <a:r>
              <a:rPr sz="2000">
                <a:solidFill>
                  <a:srgbClr val="161B26"/>
                </a:solidFill>
                <a:latin typeface="Arial"/>
              </a:rPr>
              <a:t>•  Your experience with process improvement or quality work (if any).</a:t>
            </a:r>
          </a:p>
          <a:p>
            <a:pPr>
              <a:spcAft>
                <a:spcPts val="1000"/>
              </a:spcAft>
            </a:pPr>
            <a:r>
              <a:rPr sz="2000">
                <a:solidFill>
                  <a:srgbClr val="161B26"/>
                </a:solidFill>
                <a:latin typeface="Arial"/>
              </a:rPr>
              <a:t>•  One process at work that frustrates you — we may use it as your course scenario.</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HOUSEKEEPING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Ground Rules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Set your mobile phone to silent mode.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74520"/>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Participate actively — no question is too small.</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Mutual respect: agree to disagree.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10712"/>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One conversation at a time.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Be punctual; return from breaks on time.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46904"/>
            <a:ext cx="4027932" cy="1152144"/>
          </a:xfrm>
          <a:prstGeom prst="rect">
            <a:avLst/>
          </a:prstGeom>
          <a:noFill/>
        </p:spPr>
        <p:txBody>
          <a:bodyPr wrap="square" anchor="ctr">
            <a:spAutoFit/>
          </a:bodyPr>
          <a:lstStyle/>
          <a:p>
            <a:pPr algn="l">
              <a:spcAft>
                <a:spcPts val="400"/>
              </a:spcAft>
            </a:pPr>
            <a:r>
              <a:rPr sz="1500" b="0">
                <a:solidFill>
                  <a:srgbClr val="161B26"/>
                </a:solidFill>
                <a:latin typeface="Arial"/>
              </a:rPr>
              <a:t>Full attendance — attend both days to get the most from the course.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COURSE PORTAL · lms-tms.tertiaryinfotech.com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Download Your Course Material</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Go to lms-tms.tertiaryinfotech.com</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Sign in with the account details given in class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Open this course from your dashboard</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Download the slides, Learner Guide and activity files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Keep them open — use them as reference throughout the course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SCHEDULE · 9:30am-5:30pm with a 30-minute lunch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Lesson Plan — 2 Days, 7.5 Hours per Day</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F6FEB"/>
                </a:solidFill>
                <a:latin typeface="Arial"/>
              </a:rPr>
              <a:t>Day 1</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Day 2</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Day 1 — Six Sigma foundations, Define phase and process mapping</a:t>
            </a:r>
          </a:p>
          <a:p>
            <a:pPr>
              <a:spcAft>
                <a:spcPts val="1000"/>
              </a:spcAft>
            </a:pPr>
            <a:r>
              <a:rPr sz="1300">
                <a:solidFill>
                  <a:srgbClr val="5B6372"/>
                </a:solidFill>
                <a:latin typeface="Arial"/>
              </a:rPr>
              <a:t>–  Welcome and introductions</a:t>
            </a:r>
          </a:p>
          <a:p>
            <a:pPr>
              <a:spcAft>
                <a:spcPts val="1000"/>
              </a:spcAft>
            </a:pPr>
            <a:r>
              <a:rPr sz="1300">
                <a:solidFill>
                  <a:srgbClr val="5B6372"/>
                </a:solidFill>
                <a:latin typeface="Arial"/>
              </a:rPr>
              <a:t>–  Foundations: Quality, Lean, Six Sigma, belts, DMAIC</a:t>
            </a:r>
          </a:p>
          <a:p>
            <a:pPr>
              <a:spcAft>
                <a:spcPts val="1000"/>
              </a:spcAft>
            </a:pPr>
            <a:r>
              <a:rPr sz="1300">
                <a:solidFill>
                  <a:srgbClr val="5B6372"/>
                </a:solidFill>
                <a:latin typeface="Arial"/>
              </a:rPr>
              <a:t>–  Activity 1 — Yellow Belt role and scenario</a:t>
            </a:r>
          </a:p>
          <a:p>
            <a:pPr>
              <a:spcAft>
                <a:spcPts val="1000"/>
              </a:spcAft>
            </a:pPr>
            <a:r>
              <a:rPr sz="1300">
                <a:solidFill>
                  <a:srgbClr val="5B6372"/>
                </a:solidFill>
                <a:latin typeface="Arial"/>
              </a:rPr>
              <a:t>–  DEFINE: VOC, CTQ, charter, SIPOC, process mapping</a:t>
            </a:r>
          </a:p>
          <a:p>
            <a:pPr>
              <a:spcAft>
                <a:spcPts val="1000"/>
              </a:spcAft>
            </a:pPr>
            <a:r>
              <a:rPr sz="1300">
                <a:solidFill>
                  <a:srgbClr val="5B6372"/>
                </a:solidFill>
                <a:latin typeface="Arial"/>
              </a:rPr>
              <a:t>–  Activities 2-5 — VOC/waste, SIPOC, PDCA charter, DMAIC Define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Day 2 — Measure, Analyse, Improve and Control</a:t>
            </a:r>
          </a:p>
          <a:p>
            <a:pPr>
              <a:spcAft>
                <a:spcPts val="1000"/>
              </a:spcAft>
            </a:pPr>
            <a:r>
              <a:rPr sz="1300">
                <a:solidFill>
                  <a:srgbClr val="5B6372"/>
                </a:solidFill>
                <a:latin typeface="Arial"/>
              </a:rPr>
              <a:t>–  Day 1 recap</a:t>
            </a:r>
          </a:p>
          <a:p>
            <a:pPr>
              <a:spcAft>
                <a:spcPts val="1000"/>
              </a:spcAft>
            </a:pPr>
            <a:r>
              <a:rPr sz="1300">
                <a:solidFill>
                  <a:srgbClr val="5B6372"/>
                </a:solidFill>
                <a:latin typeface="Arial"/>
              </a:rPr>
              <a:t>–  MEASURE: wastes, data types, check sheets, DPMO</a:t>
            </a:r>
          </a:p>
          <a:p>
            <a:pPr>
              <a:spcAft>
                <a:spcPts val="1000"/>
              </a:spcAft>
            </a:pPr>
            <a:r>
              <a:rPr sz="1300">
                <a:solidFill>
                  <a:srgbClr val="5B6372"/>
                </a:solidFill>
                <a:latin typeface="Arial"/>
              </a:rPr>
              <a:t>–  Activity 6 — Data collection and KPIs</a:t>
            </a:r>
          </a:p>
          <a:p>
            <a:pPr>
              <a:spcAft>
                <a:spcPts val="1000"/>
              </a:spcAft>
            </a:pPr>
            <a:r>
              <a:rPr sz="1300">
                <a:solidFill>
                  <a:srgbClr val="5B6372"/>
                </a:solidFill>
                <a:latin typeface="Arial"/>
              </a:rPr>
              <a:t>–  ANALYZE: Pareto, run charts, 5 Whys, Fishbone</a:t>
            </a:r>
          </a:p>
          <a:p>
            <a:pPr>
              <a:spcAft>
                <a:spcPts val="1000"/>
              </a:spcAft>
            </a:pPr>
            <a:r>
              <a:rPr sz="1300">
                <a:solidFill>
                  <a:srgbClr val="5B6372"/>
                </a:solidFill>
                <a:latin typeface="Arial"/>
              </a:rPr>
              <a:t>–  Activities 7-8 — Data analysis and root cause</a:t>
            </a:r>
          </a:p>
          <a:p>
            <a:pPr>
              <a:spcAft>
                <a:spcPts val="1000"/>
              </a:spcAft>
            </a:pPr>
            <a:r>
              <a:rPr sz="1300">
                <a:solidFill>
                  <a:srgbClr val="5B6372"/>
                </a:solidFill>
                <a:latin typeface="Arial"/>
              </a:rPr>
              <a:t>–  IMPROVE &amp; CONTROL: 5S, poka-yoke, control plan, A3</a:t>
            </a:r>
          </a:p>
          <a:p>
            <a:pPr>
              <a:spcAft>
                <a:spcPts val="1000"/>
              </a:spcAft>
            </a:pPr>
            <a:r>
              <a:rPr sz="1300">
                <a:solidFill>
                  <a:srgbClr val="5B6372"/>
                </a:solidFill>
                <a:latin typeface="Arial"/>
              </a:rPr>
              <a:t>–  Activities 9-10 · Course review and wrap-up</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ACHIEVE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Learning Outcomes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LO1 — Define &amp; scope</a:t>
            </a:r>
          </a:p>
          <a:p>
            <a:pPr algn="l">
              <a:spcAft>
                <a:spcPts val="300"/>
              </a:spcAft>
            </a:pPr>
            <a:r>
              <a:rPr sz="1100" b="0">
                <a:solidFill>
                  <a:srgbClr val="5B6372"/>
                </a:solidFill>
                <a:latin typeface="Arial"/>
              </a:rPr>
              <a:t>Define a project and establish scope using Define, Measure and Analyse.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LO2 — Lean &amp; Six Sigma concepts</a:t>
            </a:r>
          </a:p>
          <a:p>
            <a:pPr algn="l">
              <a:spcAft>
                <a:spcPts val="300"/>
              </a:spcAft>
            </a:pPr>
            <a:r>
              <a:rPr sz="1100" b="0">
                <a:solidFill>
                  <a:srgbClr val="5B6372"/>
                </a:solidFill>
                <a:latin typeface="Arial"/>
              </a:rPr>
              <a:t>Apply value, waste, defects and variation to a work process.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LO3 — Map the process</a:t>
            </a:r>
          </a:p>
          <a:p>
            <a:pPr algn="l">
              <a:spcAft>
                <a:spcPts val="300"/>
              </a:spcAft>
            </a:pPr>
            <a:r>
              <a:rPr sz="1100" b="0">
                <a:solidFill>
                  <a:srgbClr val="5B6372"/>
                </a:solidFill>
                <a:latin typeface="Arial"/>
              </a:rPr>
              <a:t>Use SIPOC, process maps and value stream maps to expose handoffs.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LO4 — Measure &amp; analyse</a:t>
            </a:r>
          </a:p>
          <a:p>
            <a:pPr algn="l">
              <a:spcAft>
                <a:spcPts val="300"/>
              </a:spcAft>
            </a:pPr>
            <a:r>
              <a:rPr sz="1100" b="0">
                <a:solidFill>
                  <a:srgbClr val="5B6372"/>
                </a:solidFill>
                <a:latin typeface="Arial"/>
              </a:rPr>
              <a:t>Use check sheets, Pareto, run charts and process metrics.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LO5 — Root cause</a:t>
            </a:r>
          </a:p>
          <a:p>
            <a:pPr algn="l">
              <a:spcAft>
                <a:spcPts val="300"/>
              </a:spcAft>
            </a:pPr>
            <a:r>
              <a:rPr sz="1100" b="0">
                <a:solidFill>
                  <a:srgbClr val="5B6372"/>
                </a:solidFill>
                <a:latin typeface="Arial"/>
              </a:rPr>
              <a:t>Identify root causes with 5 Whys, Fishbone and evidence.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LO6 — Improve &amp; control</a:t>
            </a:r>
          </a:p>
          <a:p>
            <a:pPr algn="l">
              <a:spcAft>
                <a:spcPts val="300"/>
              </a:spcAft>
            </a:pPr>
            <a:r>
              <a:rPr sz="1100" b="0">
                <a:solidFill>
                  <a:srgbClr val="5B6372"/>
                </a:solidFill>
                <a:latin typeface="Arial"/>
              </a:rPr>
              <a:t>Recommend improvement and control actions that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COURSE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Outline — We Follow DMAIC End to End</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Foundations + Define</a:t>
            </a:r>
          </a:p>
          <a:p>
            <a:pPr>
              <a:spcAft>
                <a:spcPts val="600"/>
              </a:spcAft>
            </a:pPr>
            <a:r>
              <a:rPr sz="1100">
                <a:solidFill>
                  <a:srgbClr val="161B26"/>
                </a:solidFill>
                <a:latin typeface="Arial"/>
              </a:rPr>
              <a:t>•  VOC, CTQ, charter</a:t>
            </a:r>
          </a:p>
          <a:p>
            <a:pPr>
              <a:spcAft>
                <a:spcPts val="600"/>
              </a:spcAft>
            </a:pPr>
            <a:r>
              <a:rPr sz="1100">
                <a:solidFill>
                  <a:srgbClr val="161B26"/>
                </a:solidFill>
                <a:latin typeface="Arial"/>
              </a:rPr>
              <a:t>•  SIPOC, process maps</a:t>
            </a:r>
          </a:p>
          <a:p>
            <a:pPr>
              <a:spcAft>
                <a:spcPts val="600"/>
              </a:spcAft>
            </a:pPr>
            <a:r>
              <a:rPr sz="1100">
                <a:solidFill>
                  <a:srgbClr val="161B26"/>
                </a:solidFill>
                <a:latin typeface="Arial"/>
              </a:rPr>
              <a:t>•  Activities 1-5</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8 wastes, data types</a:t>
            </a:r>
          </a:p>
          <a:p>
            <a:pPr>
              <a:spcAft>
                <a:spcPts val="600"/>
              </a:spcAft>
            </a:pPr>
            <a:r>
              <a:rPr sz="1100">
                <a:solidFill>
                  <a:srgbClr val="161B26"/>
                </a:solidFill>
                <a:latin typeface="Arial"/>
              </a:rPr>
              <a:t>•  Collection plan</a:t>
            </a:r>
          </a:p>
          <a:p>
            <a:pPr>
              <a:spcAft>
                <a:spcPts val="600"/>
              </a:spcAft>
            </a:pPr>
            <a:r>
              <a:rPr sz="1100">
                <a:solidFill>
                  <a:srgbClr val="161B26"/>
                </a:solidFill>
                <a:latin typeface="Arial"/>
              </a:rPr>
              <a:t>•  Yield, DPMO, sigma</a:t>
            </a:r>
          </a:p>
          <a:p>
            <a:pPr>
              <a:spcAft>
                <a:spcPts val="600"/>
              </a:spcAft>
            </a:pPr>
            <a:r>
              <a:rPr sz="1100">
                <a:solidFill>
                  <a:srgbClr val="161B26"/>
                </a:solidFill>
                <a:latin typeface="Arial"/>
              </a:rPr>
              <a:t>•  Activity 6</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Variation</a:t>
            </a:r>
          </a:p>
          <a:p>
            <a:pPr>
              <a:spcAft>
                <a:spcPts val="600"/>
              </a:spcAft>
            </a:pPr>
            <a:r>
              <a:rPr sz="1100">
                <a:solidFill>
                  <a:srgbClr val="161B26"/>
                </a:solidFill>
                <a:latin typeface="Arial"/>
              </a:rPr>
              <a:t>•  Pareto, run charts</a:t>
            </a:r>
          </a:p>
          <a:p>
            <a:pPr>
              <a:spcAft>
                <a:spcPts val="600"/>
              </a:spcAft>
            </a:pPr>
            <a:r>
              <a:rPr sz="1100">
                <a:solidFill>
                  <a:srgbClr val="161B26"/>
                </a:solidFill>
                <a:latin typeface="Arial"/>
              </a:rPr>
              <a:t>•  5 Whys, Fishbone</a:t>
            </a:r>
          </a:p>
          <a:p>
            <a:pPr>
              <a:spcAft>
                <a:spcPts val="600"/>
              </a:spcAft>
            </a:pPr>
            <a:r>
              <a:rPr sz="1100">
                <a:solidFill>
                  <a:srgbClr val="161B26"/>
                </a:solidFill>
                <a:latin typeface="Arial"/>
              </a:rPr>
              <a:t>•  Activities 7-8</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Solution selection</a:t>
            </a:r>
          </a:p>
          <a:p>
            <a:pPr>
              <a:spcAft>
                <a:spcPts val="600"/>
              </a:spcAft>
            </a:pPr>
            <a:r>
              <a:rPr sz="1100">
                <a:solidFill>
                  <a:srgbClr val="161B26"/>
                </a:solidFill>
                <a:latin typeface="Arial"/>
              </a:rPr>
              <a:t>•  5S, poka-yoke</a:t>
            </a:r>
          </a:p>
          <a:p>
            <a:pPr>
              <a:spcAft>
                <a:spcPts val="600"/>
              </a:spcAft>
            </a:pPr>
            <a:r>
              <a:rPr sz="1100">
                <a:solidFill>
                  <a:srgbClr val="161B26"/>
                </a:solidFill>
                <a:latin typeface="Arial"/>
              </a:rPr>
              <a:t>•  Standard work</a:t>
            </a:r>
          </a:p>
          <a:p>
            <a:pPr>
              <a:spcAft>
                <a:spcPts val="600"/>
              </a:spcAft>
            </a:pPr>
            <a:r>
              <a:rPr sz="1100">
                <a:solidFill>
                  <a:srgbClr val="161B26"/>
                </a:solidFill>
                <a:latin typeface="Arial"/>
              </a:rPr>
              <a:t>•  Activity 9</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A3 and handover</a:t>
            </a:r>
          </a:p>
          <a:p>
            <a:pPr>
              <a:spcAft>
                <a:spcPts val="600"/>
              </a:spcAft>
            </a:pPr>
            <a:r>
              <a:rPr sz="1100">
                <a:solidFill>
                  <a:srgbClr val="161B26"/>
                </a:solidFill>
                <a:latin typeface="Arial"/>
              </a:rPr>
              <a:t>•  Activity 10</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FOUNDATIONS</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Six Sigma Foundations</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Quality · Lean · Six Sigma · Lean Six Sigma · Belt roles · The DMAIC roadmap</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00</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FOUNDATIONS · QUALITY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Quality?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Before we can improve quality, we have to agree what the word actually means.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IS QUALITY?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Common Answers — and Why Only One Holds Up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Defect-free output</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zero defects"</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Necessary, but not sufficient.</a:t>
            </a:r>
          </a:p>
          <a:p>
            <a:pPr>
              <a:spcAft>
                <a:spcPts val="700"/>
              </a:spcAft>
            </a:pPr>
            <a:r>
              <a:rPr sz="1200">
                <a:solidFill>
                  <a:srgbClr val="161B26"/>
                </a:solidFill>
                <a:latin typeface="Arial"/>
              </a:rPr>
              <a:t>•  A product can be flawless and still not sell.</a:t>
            </a:r>
          </a:p>
          <a:p>
            <a:pPr>
              <a:spcAft>
                <a:spcPts val="700"/>
              </a:spcAft>
            </a:pPr>
            <a:r>
              <a:rPr sz="1200">
                <a:solidFill>
                  <a:srgbClr val="161B26"/>
                </a:solidFill>
                <a:latin typeface="Arial"/>
              </a:rPr>
              <a:t>•  Defect-free against WHOSE standard?</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Meeting set standards</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meeting the spec"</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Better — it is measurable.</a:t>
            </a:r>
          </a:p>
          <a:p>
            <a:pPr>
              <a:spcAft>
                <a:spcPts val="700"/>
              </a:spcAft>
            </a:pPr>
            <a:r>
              <a:rPr sz="1200">
                <a:solidFill>
                  <a:srgbClr val="161B26"/>
                </a:solidFill>
                <a:latin typeface="Arial"/>
              </a:rPr>
              <a:t>•  But a spec can be set at the wrong level.</a:t>
            </a:r>
          </a:p>
          <a:p>
            <a:pPr>
              <a:spcAft>
                <a:spcPts val="700"/>
              </a:spcAft>
            </a:pPr>
            <a:r>
              <a:rPr sz="1200">
                <a:solidFill>
                  <a:srgbClr val="161B26"/>
                </a:solidFill>
                <a:latin typeface="Arial"/>
              </a:rPr>
              <a:t>•  Meeting a spec nobody wants is waste.</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Meeting customer expectations</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"Quality means the customer is satisfied"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This is the Six Sigma definition.</a:t>
            </a:r>
          </a:p>
          <a:p>
            <a:pPr>
              <a:spcAft>
                <a:spcPts val="700"/>
              </a:spcAft>
            </a:pPr>
            <a:r>
              <a:rPr sz="1200">
                <a:solidFill>
                  <a:srgbClr val="161B26"/>
                </a:solidFill>
                <a:latin typeface="Arial"/>
              </a:rPr>
              <a:t>•  The customer sets the standard.</a:t>
            </a:r>
          </a:p>
          <a:p>
            <a:pPr>
              <a:spcAft>
                <a:spcPts val="700"/>
              </a:spcAft>
            </a:pPr>
            <a:r>
              <a:rPr sz="1200">
                <a:solidFill>
                  <a:srgbClr val="161B26"/>
                </a:solidFill>
                <a:latin typeface="Arial"/>
              </a:rPr>
              <a:t>•  Everything else follows from this.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FOUR KEY ACTIVITIES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Quality in a Nutshell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Understand requirements</a:t>
            </a:r>
          </a:p>
          <a:p>
            <a:pPr algn="l">
              <a:spcAft>
                <a:spcPts val="300"/>
              </a:spcAft>
            </a:pPr>
            <a:r>
              <a:rPr sz="1200" b="0">
                <a:solidFill>
                  <a:srgbClr val="5B6372"/>
                </a:solidFill>
                <a:latin typeface="Arial"/>
              </a:rPr>
              <a:t>Find out what the customer actually needs — in their own words.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Design to satisfy them</a:t>
            </a:r>
          </a:p>
          <a:p>
            <a:pPr algn="l">
              <a:spcAft>
                <a:spcPts val="300"/>
              </a:spcAft>
            </a:pPr>
            <a:r>
              <a:rPr sz="1200" b="0">
                <a:solidFill>
                  <a:srgbClr val="5B6372"/>
                </a:solidFill>
                <a:latin typeface="Arial"/>
              </a:rPr>
              <a:t>Build the product or service so it meets those requirements.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Deliver consistently</a:t>
            </a:r>
          </a:p>
          <a:p>
            <a:pPr algn="l">
              <a:spcAft>
                <a:spcPts val="300"/>
              </a:spcAft>
            </a:pPr>
            <a:r>
              <a:rPr sz="1200" b="0">
                <a:solidFill>
                  <a:srgbClr val="5B6372"/>
                </a:solidFill>
                <a:latin typeface="Arial"/>
              </a:rPr>
              <a:t>Reduce variation so every customer gets the same experience.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Improve continuously</a:t>
            </a:r>
          </a:p>
          <a:p>
            <a:pPr algn="l">
              <a:spcAft>
                <a:spcPts val="300"/>
              </a:spcAft>
            </a:pPr>
            <a:r>
              <a:rPr sz="1200" b="0">
                <a:solidFill>
                  <a:srgbClr val="5B6372"/>
                </a:solidFill>
                <a:latin typeface="Arial"/>
              </a:rPr>
              <a:t>Requirements move; the process has to keep up.</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FOUNDATIONS · LEAN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Lean?</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Lean maximises customer value by systematically removing everything the customer would not pay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IS LEAN?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The Toyota Production System — refined in Japanese manufacturing from the 1950s.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Speed and flow: shorten the time from customer request to delivery.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Waste (muda) — any effort that consumes resources but creates no customer value.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See the process, find the waste, remove it, then standardise the improvement.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Applies to</a:t>
            </a:r>
          </a:p>
          <a:p>
            <a:pPr algn="l">
              <a:spcAft>
                <a:spcPts val="300"/>
              </a:spcAft>
            </a:pPr>
            <a:r>
              <a:rPr sz="1100" b="0">
                <a:solidFill>
                  <a:srgbClr val="5B6372"/>
                </a:solidFill>
                <a:latin typeface="Arial"/>
              </a:rPr>
              <a:t>Manufacturing AND service — hospitals, banks, IT service desks, government.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Waste walks, process mapping, 5S and small Kaizen improvements.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LEAN · FIVE PRINCIPLES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Five Lean Principles</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Specify VALUE from the customer's point of view</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Map the VALUE STREAM and expose the waste in it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Create FLOW so work moves without interruption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Let the customer PULL work rather than pushing 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Pursue PERFECTION through continuous improvement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FOUNDATIONS · SIX SIGMA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Six Sigma?</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disciplined, data-driven method to reduce variation and defects — so the process delivers the same result every time.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IS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 The Core Idea</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Origin</a:t>
            </a:r>
          </a:p>
          <a:p>
            <a:pPr algn="l">
              <a:spcAft>
                <a:spcPts val="300"/>
              </a:spcAft>
            </a:pPr>
            <a:r>
              <a:rPr sz="1100" b="0">
                <a:solidFill>
                  <a:srgbClr val="5B6372"/>
                </a:solidFill>
                <a:latin typeface="Arial"/>
              </a:rPr>
              <a:t>Motorola, 1986 — later made famous by General Electric under Jack Welch.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Focus</a:t>
            </a:r>
          </a:p>
          <a:p>
            <a:pPr algn="l">
              <a:spcAft>
                <a:spcPts val="300"/>
              </a:spcAft>
            </a:pPr>
            <a:r>
              <a:rPr sz="1100" b="0">
                <a:solidFill>
                  <a:srgbClr val="5B6372"/>
                </a:solidFill>
                <a:latin typeface="Arial"/>
              </a:rPr>
              <a:t>Consistency: reduce the variation that creates defects.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Enemy</a:t>
            </a:r>
          </a:p>
          <a:p>
            <a:pPr algn="l">
              <a:spcAft>
                <a:spcPts val="300"/>
              </a:spcAft>
            </a:pPr>
            <a:r>
              <a:rPr sz="1100" b="0">
                <a:solidFill>
                  <a:srgbClr val="5B6372"/>
                </a:solidFill>
                <a:latin typeface="Arial"/>
              </a:rPr>
              <a:t>Variation — the spread that turns a good average into an unreliable experience.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DMAIC, driven by data and statistics rather than opinion.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target</a:t>
            </a:r>
          </a:p>
          <a:p>
            <a:pPr algn="l">
              <a:spcAft>
                <a:spcPts val="300"/>
              </a:spcAft>
            </a:pPr>
            <a:r>
              <a:rPr sz="1100" b="0">
                <a:solidFill>
                  <a:srgbClr val="5B6372"/>
                </a:solidFill>
                <a:latin typeface="Arial"/>
              </a:rPr>
              <a:t>No more than 3.4 defects per million opportunities (DPMO).</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Yellow Belt use</a:t>
            </a:r>
          </a:p>
          <a:p>
            <a:pPr algn="l">
              <a:spcAft>
                <a:spcPts val="300"/>
              </a:spcAft>
            </a:pPr>
            <a:r>
              <a:rPr sz="1100" b="0">
                <a:solidFill>
                  <a:srgbClr val="5B6372"/>
                </a:solidFill>
                <a:latin typeface="Arial"/>
              </a:rPr>
              <a:t>Data collection, Pareto and run charts, root cause analysis.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THE STATISTICAL MEANING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Six Sigma as Standard Deviation</a:t>
            </a:r>
          </a:p>
        </p:txBody>
      </p:sp>
      <p:cxnSp>
        <p:nvCxnSpPr>
          <p:cNvPr id="6" name="Connector 5"/>
          <p:cNvCxnSpPr/>
          <p:nvPr/>
        </p:nvCxnSpPr>
        <p:spPr>
          <a:xfrm>
            <a:off x="1097280" y="5166360"/>
            <a:ext cx="99669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143000"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225296"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30759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389888"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472184"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554480"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636776"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71907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1801368"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1883664"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965960"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48256"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13055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212848"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295144"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377440" y="5129221"/>
            <a:ext cx="82295"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459735" y="5121300"/>
            <a:ext cx="82297"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V="1">
            <a:off x="254203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2624328"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2706624" y="5087999"/>
            <a:ext cx="82295"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2788919" y="5072961"/>
            <a:ext cx="82297"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2871216"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29535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035808"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118104"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200400"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282696"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36499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V="1">
            <a:off x="3447288"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529584"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611880"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694176"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77647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858768"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3941064"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023360"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105656"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18795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70248"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352544"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434840"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517136"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59943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681728"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4764024"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4846320"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V="1">
            <a:off x="4928616"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V="1">
            <a:off x="50109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5093208"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5175504"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5257800"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5340096"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542239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5504688"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5586984"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V="1">
            <a:off x="5669280"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V="1">
            <a:off x="5751576"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583387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V="1">
            <a:off x="5916168"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V="1">
            <a:off x="5998464"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a:off x="6080760" y="2423160"/>
            <a:ext cx="82296" cy="60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6163056" y="2429249"/>
            <a:ext cx="82296" cy="1818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a:off x="6245352" y="2447435"/>
            <a:ext cx="82296" cy="3004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a:off x="6327648" y="2477478"/>
            <a:ext cx="82296" cy="4150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a:off x="6409944" y="2518982"/>
            <a:ext cx="82296" cy="524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a:off x="6492240" y="2571403"/>
            <a:ext cx="82296" cy="62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a:off x="6574536" y="2634067"/>
            <a:ext cx="82296" cy="721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a:off x="6656832" y="2706175"/>
            <a:ext cx="82296" cy="8065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a:off x="6739128" y="2786830"/>
            <a:ext cx="82296" cy="8821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a:off x="6821424" y="2875046"/>
            <a:ext cx="82296" cy="947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6903720" y="2969777"/>
            <a:ext cx="82296" cy="10015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986016" y="3069929"/>
            <a:ext cx="82296" cy="10445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a:off x="7068312" y="3174387"/>
            <a:ext cx="82296" cy="107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a:off x="7150608" y="3282035"/>
            <a:ext cx="82296" cy="10973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a:off x="7232904" y="3391769"/>
            <a:ext cx="82296" cy="1107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a:off x="7315200" y="3502525"/>
            <a:ext cx="82296" cy="11076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a:off x="7397496" y="3613285"/>
            <a:ext cx="82296" cy="10981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a:off x="7479792" y="3723102"/>
            <a:ext cx="82296" cy="10799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a:off x="7562088" y="3831101"/>
            <a:ext cx="82296" cy="10539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a:off x="7644384" y="3936496"/>
            <a:ext cx="82296" cy="102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a:off x="7726680" y="4038596"/>
            <a:ext cx="82296" cy="982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a:off x="7808976" y="4136806"/>
            <a:ext cx="82296" cy="9382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a:off x="7891272" y="4230631"/>
            <a:ext cx="82296" cy="8904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a:off x="7973568" y="4319678"/>
            <a:ext cx="82296" cy="8397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a:off x="8055864" y="4403648"/>
            <a:ext cx="82296" cy="7868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a:off x="8138160" y="4482337"/>
            <a:ext cx="82296" cy="7329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a:off x="8220456" y="4555628"/>
            <a:ext cx="82296" cy="678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a:off x="8302752" y="4623484"/>
            <a:ext cx="82296" cy="62457"/>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a:off x="8385048" y="4685941"/>
            <a:ext cx="82296" cy="571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a:off x="8467344" y="4743097"/>
            <a:ext cx="82296" cy="5201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a:off x="8549640" y="4795108"/>
            <a:ext cx="82296" cy="4706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a:off x="8631936" y="4842171"/>
            <a:ext cx="82296" cy="423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8714232" y="4884524"/>
            <a:ext cx="82296" cy="3790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8796528" y="4922430"/>
            <a:ext cx="82296" cy="3374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a:off x="8878824" y="4956174"/>
            <a:ext cx="82296" cy="298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a:off x="8961120" y="4986053"/>
            <a:ext cx="82296" cy="2631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a:off x="9043416" y="5012371"/>
            <a:ext cx="82296" cy="2305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a:off x="9125712" y="5035430"/>
            <a:ext cx="82296" cy="2010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9208008" y="5055530"/>
            <a:ext cx="82296" cy="1743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9290304" y="5072961"/>
            <a:ext cx="82296" cy="1503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9372600" y="5087999"/>
            <a:ext cx="82296" cy="1290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9454896" y="5100907"/>
            <a:ext cx="82296" cy="1102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9537192" y="5111931"/>
            <a:ext cx="82296" cy="936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9619488" y="5121300"/>
            <a:ext cx="82296" cy="7921"/>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a:off x="9701784" y="5129221"/>
            <a:ext cx="82296" cy="6664"/>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9784080" y="5135885"/>
            <a:ext cx="82296" cy="558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9866376" y="5141465"/>
            <a:ext cx="82296" cy="464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9948672" y="5146113"/>
            <a:ext cx="82296" cy="38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10030968" y="5149966"/>
            <a:ext cx="82296" cy="317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a:off x="10113264" y="5153145"/>
            <a:ext cx="82296" cy="2610"/>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a:off x="10195560" y="5155755"/>
            <a:ext cx="82296" cy="213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a:off x="10277856" y="5157887"/>
            <a:ext cx="82296" cy="173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a:off x="10360152" y="5159620"/>
            <a:ext cx="82296" cy="140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a:off x="10442448" y="5161023"/>
            <a:ext cx="82296" cy="1129"/>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a:off x="10524744" y="5162152"/>
            <a:ext cx="82296" cy="905"/>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a:off x="10607040" y="5163057"/>
            <a:ext cx="82296" cy="72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a:off x="10689336" y="5163779"/>
            <a:ext cx="82296" cy="57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a:off x="10771632" y="5164352"/>
            <a:ext cx="82296" cy="453"/>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a:off x="10853928" y="5164805"/>
            <a:ext cx="82296" cy="356"/>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a:off x="10936224" y="5165161"/>
            <a:ext cx="82296" cy="278"/>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237744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8" name="TextBox 127"/>
          <p:cNvSpPr txBox="1"/>
          <p:nvPr/>
        </p:nvSpPr>
        <p:spPr>
          <a:xfrm>
            <a:off x="20574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29" name="Connector 128"/>
          <p:cNvCxnSpPr/>
          <p:nvPr/>
        </p:nvCxnSpPr>
        <p:spPr>
          <a:xfrm flipV="1">
            <a:off x="361188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0" name="TextBox 129"/>
          <p:cNvSpPr txBox="1"/>
          <p:nvPr/>
        </p:nvSpPr>
        <p:spPr>
          <a:xfrm>
            <a:off x="32918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1" name="Connector 130"/>
          <p:cNvCxnSpPr/>
          <p:nvPr/>
        </p:nvCxnSpPr>
        <p:spPr>
          <a:xfrm flipV="1">
            <a:off x="484632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2" name="TextBox 131"/>
          <p:cNvSpPr txBox="1"/>
          <p:nvPr/>
        </p:nvSpPr>
        <p:spPr>
          <a:xfrm>
            <a:off x="452628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3" name="Connector 132"/>
          <p:cNvCxnSpPr/>
          <p:nvPr/>
        </p:nvCxnSpPr>
        <p:spPr>
          <a:xfrm flipV="1">
            <a:off x="6080760" y="2423160"/>
            <a:ext cx="0" cy="274320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4" name="TextBox 133"/>
          <p:cNvSpPr txBox="1"/>
          <p:nvPr/>
        </p:nvSpPr>
        <p:spPr>
          <a:xfrm>
            <a:off x="576072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μ</a:t>
            </a:r>
          </a:p>
        </p:txBody>
      </p:sp>
      <p:cxnSp>
        <p:nvCxnSpPr>
          <p:cNvPr id="135" name="Connector 134"/>
          <p:cNvCxnSpPr/>
          <p:nvPr/>
        </p:nvCxnSpPr>
        <p:spPr>
          <a:xfrm flipV="1">
            <a:off x="7315200" y="3502525"/>
            <a:ext cx="0" cy="166383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699516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+1σ</a:t>
            </a:r>
          </a:p>
        </p:txBody>
      </p:sp>
      <p:cxnSp>
        <p:nvCxnSpPr>
          <p:cNvPr id="137" name="Connector 136"/>
          <p:cNvCxnSpPr/>
          <p:nvPr/>
        </p:nvCxnSpPr>
        <p:spPr>
          <a:xfrm flipV="1">
            <a:off x="8549640" y="4795108"/>
            <a:ext cx="0" cy="371252"/>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822960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+2σ</a:t>
            </a:r>
          </a:p>
        </p:txBody>
      </p:sp>
      <p:cxnSp>
        <p:nvCxnSpPr>
          <p:cNvPr id="139" name="Connector 138"/>
          <p:cNvCxnSpPr/>
          <p:nvPr/>
        </p:nvCxnSpPr>
        <p:spPr>
          <a:xfrm flipV="1">
            <a:off x="9784080" y="5135885"/>
            <a:ext cx="0" cy="30475"/>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9464040" y="5257800"/>
            <a:ext cx="640080" cy="274320"/>
          </a:xfrm>
          <a:prstGeom prst="rect">
            <a:avLst/>
          </a:prstGeom>
          <a:noFill/>
        </p:spPr>
        <p:txBody>
          <a:bodyPr wrap="square" anchor="t">
            <a:spAutoFit/>
          </a:bodyPr>
          <a:lstStyle/>
          <a:p>
            <a:pPr algn="ctr">
              <a:spcAft>
                <a:spcPts val="400"/>
              </a:spcAft>
            </a:pPr>
            <a:r>
              <a:rPr sz="1100" b="1">
                <a:solidFill>
                  <a:srgbClr val="5B6372"/>
                </a:solidFill>
                <a:latin typeface="Arial"/>
              </a:rPr>
              <a:t>+3σ</a:t>
            </a:r>
          </a:p>
        </p:txBody>
      </p:sp>
      <p:cxnSp>
        <p:nvCxnSpPr>
          <p:cNvPr id="141" name="Connector 140"/>
          <p:cNvCxnSpPr/>
          <p:nvPr/>
        </p:nvCxnSpPr>
        <p:spPr>
          <a:xfrm>
            <a:off x="237744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192024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LSL</a:t>
            </a:r>
          </a:p>
        </p:txBody>
      </p:sp>
      <p:cxnSp>
        <p:nvCxnSpPr>
          <p:cNvPr id="143" name="Connector 142"/>
          <p:cNvCxnSpPr/>
          <p:nvPr/>
        </p:nvCxnSpPr>
        <p:spPr>
          <a:xfrm>
            <a:off x="9784080" y="2368296"/>
            <a:ext cx="0" cy="2798064"/>
          </a:xfrm>
          <a:prstGeom prst="line">
            <a:avLst/>
          </a:prstGeom>
          <a:ln w="22860">
            <a:solidFill>
              <a:srgbClr val="DC2C2C"/>
            </a:solidFill>
            <a:prstDash val="dash"/>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9326880" y="1929384"/>
            <a:ext cx="914400" cy="292608"/>
          </a:xfrm>
          <a:prstGeom prst="rect">
            <a:avLst/>
          </a:prstGeom>
          <a:noFill/>
        </p:spPr>
        <p:txBody>
          <a:bodyPr wrap="square" anchor="t">
            <a:spAutoFit/>
          </a:bodyPr>
          <a:lstStyle/>
          <a:p>
            <a:pPr algn="ctr">
              <a:spcAft>
                <a:spcPts val="400"/>
              </a:spcAft>
            </a:pPr>
            <a:r>
              <a:rPr sz="1200" b="1">
                <a:solidFill>
                  <a:srgbClr val="DC2C2C"/>
                </a:solidFill>
                <a:latin typeface="Arial"/>
              </a:rPr>
              <a:t>USL</a:t>
            </a:r>
          </a:p>
        </p:txBody>
      </p:sp>
      <p:sp>
        <p:nvSpPr>
          <p:cNvPr id="145" name="TextBox 144"/>
          <p:cNvSpPr txBox="1"/>
          <p:nvPr/>
        </p:nvSpPr>
        <p:spPr>
          <a:xfrm>
            <a:off x="777240" y="5715000"/>
            <a:ext cx="10607040" cy="548640"/>
          </a:xfrm>
          <a:prstGeom prst="rect">
            <a:avLst/>
          </a:prstGeom>
          <a:noFill/>
        </p:spPr>
        <p:txBody>
          <a:bodyPr wrap="square" anchor="t">
            <a:spAutoFit/>
          </a:bodyPr>
          <a:lstStyle/>
          <a:p>
            <a:pPr algn="ctr">
              <a:spcAft>
                <a:spcPts val="400"/>
              </a:spcAft>
            </a:pPr>
            <a:r>
              <a:rPr sz="1400" b="0">
                <a:solidFill>
                  <a:srgbClr val="5B6372"/>
                </a:solidFill>
                <a:latin typeface="Arial"/>
              </a:rPr>
              <a:t>Sigma (σ) measures spread. The more sigmas that fit between the process mean and the specification limits, the less likely the process is to produce a defect.</a:t>
            </a:r>
          </a:p>
        </p:txBody>
      </p:sp>
      <p:sp>
        <p:nvSpPr>
          <p:cNvPr id="146" name="TextBox 1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47" name="TextBox 1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8" name="TextBox 1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WHY 'SIX' SIGMA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Sigma Level vs Defects per Million Opportunities</a:t>
            </a:r>
          </a:p>
        </p:txBody>
      </p:sp>
      <p:sp>
        <p:nvSpPr>
          <p:cNvPr id="6" name="Rectangle 5"/>
          <p:cNvSpPr/>
          <p:nvPr/>
        </p:nvSpPr>
        <p:spPr>
          <a:xfrm>
            <a:off x="914400" y="3947922"/>
            <a:ext cx="1554480" cy="158419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947922"/>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167378"/>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1σ</a:t>
            </a:r>
          </a:p>
        </p:txBody>
      </p:sp>
      <p:sp>
        <p:nvSpPr>
          <p:cNvPr id="9" name="TextBox 8"/>
          <p:cNvSpPr txBox="1"/>
          <p:nvPr/>
        </p:nvSpPr>
        <p:spPr>
          <a:xfrm>
            <a:off x="1042416" y="4752594"/>
            <a:ext cx="1298448" cy="669798"/>
          </a:xfrm>
          <a:prstGeom prst="rect">
            <a:avLst/>
          </a:prstGeom>
          <a:noFill/>
        </p:spPr>
        <p:txBody>
          <a:bodyPr wrap="square" anchor="t">
            <a:spAutoFit/>
          </a:bodyPr>
          <a:lstStyle/>
          <a:p>
            <a:pPr algn="ctr">
              <a:spcAft>
                <a:spcPts val="400"/>
              </a:spcAft>
            </a:pPr>
            <a:r>
              <a:rPr sz="1100" b="0">
                <a:solidFill>
                  <a:srgbClr val="5B6372"/>
                </a:solidFill>
                <a:latin typeface="Arial"/>
              </a:rPr>
              <a:t>690,000 DPMO</a:t>
            </a:r>
          </a:p>
          <a:p>
            <a:pPr algn="ctr">
              <a:spcAft>
                <a:spcPts val="400"/>
              </a:spcAft>
            </a:pPr>
            <a:r>
              <a:rPr sz="1100" b="0">
                <a:solidFill>
                  <a:srgbClr val="5B6372"/>
                </a:solidFill>
                <a:latin typeface="Arial"/>
              </a:rPr>
              <a:t>31% yield</a:t>
            </a:r>
          </a:p>
        </p:txBody>
      </p:sp>
      <p:sp>
        <p:nvSpPr>
          <p:cNvPr id="10" name="Rectangle 9"/>
          <p:cNvSpPr/>
          <p:nvPr/>
        </p:nvSpPr>
        <p:spPr>
          <a:xfrm>
            <a:off x="2670048" y="3560674"/>
            <a:ext cx="1554480" cy="197144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2670048" y="3560674"/>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79776" y="3780130"/>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2σ</a:t>
            </a:r>
          </a:p>
        </p:txBody>
      </p:sp>
      <p:sp>
        <p:nvSpPr>
          <p:cNvPr id="13" name="TextBox 12"/>
          <p:cNvSpPr txBox="1"/>
          <p:nvPr/>
        </p:nvSpPr>
        <p:spPr>
          <a:xfrm>
            <a:off x="2798064" y="4365346"/>
            <a:ext cx="1298448" cy="1057046"/>
          </a:xfrm>
          <a:prstGeom prst="rect">
            <a:avLst/>
          </a:prstGeom>
          <a:noFill/>
        </p:spPr>
        <p:txBody>
          <a:bodyPr wrap="square" anchor="t">
            <a:spAutoFit/>
          </a:bodyPr>
          <a:lstStyle/>
          <a:p>
            <a:pPr algn="ctr">
              <a:spcAft>
                <a:spcPts val="400"/>
              </a:spcAft>
            </a:pPr>
            <a:r>
              <a:rPr sz="1100" b="0">
                <a:solidFill>
                  <a:srgbClr val="5B6372"/>
                </a:solidFill>
                <a:latin typeface="Arial"/>
              </a:rPr>
              <a:t>308,000 DPMO</a:t>
            </a:r>
          </a:p>
          <a:p>
            <a:pPr algn="ctr">
              <a:spcAft>
                <a:spcPts val="400"/>
              </a:spcAft>
            </a:pPr>
            <a:r>
              <a:rPr sz="1100" b="0">
                <a:solidFill>
                  <a:srgbClr val="5B6372"/>
                </a:solidFill>
                <a:latin typeface="Arial"/>
              </a:rPr>
              <a:t>69% yield</a:t>
            </a:r>
          </a:p>
        </p:txBody>
      </p:sp>
      <p:sp>
        <p:nvSpPr>
          <p:cNvPr id="14" name="Rectangle 13"/>
          <p:cNvSpPr/>
          <p:nvPr/>
        </p:nvSpPr>
        <p:spPr>
          <a:xfrm>
            <a:off x="4425696" y="3173426"/>
            <a:ext cx="1554480" cy="235869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4425696" y="3173426"/>
            <a:ext cx="155448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535424" y="3392882"/>
            <a:ext cx="1335024" cy="548640"/>
          </a:xfrm>
          <a:prstGeom prst="rect">
            <a:avLst/>
          </a:prstGeom>
          <a:noFill/>
        </p:spPr>
        <p:txBody>
          <a:bodyPr wrap="square" anchor="t">
            <a:spAutoFit/>
          </a:bodyPr>
          <a:lstStyle/>
          <a:p>
            <a:pPr algn="ctr">
              <a:spcAft>
                <a:spcPts val="400"/>
              </a:spcAft>
            </a:pPr>
            <a:r>
              <a:rPr sz="1500" b="1">
                <a:solidFill>
                  <a:srgbClr val="7C3AED"/>
                </a:solidFill>
                <a:latin typeface="Arial"/>
              </a:rPr>
              <a:t>3σ</a:t>
            </a:r>
          </a:p>
        </p:txBody>
      </p:sp>
      <p:sp>
        <p:nvSpPr>
          <p:cNvPr id="17" name="TextBox 16"/>
          <p:cNvSpPr txBox="1"/>
          <p:nvPr/>
        </p:nvSpPr>
        <p:spPr>
          <a:xfrm>
            <a:off x="4553712" y="3978098"/>
            <a:ext cx="1298448" cy="1444294"/>
          </a:xfrm>
          <a:prstGeom prst="rect">
            <a:avLst/>
          </a:prstGeom>
          <a:noFill/>
        </p:spPr>
        <p:txBody>
          <a:bodyPr wrap="square" anchor="t">
            <a:spAutoFit/>
          </a:bodyPr>
          <a:lstStyle/>
          <a:p>
            <a:pPr algn="ctr">
              <a:spcAft>
                <a:spcPts val="400"/>
              </a:spcAft>
            </a:pPr>
            <a:r>
              <a:rPr sz="1100" b="0">
                <a:solidFill>
                  <a:srgbClr val="5B6372"/>
                </a:solidFill>
                <a:latin typeface="Arial"/>
              </a:rPr>
              <a:t>66,800 DPMO</a:t>
            </a:r>
          </a:p>
          <a:p>
            <a:pPr algn="ctr">
              <a:spcAft>
                <a:spcPts val="400"/>
              </a:spcAft>
            </a:pPr>
            <a:r>
              <a:rPr sz="1100" b="0">
                <a:solidFill>
                  <a:srgbClr val="5B6372"/>
                </a:solidFill>
                <a:latin typeface="Arial"/>
              </a:rPr>
              <a:t>93.3% yield</a:t>
            </a:r>
          </a:p>
        </p:txBody>
      </p:sp>
      <p:sp>
        <p:nvSpPr>
          <p:cNvPr id="18" name="Rectangle 17"/>
          <p:cNvSpPr/>
          <p:nvPr/>
        </p:nvSpPr>
        <p:spPr>
          <a:xfrm>
            <a:off x="6181344" y="2786177"/>
            <a:ext cx="1554480" cy="27459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81344" y="2786177"/>
            <a:ext cx="155448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91072" y="3005633"/>
            <a:ext cx="1335024" cy="548640"/>
          </a:xfrm>
          <a:prstGeom prst="rect">
            <a:avLst/>
          </a:prstGeom>
          <a:noFill/>
        </p:spPr>
        <p:txBody>
          <a:bodyPr wrap="square" anchor="t">
            <a:spAutoFit/>
          </a:bodyPr>
          <a:lstStyle/>
          <a:p>
            <a:pPr algn="ctr">
              <a:spcAft>
                <a:spcPts val="400"/>
              </a:spcAft>
            </a:pPr>
            <a:r>
              <a:rPr sz="1500" b="1">
                <a:solidFill>
                  <a:srgbClr val="F59E0B"/>
                </a:solidFill>
                <a:latin typeface="Arial"/>
              </a:rPr>
              <a:t>4σ</a:t>
            </a:r>
          </a:p>
        </p:txBody>
      </p:sp>
      <p:sp>
        <p:nvSpPr>
          <p:cNvPr id="21" name="TextBox 20"/>
          <p:cNvSpPr txBox="1"/>
          <p:nvPr/>
        </p:nvSpPr>
        <p:spPr>
          <a:xfrm>
            <a:off x="6309360" y="3590849"/>
            <a:ext cx="1298448" cy="1831543"/>
          </a:xfrm>
          <a:prstGeom prst="rect">
            <a:avLst/>
          </a:prstGeom>
          <a:noFill/>
        </p:spPr>
        <p:txBody>
          <a:bodyPr wrap="square" anchor="t">
            <a:spAutoFit/>
          </a:bodyPr>
          <a:lstStyle/>
          <a:p>
            <a:pPr algn="ctr">
              <a:spcAft>
                <a:spcPts val="400"/>
              </a:spcAft>
            </a:pPr>
            <a:r>
              <a:rPr sz="1100" b="0">
                <a:solidFill>
                  <a:srgbClr val="5B6372"/>
                </a:solidFill>
                <a:latin typeface="Arial"/>
              </a:rPr>
              <a:t>6,210 DPMO</a:t>
            </a:r>
          </a:p>
          <a:p>
            <a:pPr algn="ctr">
              <a:spcAft>
                <a:spcPts val="400"/>
              </a:spcAft>
            </a:pPr>
            <a:r>
              <a:rPr sz="1100" b="0">
                <a:solidFill>
                  <a:srgbClr val="5B6372"/>
                </a:solidFill>
                <a:latin typeface="Arial"/>
              </a:rPr>
              <a:t>99.38% yield</a:t>
            </a:r>
          </a:p>
        </p:txBody>
      </p:sp>
      <p:sp>
        <p:nvSpPr>
          <p:cNvPr id="22" name="Rectangle 21"/>
          <p:cNvSpPr/>
          <p:nvPr/>
        </p:nvSpPr>
        <p:spPr>
          <a:xfrm>
            <a:off x="7936992" y="2398929"/>
            <a:ext cx="1554480" cy="313319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936992" y="2398929"/>
            <a:ext cx="155448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046720" y="2618385"/>
            <a:ext cx="1335024" cy="548640"/>
          </a:xfrm>
          <a:prstGeom prst="rect">
            <a:avLst/>
          </a:prstGeom>
          <a:noFill/>
        </p:spPr>
        <p:txBody>
          <a:bodyPr wrap="square" anchor="t">
            <a:spAutoFit/>
          </a:bodyPr>
          <a:lstStyle/>
          <a:p>
            <a:pPr algn="ctr">
              <a:spcAft>
                <a:spcPts val="400"/>
              </a:spcAft>
            </a:pPr>
            <a:r>
              <a:rPr sz="1500" b="1">
                <a:solidFill>
                  <a:srgbClr val="1F6FEB"/>
                </a:solidFill>
                <a:latin typeface="Arial"/>
              </a:rPr>
              <a:t>5σ</a:t>
            </a:r>
          </a:p>
        </p:txBody>
      </p:sp>
      <p:sp>
        <p:nvSpPr>
          <p:cNvPr id="25" name="TextBox 24"/>
          <p:cNvSpPr txBox="1"/>
          <p:nvPr/>
        </p:nvSpPr>
        <p:spPr>
          <a:xfrm>
            <a:off x="8065008" y="3203601"/>
            <a:ext cx="1298448" cy="2218791"/>
          </a:xfrm>
          <a:prstGeom prst="rect">
            <a:avLst/>
          </a:prstGeom>
          <a:noFill/>
        </p:spPr>
        <p:txBody>
          <a:bodyPr wrap="square" anchor="t">
            <a:spAutoFit/>
          </a:bodyPr>
          <a:lstStyle/>
          <a:p>
            <a:pPr algn="ctr">
              <a:spcAft>
                <a:spcPts val="400"/>
              </a:spcAft>
            </a:pPr>
            <a:r>
              <a:rPr sz="1100" b="0">
                <a:solidFill>
                  <a:srgbClr val="5B6372"/>
                </a:solidFill>
                <a:latin typeface="Arial"/>
              </a:rPr>
              <a:t>233 DPMO</a:t>
            </a:r>
          </a:p>
          <a:p>
            <a:pPr algn="ctr">
              <a:spcAft>
                <a:spcPts val="400"/>
              </a:spcAft>
            </a:pPr>
            <a:r>
              <a:rPr sz="1100" b="0">
                <a:solidFill>
                  <a:srgbClr val="5B6372"/>
                </a:solidFill>
                <a:latin typeface="Arial"/>
              </a:rPr>
              <a:t>99.977% yield</a:t>
            </a:r>
          </a:p>
        </p:txBody>
      </p:sp>
      <p:sp>
        <p:nvSpPr>
          <p:cNvPr id="26" name="Rectangle 25"/>
          <p:cNvSpPr/>
          <p:nvPr/>
        </p:nvSpPr>
        <p:spPr>
          <a:xfrm>
            <a:off x="9692640" y="2011680"/>
            <a:ext cx="1554480"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692640" y="2011680"/>
            <a:ext cx="155448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802368" y="2231136"/>
            <a:ext cx="1335024" cy="548640"/>
          </a:xfrm>
          <a:prstGeom prst="rect">
            <a:avLst/>
          </a:prstGeom>
          <a:noFill/>
        </p:spPr>
        <p:txBody>
          <a:bodyPr wrap="square" anchor="t">
            <a:spAutoFit/>
          </a:bodyPr>
          <a:lstStyle/>
          <a:p>
            <a:pPr algn="ctr">
              <a:spcAft>
                <a:spcPts val="400"/>
              </a:spcAft>
            </a:pPr>
            <a:r>
              <a:rPr sz="1500" b="1">
                <a:solidFill>
                  <a:srgbClr val="10B981"/>
                </a:solidFill>
                <a:latin typeface="Arial"/>
              </a:rPr>
              <a:t>6σ</a:t>
            </a:r>
          </a:p>
        </p:txBody>
      </p:sp>
      <p:sp>
        <p:nvSpPr>
          <p:cNvPr id="29" name="TextBox 28"/>
          <p:cNvSpPr txBox="1"/>
          <p:nvPr/>
        </p:nvSpPr>
        <p:spPr>
          <a:xfrm>
            <a:off x="9820656" y="2816352"/>
            <a:ext cx="1298448" cy="2606040"/>
          </a:xfrm>
          <a:prstGeom prst="rect">
            <a:avLst/>
          </a:prstGeom>
          <a:noFill/>
        </p:spPr>
        <p:txBody>
          <a:bodyPr wrap="square" anchor="t">
            <a:spAutoFit/>
          </a:bodyPr>
          <a:lstStyle/>
          <a:p>
            <a:pPr algn="ctr">
              <a:spcAft>
                <a:spcPts val="400"/>
              </a:spcAft>
            </a:pPr>
            <a:r>
              <a:rPr sz="1100" b="0">
                <a:solidFill>
                  <a:srgbClr val="5B6372"/>
                </a:solidFill>
                <a:latin typeface="Arial"/>
              </a:rPr>
              <a:t>3.4 DPMO</a:t>
            </a:r>
          </a:p>
          <a:p>
            <a:pPr algn="ctr">
              <a:spcAft>
                <a:spcPts val="400"/>
              </a:spcAft>
            </a:pPr>
            <a:r>
              <a:rPr sz="1100" b="0">
                <a:solidFill>
                  <a:srgbClr val="5B6372"/>
                </a:solidFill>
                <a:latin typeface="Arial"/>
              </a:rPr>
              <a:t>99.99966% yield</a:t>
            </a:r>
          </a:p>
        </p:txBody>
      </p:sp>
      <p:cxnSp>
        <p:nvCxnSpPr>
          <p:cNvPr id="30" name="Connector 29"/>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Each sigma level is a step change, not an increment — moving 3σ → 4σ removes about 90% of the defects.</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COST OF 'GOOD ENOUGH'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99% Is Not Good Enough</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99% quality</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99.99966%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At 99% quality (about 3.8σ)</a:t>
            </a:r>
          </a:p>
          <a:p>
            <a:pPr>
              <a:spcAft>
                <a:spcPts val="1000"/>
              </a:spcAft>
            </a:pPr>
            <a:r>
              <a:rPr sz="1300">
                <a:solidFill>
                  <a:srgbClr val="5B6372"/>
                </a:solidFill>
                <a:latin typeface="Arial"/>
              </a:rPr>
              <a:t>–  20,000 lost articles of mail per hour</a:t>
            </a:r>
          </a:p>
          <a:p>
            <a:pPr>
              <a:spcAft>
                <a:spcPts val="1000"/>
              </a:spcAft>
            </a:pPr>
            <a:r>
              <a:rPr sz="1300">
                <a:solidFill>
                  <a:srgbClr val="5B6372"/>
                </a:solidFill>
                <a:latin typeface="Arial"/>
              </a:rPr>
              <a:t>–  Unsafe drinking water almost 15 minutes a day</a:t>
            </a:r>
          </a:p>
          <a:p>
            <a:pPr>
              <a:spcAft>
                <a:spcPts val="1000"/>
              </a:spcAft>
            </a:pPr>
            <a:r>
              <a:rPr sz="1300">
                <a:solidFill>
                  <a:srgbClr val="5B6372"/>
                </a:solidFill>
                <a:latin typeface="Arial"/>
              </a:rPr>
              <a:t>–  5,000 incorrect surgical operations per week</a:t>
            </a:r>
          </a:p>
          <a:p>
            <a:pPr>
              <a:spcAft>
                <a:spcPts val="1000"/>
              </a:spcAft>
            </a:pPr>
            <a:r>
              <a:rPr sz="1300">
                <a:solidFill>
                  <a:srgbClr val="5B6372"/>
                </a:solidFill>
                <a:latin typeface="Arial"/>
              </a:rPr>
              <a:t>–  Two short or long landings at major airports daily</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At Six Sigma quality (3.4 DPMO)</a:t>
            </a:r>
          </a:p>
          <a:p>
            <a:pPr>
              <a:spcAft>
                <a:spcPts val="1000"/>
              </a:spcAft>
            </a:pPr>
            <a:r>
              <a:rPr sz="1300">
                <a:solidFill>
                  <a:srgbClr val="5B6372"/>
                </a:solidFill>
                <a:latin typeface="Arial"/>
              </a:rPr>
              <a:t>–  7 lost articles of mail per hour</a:t>
            </a:r>
          </a:p>
          <a:p>
            <a:pPr>
              <a:spcAft>
                <a:spcPts val="1000"/>
              </a:spcAft>
            </a:pPr>
            <a:r>
              <a:rPr sz="1300">
                <a:solidFill>
                  <a:srgbClr val="5B6372"/>
                </a:solidFill>
                <a:latin typeface="Arial"/>
              </a:rPr>
              <a:t>–  Unsafe drinking water 1 minute every 7 months</a:t>
            </a:r>
          </a:p>
          <a:p>
            <a:pPr>
              <a:spcAft>
                <a:spcPts val="1000"/>
              </a:spcAft>
            </a:pPr>
            <a:r>
              <a:rPr sz="1300">
                <a:solidFill>
                  <a:srgbClr val="5B6372"/>
                </a:solidFill>
                <a:latin typeface="Arial"/>
              </a:rPr>
              <a:t>–  1.7 incorrect surgical operations per week</a:t>
            </a:r>
          </a:p>
          <a:p>
            <a:pPr>
              <a:spcAft>
                <a:spcPts val="1000"/>
              </a:spcAft>
            </a:pPr>
            <a:r>
              <a:rPr sz="1300">
                <a:solidFill>
                  <a:srgbClr val="5B6372"/>
                </a:solidFill>
                <a:latin typeface="Arial"/>
              </a:rPr>
              <a:t>–  One short or long landing every 5 years</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COMBINED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vs Six Sigma vs Lean Six Sigma</a:t>
            </a:r>
          </a:p>
        </p:txBody>
      </p:sp>
      <p:sp>
        <p:nvSpPr>
          <p:cNvPr id="6" name="Rectangle 5"/>
          <p:cNvSpPr/>
          <p:nvPr/>
        </p:nvSpPr>
        <p:spPr>
          <a:xfrm>
            <a:off x="7772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3977639"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05840" y="2084832"/>
            <a:ext cx="3520439" cy="457200"/>
          </a:xfrm>
          <a:prstGeom prst="rect">
            <a:avLst/>
          </a:prstGeom>
          <a:noFill/>
        </p:spPr>
        <p:txBody>
          <a:bodyPr wrap="square" anchor="t">
            <a:spAutoFit/>
          </a:bodyPr>
          <a:lstStyle/>
          <a:p>
            <a:pPr algn="l">
              <a:spcAft>
                <a:spcPts val="400"/>
              </a:spcAft>
            </a:pPr>
            <a:r>
              <a:rPr sz="2200" b="1">
                <a:solidFill>
                  <a:srgbClr val="1F6FEB"/>
                </a:solidFill>
                <a:latin typeface="Arial"/>
              </a:rPr>
              <a:t>Lean</a:t>
            </a:r>
          </a:p>
        </p:txBody>
      </p:sp>
      <p:sp>
        <p:nvSpPr>
          <p:cNvPr id="9" name="TextBox 8"/>
          <p:cNvSpPr txBox="1"/>
          <p:nvPr/>
        </p:nvSpPr>
        <p:spPr>
          <a:xfrm>
            <a:off x="10058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Removes waste</a:t>
            </a:r>
          </a:p>
          <a:p>
            <a:pPr>
              <a:spcAft>
                <a:spcPts val="700"/>
              </a:spcAft>
            </a:pPr>
            <a:r>
              <a:rPr sz="1300">
                <a:solidFill>
                  <a:srgbClr val="161B26"/>
                </a:solidFill>
                <a:latin typeface="Arial"/>
              </a:rPr>
              <a:t>•  Improves speed and flow</a:t>
            </a:r>
          </a:p>
          <a:p>
            <a:pPr>
              <a:spcAft>
                <a:spcPts val="700"/>
              </a:spcAft>
            </a:pPr>
            <a:r>
              <a:rPr sz="1300">
                <a:solidFill>
                  <a:srgbClr val="161B26"/>
                </a:solidFill>
                <a:latin typeface="Arial"/>
              </a:rPr>
              <a:t>•  Question: is this step worth doing?</a:t>
            </a:r>
          </a:p>
          <a:p>
            <a:pPr>
              <a:spcAft>
                <a:spcPts val="700"/>
              </a:spcAft>
            </a:pPr>
            <a:r>
              <a:rPr sz="1300">
                <a:solidFill>
                  <a:srgbClr val="161B26"/>
                </a:solidFill>
                <a:latin typeface="Arial"/>
              </a:rPr>
              <a:t>•  Tools: VSM, 5S, Kaizen, poka-yoke</a:t>
            </a:r>
          </a:p>
        </p:txBody>
      </p:sp>
      <p:sp>
        <p:nvSpPr>
          <p:cNvPr id="10" name="Rectangle 9"/>
          <p:cNvSpPr/>
          <p:nvPr/>
        </p:nvSpPr>
        <p:spPr>
          <a:xfrm>
            <a:off x="7406640" y="1828800"/>
            <a:ext cx="3977639" cy="22860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7406640" y="1828800"/>
            <a:ext cx="3977639"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635240" y="2084832"/>
            <a:ext cx="3520439" cy="457200"/>
          </a:xfrm>
          <a:prstGeom prst="rect">
            <a:avLst/>
          </a:prstGeom>
          <a:noFill/>
        </p:spPr>
        <p:txBody>
          <a:bodyPr wrap="square" anchor="t">
            <a:spAutoFit/>
          </a:bodyPr>
          <a:lstStyle/>
          <a:p>
            <a:pPr algn="l">
              <a:spcAft>
                <a:spcPts val="400"/>
              </a:spcAft>
            </a:pPr>
            <a:r>
              <a:rPr sz="2200" b="1">
                <a:solidFill>
                  <a:srgbClr val="10B981"/>
                </a:solidFill>
                <a:latin typeface="Arial"/>
              </a:rPr>
              <a:t>Six Sigma</a:t>
            </a:r>
          </a:p>
        </p:txBody>
      </p:sp>
      <p:sp>
        <p:nvSpPr>
          <p:cNvPr id="13" name="TextBox 12"/>
          <p:cNvSpPr txBox="1"/>
          <p:nvPr/>
        </p:nvSpPr>
        <p:spPr>
          <a:xfrm>
            <a:off x="7635240" y="2697480"/>
            <a:ext cx="3520439" cy="1280160"/>
          </a:xfrm>
          <a:prstGeom prst="rect">
            <a:avLst/>
          </a:prstGeom>
          <a:noFill/>
        </p:spPr>
        <p:txBody>
          <a:bodyPr wrap="square">
            <a:spAutoFit/>
          </a:bodyPr>
          <a:lstStyle/>
          <a:p>
            <a:pPr>
              <a:spcAft>
                <a:spcPts val="700"/>
              </a:spcAft>
            </a:pPr>
            <a:r>
              <a:rPr sz="1300">
                <a:solidFill>
                  <a:srgbClr val="161B26"/>
                </a:solidFill>
                <a:latin typeface="Arial"/>
              </a:rPr>
              <a:t>•  Reduces variation</a:t>
            </a:r>
          </a:p>
          <a:p>
            <a:pPr>
              <a:spcAft>
                <a:spcPts val="700"/>
              </a:spcAft>
            </a:pPr>
            <a:r>
              <a:rPr sz="1300">
                <a:solidFill>
                  <a:srgbClr val="161B26"/>
                </a:solidFill>
                <a:latin typeface="Arial"/>
              </a:rPr>
              <a:t>•  Improves consistency and accuracy</a:t>
            </a:r>
          </a:p>
          <a:p>
            <a:pPr>
              <a:spcAft>
                <a:spcPts val="700"/>
              </a:spcAft>
            </a:pPr>
            <a:r>
              <a:rPr sz="1300">
                <a:solidFill>
                  <a:srgbClr val="161B26"/>
                </a:solidFill>
                <a:latin typeface="Arial"/>
              </a:rPr>
              <a:t>•  Question: why does the result vary?</a:t>
            </a:r>
          </a:p>
          <a:p>
            <a:pPr>
              <a:spcAft>
                <a:spcPts val="700"/>
              </a:spcAft>
            </a:pPr>
            <a:r>
              <a:rPr sz="1300">
                <a:solidFill>
                  <a:srgbClr val="161B26"/>
                </a:solidFill>
                <a:latin typeface="Arial"/>
              </a:rPr>
              <a:t>•  Tools: DMAIC, Pareto, SPC, root cause</a:t>
            </a:r>
          </a:p>
        </p:txBody>
      </p:sp>
      <p:sp>
        <p:nvSpPr>
          <p:cNvPr id="14" name="TextBox 13"/>
          <p:cNvSpPr txBox="1"/>
          <p:nvPr/>
        </p:nvSpPr>
        <p:spPr>
          <a:xfrm>
            <a:off x="5120640" y="2606040"/>
            <a:ext cx="1920240" cy="731520"/>
          </a:xfrm>
          <a:prstGeom prst="rect">
            <a:avLst/>
          </a:prstGeom>
          <a:noFill/>
        </p:spPr>
        <p:txBody>
          <a:bodyPr wrap="square" anchor="ctr">
            <a:spAutoFit/>
          </a:bodyPr>
          <a:lstStyle/>
          <a:p>
            <a:pPr algn="ctr">
              <a:spcAft>
                <a:spcPts val="400"/>
              </a:spcAft>
            </a:pPr>
            <a:r>
              <a:rPr sz="4400" b="1">
                <a:solidFill>
                  <a:srgbClr val="5B6372"/>
                </a:solidFill>
                <a:latin typeface="Arial"/>
              </a:rPr>
              <a:t>+</a:t>
            </a:r>
          </a:p>
        </p:txBody>
      </p:sp>
      <p:sp>
        <p:nvSpPr>
          <p:cNvPr id="15" name="TextBox 14"/>
          <p:cNvSpPr txBox="1"/>
          <p:nvPr/>
        </p:nvSpPr>
        <p:spPr>
          <a:xfrm>
            <a:off x="777240" y="4315968"/>
            <a:ext cx="10607040" cy="365760"/>
          </a:xfrm>
          <a:prstGeom prst="rect">
            <a:avLst/>
          </a:prstGeom>
          <a:noFill/>
        </p:spPr>
        <p:txBody>
          <a:bodyPr wrap="square" anchor="t">
            <a:spAutoFit/>
          </a:bodyPr>
          <a:lstStyle/>
          <a:p>
            <a:pPr algn="ctr">
              <a:spcAft>
                <a:spcPts val="400"/>
              </a:spcAft>
            </a:pPr>
            <a:r>
              <a:rPr sz="1600" b="1">
                <a:solidFill>
                  <a:srgbClr val="5B6372"/>
                </a:solidFill>
                <a:latin typeface="Arial"/>
              </a:rPr>
              <a:t>▼</a:t>
            </a:r>
          </a:p>
        </p:txBody>
      </p:sp>
      <p:sp>
        <p:nvSpPr>
          <p:cNvPr id="16" name="Rectangle 15"/>
          <p:cNvSpPr/>
          <p:nvPr/>
        </p:nvSpPr>
        <p:spPr>
          <a:xfrm>
            <a:off x="2194560" y="4709160"/>
            <a:ext cx="777240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2377440" y="4709160"/>
            <a:ext cx="7406640" cy="1298448"/>
          </a:xfrm>
          <a:prstGeom prst="rect">
            <a:avLst/>
          </a:prstGeom>
          <a:noFill/>
        </p:spPr>
        <p:txBody>
          <a:bodyPr wrap="square" anchor="ctr">
            <a:spAutoFit/>
          </a:bodyPr>
          <a:lstStyle/>
          <a:p>
            <a:pPr algn="ctr">
              <a:spcAft>
                <a:spcPts val="400"/>
              </a:spcAft>
            </a:pPr>
            <a:r>
              <a:rPr sz="2200" b="1">
                <a:solidFill>
                  <a:srgbClr val="FFFFFF"/>
                </a:solidFill>
                <a:latin typeface="Arial"/>
              </a:rPr>
              <a:t>Lean Six Sigma</a:t>
            </a:r>
          </a:p>
          <a:p>
            <a:pPr algn="ctr">
              <a:spcAft>
                <a:spcPts val="400"/>
              </a:spcAft>
            </a:pPr>
            <a:r>
              <a:rPr sz="1300" b="0">
                <a:solidFill>
                  <a:srgbClr val="FFFFFF"/>
                </a:solidFill>
                <a:latin typeface="Arial"/>
              </a:rPr>
              <a:t>Faster AND more consistent — remove the waste, then control the variation that remains.</a:t>
            </a:r>
          </a:p>
        </p:txBody>
      </p:sp>
      <p:sp>
        <p:nvSpPr>
          <p:cNvPr id="18" name="TextBox 1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9" name="TextBox 1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0" name="TextBox 1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HISTORY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 Short History of Lean Six Sigma</a:t>
            </a:r>
          </a:p>
        </p:txBody>
      </p:sp>
      <p:cxnSp>
        <p:nvCxnSpPr>
          <p:cNvPr id="6" name="Connector 5"/>
          <p:cNvCxnSpPr/>
          <p:nvPr/>
        </p:nvCxnSpPr>
        <p:spPr>
          <a:xfrm>
            <a:off x="777240" y="3749039"/>
            <a:ext cx="10634472" cy="0"/>
          </a:xfrm>
          <a:prstGeom prst="line">
            <a:avLst/>
          </a:prstGeom>
          <a:ln w="38100">
            <a:solidFill>
              <a:srgbClr val="E2E8F0"/>
            </a:solidFill>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1591056"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77240"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68680"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1950s</a:t>
            </a:r>
          </a:p>
        </p:txBody>
      </p:sp>
      <p:sp>
        <p:nvSpPr>
          <p:cNvPr id="11" name="TextBox 10"/>
          <p:cNvSpPr txBox="1"/>
          <p:nvPr/>
        </p:nvSpPr>
        <p:spPr>
          <a:xfrm>
            <a:off x="841248"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Toyota Production System — Lean is born</a:t>
            </a:r>
          </a:p>
        </p:txBody>
      </p:sp>
      <p:sp>
        <p:nvSpPr>
          <p:cNvPr id="12" name="Oval 11"/>
          <p:cNvSpPr/>
          <p:nvPr/>
        </p:nvSpPr>
        <p:spPr>
          <a:xfrm>
            <a:off x="3769614" y="3602735"/>
            <a:ext cx="292608" cy="292608"/>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55798"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2955798" y="4059935"/>
            <a:ext cx="1920240" cy="731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047238" y="4224527"/>
            <a:ext cx="1737360" cy="329184"/>
          </a:xfrm>
          <a:prstGeom prst="rect">
            <a:avLst/>
          </a:prstGeom>
          <a:noFill/>
        </p:spPr>
        <p:txBody>
          <a:bodyPr wrap="square" anchor="t">
            <a:spAutoFit/>
          </a:bodyPr>
          <a:lstStyle/>
          <a:p>
            <a:pPr algn="ctr">
              <a:spcAft>
                <a:spcPts val="400"/>
              </a:spcAft>
            </a:pPr>
            <a:r>
              <a:rPr sz="1500" b="1">
                <a:solidFill>
                  <a:srgbClr val="10B981"/>
                </a:solidFill>
                <a:latin typeface="Arial"/>
              </a:rPr>
              <a:t>1986</a:t>
            </a:r>
          </a:p>
        </p:txBody>
      </p:sp>
      <p:sp>
        <p:nvSpPr>
          <p:cNvPr id="16" name="TextBox 15"/>
          <p:cNvSpPr txBox="1"/>
          <p:nvPr/>
        </p:nvSpPr>
        <p:spPr>
          <a:xfrm>
            <a:off x="3019806"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Motorola coins Six Sigma</a:t>
            </a:r>
          </a:p>
        </p:txBody>
      </p:sp>
      <p:sp>
        <p:nvSpPr>
          <p:cNvPr id="17" name="Oval 16"/>
          <p:cNvSpPr/>
          <p:nvPr/>
        </p:nvSpPr>
        <p:spPr>
          <a:xfrm>
            <a:off x="5948172" y="3602735"/>
            <a:ext cx="292608" cy="292608"/>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5134356"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34356" y="2267711"/>
            <a:ext cx="1920240" cy="731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225796" y="2432303"/>
            <a:ext cx="1737360" cy="329184"/>
          </a:xfrm>
          <a:prstGeom prst="rect">
            <a:avLst/>
          </a:prstGeom>
          <a:noFill/>
        </p:spPr>
        <p:txBody>
          <a:bodyPr wrap="square" anchor="t">
            <a:spAutoFit/>
          </a:bodyPr>
          <a:lstStyle/>
          <a:p>
            <a:pPr algn="ctr">
              <a:spcAft>
                <a:spcPts val="400"/>
              </a:spcAft>
            </a:pPr>
            <a:r>
              <a:rPr sz="1500" b="1">
                <a:solidFill>
                  <a:srgbClr val="7C3AED"/>
                </a:solidFill>
                <a:latin typeface="Arial"/>
              </a:rPr>
              <a:t>1995</a:t>
            </a:r>
          </a:p>
        </p:txBody>
      </p:sp>
      <p:sp>
        <p:nvSpPr>
          <p:cNvPr id="21" name="TextBox 20"/>
          <p:cNvSpPr txBox="1"/>
          <p:nvPr/>
        </p:nvSpPr>
        <p:spPr>
          <a:xfrm>
            <a:off x="5198364"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GE adopts Six Sigma company-wide</a:t>
            </a:r>
          </a:p>
        </p:txBody>
      </p:sp>
      <p:sp>
        <p:nvSpPr>
          <p:cNvPr id="22" name="Oval 21"/>
          <p:cNvSpPr/>
          <p:nvPr/>
        </p:nvSpPr>
        <p:spPr>
          <a:xfrm>
            <a:off x="8126730" y="3602735"/>
            <a:ext cx="292608" cy="292608"/>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7312914" y="4059935"/>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7312914" y="4059935"/>
            <a:ext cx="1920240" cy="731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04354" y="4224527"/>
            <a:ext cx="1737360" cy="329184"/>
          </a:xfrm>
          <a:prstGeom prst="rect">
            <a:avLst/>
          </a:prstGeom>
          <a:noFill/>
        </p:spPr>
        <p:txBody>
          <a:bodyPr wrap="square" anchor="t">
            <a:spAutoFit/>
          </a:bodyPr>
          <a:lstStyle/>
          <a:p>
            <a:pPr algn="ctr">
              <a:spcAft>
                <a:spcPts val="400"/>
              </a:spcAft>
            </a:pPr>
            <a:r>
              <a:rPr sz="1500" b="1">
                <a:solidFill>
                  <a:srgbClr val="F59E0B"/>
                </a:solidFill>
                <a:latin typeface="Arial"/>
              </a:rPr>
              <a:t>2000s</a:t>
            </a:r>
          </a:p>
        </p:txBody>
      </p:sp>
      <p:sp>
        <p:nvSpPr>
          <p:cNvPr id="26" name="TextBox 25"/>
          <p:cNvSpPr txBox="1"/>
          <p:nvPr/>
        </p:nvSpPr>
        <p:spPr>
          <a:xfrm>
            <a:off x="7376922" y="4590287"/>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Lean and Six Sigma merge</a:t>
            </a:r>
          </a:p>
        </p:txBody>
      </p:sp>
      <p:sp>
        <p:nvSpPr>
          <p:cNvPr id="27" name="Oval 26"/>
          <p:cNvSpPr/>
          <p:nvPr/>
        </p:nvSpPr>
        <p:spPr>
          <a:xfrm>
            <a:off x="10305288" y="3602735"/>
            <a:ext cx="292608" cy="292608"/>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491472" y="2267711"/>
            <a:ext cx="1920240" cy="11704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9491472" y="2267711"/>
            <a:ext cx="1920240" cy="731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9582912" y="2432303"/>
            <a:ext cx="1737360" cy="329184"/>
          </a:xfrm>
          <a:prstGeom prst="rect">
            <a:avLst/>
          </a:prstGeom>
          <a:noFill/>
        </p:spPr>
        <p:txBody>
          <a:bodyPr wrap="square" anchor="t">
            <a:spAutoFit/>
          </a:bodyPr>
          <a:lstStyle/>
          <a:p>
            <a:pPr algn="ctr">
              <a:spcAft>
                <a:spcPts val="400"/>
              </a:spcAft>
            </a:pPr>
            <a:r>
              <a:rPr sz="1500" b="1">
                <a:solidFill>
                  <a:srgbClr val="1F6FEB"/>
                </a:solidFill>
                <a:latin typeface="Arial"/>
              </a:rPr>
              <a:t>Today</a:t>
            </a:r>
          </a:p>
        </p:txBody>
      </p:sp>
      <p:sp>
        <p:nvSpPr>
          <p:cNvPr id="31" name="TextBox 30"/>
          <p:cNvSpPr txBox="1"/>
          <p:nvPr/>
        </p:nvSpPr>
        <p:spPr>
          <a:xfrm>
            <a:off x="9555480" y="2798063"/>
            <a:ext cx="1792224" cy="585216"/>
          </a:xfrm>
          <a:prstGeom prst="rect">
            <a:avLst/>
          </a:prstGeom>
          <a:noFill/>
        </p:spPr>
        <p:txBody>
          <a:bodyPr wrap="square" anchor="t">
            <a:spAutoFit/>
          </a:bodyPr>
          <a:lstStyle/>
          <a:p>
            <a:pPr algn="ctr">
              <a:spcAft>
                <a:spcPts val="400"/>
              </a:spcAft>
            </a:pPr>
            <a:r>
              <a:rPr sz="1000" b="0">
                <a:solidFill>
                  <a:srgbClr val="5B6372"/>
                </a:solidFill>
                <a:latin typeface="Arial"/>
              </a:rPr>
              <a:t>Applied across service, healthcare, finance and IT</a:t>
            </a:r>
          </a:p>
        </p:txBody>
      </p:sp>
      <p:sp>
        <p:nvSpPr>
          <p:cNvPr id="32" name="TextBox 3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3" name="TextBox 3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4" name="TextBox 3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THE CENTRAL EQUATION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Y = f(X)</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output Y is a function of the process inputs X. To change the result, change the inputs that drive it — not the result itself.</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OUR COURSE SCENARIO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 = f(X) in Practice — The Contoso Service Desk</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Y — the output</a:t>
            </a:r>
          </a:p>
          <a:p>
            <a:pPr algn="l">
              <a:spcAft>
                <a:spcPts val="300"/>
              </a:spcAft>
            </a:pPr>
            <a:r>
              <a:rPr sz="1100" b="0">
                <a:solidFill>
                  <a:srgbClr val="5B6372"/>
                </a:solidFill>
                <a:latin typeface="Arial"/>
              </a:rPr>
              <a:t>Ticket assignment time, measured in hours from submission to assignment.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triage rules</a:t>
            </a:r>
          </a:p>
          <a:p>
            <a:pPr algn="l">
              <a:spcAft>
                <a:spcPts val="300"/>
              </a:spcAft>
            </a:pPr>
            <a:r>
              <a:rPr sz="1100" b="0">
                <a:solidFill>
                  <a:srgbClr val="5B6372"/>
                </a:solidFill>
                <a:latin typeface="Arial"/>
              </a:rPr>
              <a:t>How clearly the routing rules are written and understood.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staffing</a:t>
            </a:r>
          </a:p>
          <a:p>
            <a:pPr algn="l">
              <a:spcAft>
                <a:spcPts val="300"/>
              </a:spcAft>
            </a:pPr>
            <a:r>
              <a:rPr sz="1100" b="0">
                <a:solidFill>
                  <a:srgbClr val="5B6372"/>
                </a:solidFill>
                <a:latin typeface="Arial"/>
              </a:rPr>
              <a:t>How many agents are available at peak submission times.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X — ticket quality</a:t>
            </a:r>
          </a:p>
          <a:p>
            <a:pPr algn="l">
              <a:spcAft>
                <a:spcPts val="300"/>
              </a:spcAft>
            </a:pPr>
            <a:r>
              <a:rPr sz="1100" b="0">
                <a:solidFill>
                  <a:srgbClr val="5B6372"/>
                </a:solidFill>
                <a:latin typeface="Arial"/>
              </a:rPr>
              <a:t>How complete the information is when the ticket arrives.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WHO DOES WHAT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Lean Six Sigma Belt Pathway</a:t>
            </a:r>
          </a:p>
        </p:txBody>
      </p:sp>
      <p:sp>
        <p:nvSpPr>
          <p:cNvPr id="6" name="Rectangle 5"/>
          <p:cNvSpPr/>
          <p:nvPr/>
        </p:nvSpPr>
        <p:spPr>
          <a:xfrm>
            <a:off x="914400" y="3870473"/>
            <a:ext cx="1905609" cy="1661647"/>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914400" y="3870473"/>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24128" y="4089929"/>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White Belt</a:t>
            </a:r>
          </a:p>
        </p:txBody>
      </p:sp>
      <p:sp>
        <p:nvSpPr>
          <p:cNvPr id="9" name="TextBox 8"/>
          <p:cNvSpPr txBox="1"/>
          <p:nvPr/>
        </p:nvSpPr>
        <p:spPr>
          <a:xfrm>
            <a:off x="1042416" y="4675145"/>
            <a:ext cx="1649577" cy="747247"/>
          </a:xfrm>
          <a:prstGeom prst="rect">
            <a:avLst/>
          </a:prstGeom>
          <a:noFill/>
        </p:spPr>
        <p:txBody>
          <a:bodyPr wrap="square" anchor="t">
            <a:spAutoFit/>
          </a:bodyPr>
          <a:lstStyle/>
          <a:p>
            <a:pPr algn="ctr">
              <a:spcAft>
                <a:spcPts val="400"/>
              </a:spcAft>
            </a:pPr>
            <a:r>
              <a:rPr sz="1100" b="0">
                <a:solidFill>
                  <a:srgbClr val="5B6372"/>
                </a:solidFill>
                <a:latin typeface="Arial"/>
              </a:rPr>
              <a:t>Awareness of Six Sigma; supports local problem solving</a:t>
            </a:r>
          </a:p>
        </p:txBody>
      </p:sp>
      <p:sp>
        <p:nvSpPr>
          <p:cNvPr id="10" name="Rectangle 9"/>
          <p:cNvSpPr/>
          <p:nvPr/>
        </p:nvSpPr>
        <p:spPr>
          <a:xfrm>
            <a:off x="3021177" y="3405775"/>
            <a:ext cx="1905609" cy="2126345"/>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021177" y="3405775"/>
            <a:ext cx="1905609"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130905" y="3625231"/>
            <a:ext cx="1686153" cy="548640"/>
          </a:xfrm>
          <a:prstGeom prst="rect">
            <a:avLst/>
          </a:prstGeom>
          <a:noFill/>
        </p:spPr>
        <p:txBody>
          <a:bodyPr wrap="square" anchor="t">
            <a:spAutoFit/>
          </a:bodyPr>
          <a:lstStyle/>
          <a:p>
            <a:pPr algn="ctr">
              <a:spcAft>
                <a:spcPts val="400"/>
              </a:spcAft>
            </a:pPr>
            <a:r>
              <a:rPr sz="1500" b="1">
                <a:solidFill>
                  <a:srgbClr val="10B981"/>
                </a:solidFill>
                <a:latin typeface="Arial"/>
              </a:rPr>
              <a:t>Yellow Belt</a:t>
            </a:r>
          </a:p>
        </p:txBody>
      </p:sp>
      <p:sp>
        <p:nvSpPr>
          <p:cNvPr id="13" name="TextBox 12"/>
          <p:cNvSpPr txBox="1"/>
          <p:nvPr/>
        </p:nvSpPr>
        <p:spPr>
          <a:xfrm>
            <a:off x="3149193" y="4210447"/>
            <a:ext cx="1649577" cy="1211945"/>
          </a:xfrm>
          <a:prstGeom prst="rect">
            <a:avLst/>
          </a:prstGeom>
          <a:noFill/>
        </p:spPr>
        <p:txBody>
          <a:bodyPr wrap="square" anchor="t">
            <a:spAutoFit/>
          </a:bodyPr>
          <a:lstStyle/>
          <a:p>
            <a:pPr algn="ctr">
              <a:spcAft>
                <a:spcPts val="400"/>
              </a:spcAft>
            </a:pPr>
            <a:r>
              <a:rPr sz="1100" b="0">
                <a:solidFill>
                  <a:srgbClr val="5B6372"/>
                </a:solidFill>
                <a:latin typeface="Arial"/>
              </a:rPr>
              <a:t>Knows the basic tools; supports projects and runs small improvements</a:t>
            </a:r>
          </a:p>
        </p:txBody>
      </p:sp>
      <p:sp>
        <p:nvSpPr>
          <p:cNvPr id="14" name="Rectangle 13"/>
          <p:cNvSpPr/>
          <p:nvPr/>
        </p:nvSpPr>
        <p:spPr>
          <a:xfrm>
            <a:off x="5127954" y="2941077"/>
            <a:ext cx="1905609" cy="2591043"/>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5127954" y="2941077"/>
            <a:ext cx="1905609"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237682" y="3160533"/>
            <a:ext cx="1686153" cy="548640"/>
          </a:xfrm>
          <a:prstGeom prst="rect">
            <a:avLst/>
          </a:prstGeom>
          <a:noFill/>
        </p:spPr>
        <p:txBody>
          <a:bodyPr wrap="square" anchor="t">
            <a:spAutoFit/>
          </a:bodyPr>
          <a:lstStyle/>
          <a:p>
            <a:pPr algn="ctr">
              <a:spcAft>
                <a:spcPts val="400"/>
              </a:spcAft>
            </a:pPr>
            <a:r>
              <a:rPr sz="1500" b="1">
                <a:solidFill>
                  <a:srgbClr val="7C3AED"/>
                </a:solidFill>
                <a:latin typeface="Arial"/>
              </a:rPr>
              <a:t>Green Belt</a:t>
            </a:r>
          </a:p>
        </p:txBody>
      </p:sp>
      <p:sp>
        <p:nvSpPr>
          <p:cNvPr id="17" name="TextBox 16"/>
          <p:cNvSpPr txBox="1"/>
          <p:nvPr/>
        </p:nvSpPr>
        <p:spPr>
          <a:xfrm>
            <a:off x="5255970" y="3745749"/>
            <a:ext cx="1649577" cy="1676643"/>
          </a:xfrm>
          <a:prstGeom prst="rect">
            <a:avLst/>
          </a:prstGeom>
          <a:noFill/>
        </p:spPr>
        <p:txBody>
          <a:bodyPr wrap="square" anchor="t">
            <a:spAutoFit/>
          </a:bodyPr>
          <a:lstStyle/>
          <a:p>
            <a:pPr algn="ctr">
              <a:spcAft>
                <a:spcPts val="400"/>
              </a:spcAft>
            </a:pPr>
            <a:r>
              <a:rPr sz="1100" b="0">
                <a:solidFill>
                  <a:srgbClr val="5B6372"/>
                </a:solidFill>
                <a:latin typeface="Arial"/>
              </a:rPr>
              <a:t>Leads smaller projects; assists Black Belts with analysis</a:t>
            </a:r>
          </a:p>
        </p:txBody>
      </p:sp>
      <p:sp>
        <p:nvSpPr>
          <p:cNvPr id="18" name="Rectangle 17"/>
          <p:cNvSpPr/>
          <p:nvPr/>
        </p:nvSpPr>
        <p:spPr>
          <a:xfrm>
            <a:off x="7234731" y="2476379"/>
            <a:ext cx="1905609" cy="305574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234731" y="2476379"/>
            <a:ext cx="1905609"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344459" y="2695835"/>
            <a:ext cx="1686153" cy="548640"/>
          </a:xfrm>
          <a:prstGeom prst="rect">
            <a:avLst/>
          </a:prstGeom>
          <a:noFill/>
        </p:spPr>
        <p:txBody>
          <a:bodyPr wrap="square" anchor="t">
            <a:spAutoFit/>
          </a:bodyPr>
          <a:lstStyle/>
          <a:p>
            <a:pPr algn="ctr">
              <a:spcAft>
                <a:spcPts val="400"/>
              </a:spcAft>
            </a:pPr>
            <a:r>
              <a:rPr sz="1500" b="1">
                <a:solidFill>
                  <a:srgbClr val="F59E0B"/>
                </a:solidFill>
                <a:latin typeface="Arial"/>
              </a:rPr>
              <a:t>Black Belt</a:t>
            </a:r>
          </a:p>
        </p:txBody>
      </p:sp>
      <p:sp>
        <p:nvSpPr>
          <p:cNvPr id="21" name="TextBox 20"/>
          <p:cNvSpPr txBox="1"/>
          <p:nvPr/>
        </p:nvSpPr>
        <p:spPr>
          <a:xfrm>
            <a:off x="7362747" y="3281051"/>
            <a:ext cx="1649577" cy="2141341"/>
          </a:xfrm>
          <a:prstGeom prst="rect">
            <a:avLst/>
          </a:prstGeom>
          <a:noFill/>
        </p:spPr>
        <p:txBody>
          <a:bodyPr wrap="square" anchor="t">
            <a:spAutoFit/>
          </a:bodyPr>
          <a:lstStyle/>
          <a:p>
            <a:pPr algn="ctr">
              <a:spcAft>
                <a:spcPts val="400"/>
              </a:spcAft>
            </a:pPr>
            <a:r>
              <a:rPr sz="1100" b="0">
                <a:solidFill>
                  <a:srgbClr val="5B6372"/>
                </a:solidFill>
                <a:latin typeface="Arial"/>
              </a:rPr>
              <a:t>Leads complex projects full time; coaches Green and Yellow Belts</a:t>
            </a:r>
          </a:p>
        </p:txBody>
      </p:sp>
      <p:sp>
        <p:nvSpPr>
          <p:cNvPr id="22" name="Rectangle 21"/>
          <p:cNvSpPr/>
          <p:nvPr/>
        </p:nvSpPr>
        <p:spPr>
          <a:xfrm>
            <a:off x="9341508" y="2011680"/>
            <a:ext cx="1905609" cy="35204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41508" y="2011680"/>
            <a:ext cx="1905609"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451236" y="2231136"/>
            <a:ext cx="1686153" cy="548640"/>
          </a:xfrm>
          <a:prstGeom prst="rect">
            <a:avLst/>
          </a:prstGeom>
          <a:noFill/>
        </p:spPr>
        <p:txBody>
          <a:bodyPr wrap="square" anchor="t">
            <a:spAutoFit/>
          </a:bodyPr>
          <a:lstStyle/>
          <a:p>
            <a:pPr algn="ctr">
              <a:spcAft>
                <a:spcPts val="400"/>
              </a:spcAft>
            </a:pPr>
            <a:r>
              <a:rPr sz="1500" b="1">
                <a:solidFill>
                  <a:srgbClr val="1F6FEB"/>
                </a:solidFill>
                <a:latin typeface="Arial"/>
              </a:rPr>
              <a:t>Master Black Belt</a:t>
            </a:r>
          </a:p>
        </p:txBody>
      </p:sp>
      <p:sp>
        <p:nvSpPr>
          <p:cNvPr id="25" name="TextBox 24"/>
          <p:cNvSpPr txBox="1"/>
          <p:nvPr/>
        </p:nvSpPr>
        <p:spPr>
          <a:xfrm>
            <a:off x="9469524" y="2816352"/>
            <a:ext cx="1649577" cy="2606040"/>
          </a:xfrm>
          <a:prstGeom prst="rect">
            <a:avLst/>
          </a:prstGeom>
          <a:noFill/>
        </p:spPr>
        <p:txBody>
          <a:bodyPr wrap="square" anchor="t">
            <a:spAutoFit/>
          </a:bodyPr>
          <a:lstStyle/>
          <a:p>
            <a:pPr algn="ctr">
              <a:spcAft>
                <a:spcPts val="400"/>
              </a:spcAft>
            </a:pPr>
            <a:r>
              <a:rPr sz="1100" b="0">
                <a:solidFill>
                  <a:srgbClr val="5B6372"/>
                </a:solidFill>
                <a:latin typeface="Arial"/>
              </a:rPr>
              <a:t>Trains and mentors Belts; owns deployment strategy</a:t>
            </a:r>
          </a:p>
        </p:txBody>
      </p:sp>
      <p:cxnSp>
        <p:nvCxnSpPr>
          <p:cNvPr id="26" name="Connector 25"/>
          <p:cNvCxnSpPr/>
          <p:nvPr/>
        </p:nvCxnSpPr>
        <p:spPr>
          <a:xfrm>
            <a:off x="914400" y="5532120"/>
            <a:ext cx="103327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77240" y="576072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This course certifies you at Yellow Belt — the level that supports projects and runs small improvements.</a:t>
            </a:r>
          </a:p>
        </p:txBody>
      </p:sp>
      <p:sp>
        <p:nvSpPr>
          <p:cNvPr id="28" name="TextBox 27"/>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9" name="TextBox 28"/>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0" name="TextBox 29"/>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LSS YELLOW BELT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Role — the Lean Six Sigma Yellow Belt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Has basic knowledge</a:t>
            </a:r>
          </a:p>
          <a:p>
            <a:pPr algn="l">
              <a:spcAft>
                <a:spcPts val="300"/>
              </a:spcAft>
            </a:pPr>
            <a:r>
              <a:rPr sz="1100" b="0">
                <a:solidFill>
                  <a:srgbClr val="5B6372"/>
                </a:solidFill>
                <a:latin typeface="Arial"/>
              </a:rPr>
              <a:t>Understands the DMAIC roadmap and the 7 basic quality tools.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Supports the project</a:t>
            </a:r>
          </a:p>
          <a:p>
            <a:pPr algn="l">
              <a:spcAft>
                <a:spcPts val="300"/>
              </a:spcAft>
            </a:pPr>
            <a:r>
              <a:rPr sz="1100" b="0">
                <a:solidFill>
                  <a:srgbClr val="5B6372"/>
                </a:solidFill>
                <a:latin typeface="Arial"/>
              </a:rPr>
              <a:t>Contributes process knowledge as the subject-matter expert.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Collects the data</a:t>
            </a:r>
          </a:p>
          <a:p>
            <a:pPr algn="l">
              <a:spcAft>
                <a:spcPts val="300"/>
              </a:spcAft>
            </a:pPr>
            <a:r>
              <a:rPr sz="1100" b="0">
                <a:solidFill>
                  <a:srgbClr val="5B6372"/>
                </a:solidFill>
                <a:latin typeface="Arial"/>
              </a:rPr>
              <a:t>Runs check sheets and data collection under the project leader.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Maps the process</a:t>
            </a:r>
          </a:p>
          <a:p>
            <a:pPr algn="l">
              <a:spcAft>
                <a:spcPts val="300"/>
              </a:spcAft>
            </a:pPr>
            <a:r>
              <a:rPr sz="1100" b="0">
                <a:solidFill>
                  <a:srgbClr val="5B6372"/>
                </a:solidFill>
                <a:latin typeface="Arial"/>
              </a:rPr>
              <a:t>Builds SIPOC and process maps that expose handoffs and waste.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Runs small improvements</a:t>
            </a:r>
          </a:p>
          <a:p>
            <a:pPr algn="l">
              <a:spcAft>
                <a:spcPts val="300"/>
              </a:spcAft>
            </a:pPr>
            <a:r>
              <a:rPr sz="1100" b="0">
                <a:solidFill>
                  <a:srgbClr val="5B6372"/>
                </a:solidFill>
                <a:latin typeface="Arial"/>
              </a:rPr>
              <a:t>Leads Kaizen or PDCA improvements within their own work area.</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Does not lead DMAIC</a:t>
            </a:r>
          </a:p>
          <a:p>
            <a:pPr algn="l">
              <a:spcAft>
                <a:spcPts val="300"/>
              </a:spcAft>
            </a:pPr>
            <a:r>
              <a:rPr sz="1100" b="0">
                <a:solidFill>
                  <a:srgbClr val="5B6372"/>
                </a:solidFill>
                <a:latin typeface="Arial"/>
              </a:rPr>
              <a:t>Larger, cross-functional DMAIC projects belong to a Green or Black Belt.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COURSE ROADMAP · WE FOLLOW THIS ORDER</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DMAIC Roadmap</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Define the problem</a:t>
            </a:r>
          </a:p>
          <a:p>
            <a:pPr>
              <a:spcAft>
                <a:spcPts val="600"/>
              </a:spcAft>
            </a:pPr>
            <a:r>
              <a:rPr sz="1100">
                <a:solidFill>
                  <a:srgbClr val="161B26"/>
                </a:solidFill>
                <a:latin typeface="Arial"/>
              </a:rPr>
              <a:t>•  Capture VOC and CTQ</a:t>
            </a:r>
          </a:p>
          <a:p>
            <a:pPr>
              <a:spcAft>
                <a:spcPts val="600"/>
              </a:spcAft>
            </a:pPr>
            <a:r>
              <a:rPr sz="1100">
                <a:solidFill>
                  <a:srgbClr val="161B26"/>
                </a:solidFill>
                <a:latin typeface="Arial"/>
              </a:rPr>
              <a:t>•  Charter and scope</a:t>
            </a:r>
          </a:p>
          <a:p>
            <a:pPr>
              <a:spcAft>
                <a:spcPts val="600"/>
              </a:spcAft>
            </a:pPr>
            <a:r>
              <a:rPr sz="1100">
                <a:solidFill>
                  <a:srgbClr val="161B26"/>
                </a:solidFill>
                <a:latin typeface="Arial"/>
              </a:rPr>
              <a:t>•  Map with SIPOC</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Plan data collection</a:t>
            </a:r>
          </a:p>
          <a:p>
            <a:pPr>
              <a:spcAft>
                <a:spcPts val="600"/>
              </a:spcAft>
            </a:pPr>
            <a:r>
              <a:rPr sz="1100">
                <a:solidFill>
                  <a:srgbClr val="161B26"/>
                </a:solidFill>
                <a:latin typeface="Arial"/>
              </a:rPr>
              <a:t>•  Measure the baseline</a:t>
            </a:r>
          </a:p>
          <a:p>
            <a:pPr>
              <a:spcAft>
                <a:spcPts val="600"/>
              </a:spcAft>
            </a:pPr>
            <a:r>
              <a:rPr sz="1100">
                <a:solidFill>
                  <a:srgbClr val="161B26"/>
                </a:solidFill>
                <a:latin typeface="Arial"/>
              </a:rPr>
              <a:t>•  Calculate yield/DPMO</a:t>
            </a:r>
          </a:p>
          <a:p>
            <a:pPr>
              <a:spcAft>
                <a:spcPts val="600"/>
              </a:spcAft>
            </a:pPr>
            <a:r>
              <a:rPr sz="1100">
                <a:solidFill>
                  <a:srgbClr val="161B26"/>
                </a:solidFill>
                <a:latin typeface="Arial"/>
              </a:rPr>
              <a:t>•  Find the waste</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Analyse the data</a:t>
            </a:r>
          </a:p>
          <a:p>
            <a:pPr>
              <a:spcAft>
                <a:spcPts val="600"/>
              </a:spcAft>
            </a:pPr>
            <a:r>
              <a:rPr sz="1100">
                <a:solidFill>
                  <a:srgbClr val="161B26"/>
                </a:solidFill>
                <a:latin typeface="Arial"/>
              </a:rPr>
              <a:t>•  Pareto and run charts</a:t>
            </a:r>
          </a:p>
          <a:p>
            <a:pPr>
              <a:spcAft>
                <a:spcPts val="600"/>
              </a:spcAft>
            </a:pPr>
            <a:r>
              <a:rPr sz="1100">
                <a:solidFill>
                  <a:srgbClr val="161B26"/>
                </a:solidFill>
                <a:latin typeface="Arial"/>
              </a:rPr>
              <a:t>•  5 Whys and Fishbone</a:t>
            </a:r>
          </a:p>
          <a:p>
            <a:pPr>
              <a:spcAft>
                <a:spcPts val="600"/>
              </a:spcAft>
            </a:pPr>
            <a:r>
              <a:rPr sz="1100">
                <a:solidFill>
                  <a:srgbClr val="161B26"/>
                </a:solidFill>
                <a:latin typeface="Arial"/>
              </a:rPr>
              <a:t>•  Prove the root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Generate solutions</a:t>
            </a:r>
          </a:p>
          <a:p>
            <a:pPr>
              <a:spcAft>
                <a:spcPts val="600"/>
              </a:spcAft>
            </a:pPr>
            <a:r>
              <a:rPr sz="1100">
                <a:solidFill>
                  <a:srgbClr val="161B26"/>
                </a:solidFill>
                <a:latin typeface="Arial"/>
              </a:rPr>
              <a:t>•  Select and pilot</a:t>
            </a:r>
          </a:p>
          <a:p>
            <a:pPr>
              <a:spcAft>
                <a:spcPts val="600"/>
              </a:spcAft>
            </a:pPr>
            <a:r>
              <a:rPr sz="1100">
                <a:solidFill>
                  <a:srgbClr val="161B26"/>
                </a:solidFill>
                <a:latin typeface="Arial"/>
              </a:rPr>
              <a:t>•  5S and poka-yoke</a:t>
            </a:r>
          </a:p>
          <a:p>
            <a:pPr>
              <a:spcAft>
                <a:spcPts val="600"/>
              </a:spcAft>
            </a:pPr>
            <a:r>
              <a:rPr sz="1100">
                <a:solidFill>
                  <a:srgbClr val="161B26"/>
                </a:solidFill>
                <a:latin typeface="Arial"/>
              </a:rPr>
              <a:t>•  Standardise the work</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Build the control plan</a:t>
            </a:r>
          </a:p>
          <a:p>
            <a:pPr>
              <a:spcAft>
                <a:spcPts val="600"/>
              </a:spcAft>
            </a:pPr>
            <a:r>
              <a:rPr sz="1100">
                <a:solidFill>
                  <a:srgbClr val="161B26"/>
                </a:solidFill>
                <a:latin typeface="Arial"/>
              </a:rPr>
              <a:t>•  Visual management</a:t>
            </a:r>
          </a:p>
          <a:p>
            <a:pPr>
              <a:spcAft>
                <a:spcPts val="600"/>
              </a:spcAft>
            </a:pPr>
            <a:r>
              <a:rPr sz="1100">
                <a:solidFill>
                  <a:srgbClr val="161B26"/>
                </a:solidFill>
                <a:latin typeface="Arial"/>
              </a:rPr>
              <a:t>•  Hand over to the owner</a:t>
            </a:r>
          </a:p>
          <a:p>
            <a:pPr>
              <a:spcAft>
                <a:spcPts val="600"/>
              </a:spcAft>
            </a:pPr>
            <a:r>
              <a:rPr sz="1100">
                <a:solidFill>
                  <a:srgbClr val="161B26"/>
                </a:solidFill>
                <a:latin typeface="Arial"/>
              </a:rPr>
              <a:t>•  Sustain the gain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CHOOSING YOUR APPROACH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DMAIC vs PDCA — Which One Do I Use?</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10B981"/>
                </a:solidFill>
                <a:latin typeface="Arial"/>
              </a:rPr>
              <a:t>Small improvement</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Full project</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PDCA — Plan, Do, Check, Act</a:t>
            </a:r>
          </a:p>
          <a:p>
            <a:pPr>
              <a:spcAft>
                <a:spcPts val="1000"/>
              </a:spcAft>
            </a:pPr>
            <a:r>
              <a:rPr sz="1300">
                <a:solidFill>
                  <a:srgbClr val="5B6372"/>
                </a:solidFill>
                <a:latin typeface="Arial"/>
              </a:rPr>
              <a:t>–  For small, local, fast improvements</a:t>
            </a:r>
          </a:p>
          <a:p>
            <a:pPr>
              <a:spcAft>
                <a:spcPts val="1000"/>
              </a:spcAft>
            </a:pPr>
            <a:r>
              <a:rPr sz="1300">
                <a:solidFill>
                  <a:srgbClr val="5B6372"/>
                </a:solidFill>
                <a:latin typeface="Arial"/>
              </a:rPr>
              <a:t>–  Days to a few weeks</a:t>
            </a:r>
          </a:p>
          <a:p>
            <a:pPr>
              <a:spcAft>
                <a:spcPts val="1000"/>
              </a:spcAft>
            </a:pPr>
            <a:r>
              <a:rPr sz="1300">
                <a:solidFill>
                  <a:srgbClr val="5B6372"/>
                </a:solidFill>
                <a:latin typeface="Arial"/>
              </a:rPr>
              <a:t>–  A Yellow Belt can run this</a:t>
            </a:r>
          </a:p>
          <a:p>
            <a:pPr>
              <a:spcAft>
                <a:spcPts val="1000"/>
              </a:spcAft>
            </a:pPr>
            <a:r>
              <a:rPr sz="1300">
                <a:solidFill>
                  <a:srgbClr val="5B6372"/>
                </a:solidFill>
                <a:latin typeface="Arial"/>
              </a:rPr>
              <a:t>–  Lower data requirement</a:t>
            </a:r>
          </a:p>
          <a:p>
            <a:pPr>
              <a:spcAft>
                <a:spcPts val="1000"/>
              </a:spcAft>
            </a:pPr>
            <a:r>
              <a:rPr sz="1300">
                <a:solidFill>
                  <a:srgbClr val="5B6372"/>
                </a:solidFill>
                <a:latin typeface="Arial"/>
              </a:rPr>
              <a:t>–  Used in Activity 4</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DMAIC — the full roadmap</a:t>
            </a:r>
          </a:p>
          <a:p>
            <a:pPr>
              <a:spcAft>
                <a:spcPts val="1000"/>
              </a:spcAft>
            </a:pPr>
            <a:r>
              <a:rPr sz="1300">
                <a:solidFill>
                  <a:srgbClr val="5B6372"/>
                </a:solidFill>
                <a:latin typeface="Arial"/>
              </a:rPr>
              <a:t>–  For larger, cross-functional problems</a:t>
            </a:r>
          </a:p>
          <a:p>
            <a:pPr>
              <a:spcAft>
                <a:spcPts val="1000"/>
              </a:spcAft>
            </a:pPr>
            <a:r>
              <a:rPr sz="1300">
                <a:solidFill>
                  <a:srgbClr val="5B6372"/>
                </a:solidFill>
                <a:latin typeface="Arial"/>
              </a:rPr>
              <a:t>–  Weeks to months</a:t>
            </a:r>
          </a:p>
          <a:p>
            <a:pPr>
              <a:spcAft>
                <a:spcPts val="1000"/>
              </a:spcAft>
            </a:pPr>
            <a:r>
              <a:rPr sz="1300">
                <a:solidFill>
                  <a:srgbClr val="5B6372"/>
                </a:solidFill>
                <a:latin typeface="Arial"/>
              </a:rPr>
              <a:t>–  Led by a Green or Black Belt</a:t>
            </a:r>
          </a:p>
          <a:p>
            <a:pPr>
              <a:spcAft>
                <a:spcPts val="1000"/>
              </a:spcAft>
            </a:pPr>
            <a:r>
              <a:rPr sz="1300">
                <a:solidFill>
                  <a:srgbClr val="5B6372"/>
                </a:solidFill>
                <a:latin typeface="Arial"/>
              </a:rPr>
              <a:t>–  Data and statistics required</a:t>
            </a:r>
          </a:p>
          <a:p>
            <a:pPr>
              <a:spcAft>
                <a:spcPts val="1000"/>
              </a:spcAft>
            </a:pPr>
            <a:r>
              <a:rPr sz="1300">
                <a:solidFill>
                  <a:srgbClr val="5B6372"/>
                </a:solidFill>
                <a:latin typeface="Arial"/>
              </a:rPr>
              <a:t>–  Supported by you from Activity 5 onward</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PDCA CYCLE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PDCA — The Small Improvement Cycle</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PLAN — define the problem and plan the change</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DO — run the change at small scale</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CHECK — measure whether it actually worked</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ACT — adopt, adapt or abandon, then repeat</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PROJECT SELECTION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Yellow Belt Project?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Related to your daily work</a:t>
            </a:r>
          </a:p>
          <a:p>
            <a:pPr algn="l">
              <a:spcAft>
                <a:spcPts val="300"/>
              </a:spcAft>
            </a:pPr>
            <a:r>
              <a:rPr sz="1200" b="0">
                <a:solidFill>
                  <a:srgbClr val="5B6372"/>
                </a:solidFill>
                <a:latin typeface="Arial"/>
              </a:rPr>
              <a:t>You know the process and can observe it directly.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Manageable in timeframe</a:t>
            </a:r>
          </a:p>
          <a:p>
            <a:pPr algn="l">
              <a:spcAft>
                <a:spcPts val="300"/>
              </a:spcAft>
            </a:pPr>
            <a:r>
              <a:rPr sz="1200" b="0">
                <a:solidFill>
                  <a:srgbClr val="5B6372"/>
                </a:solidFill>
                <a:latin typeface="Arial"/>
              </a:rPr>
              <a:t>Can be completed in weeks, not months.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Aligned to business goals</a:t>
            </a:r>
          </a:p>
          <a:p>
            <a:pPr algn="l">
              <a:spcAft>
                <a:spcPts val="300"/>
              </a:spcAft>
            </a:pPr>
            <a:r>
              <a:rPr sz="1200" b="0">
                <a:solidFill>
                  <a:srgbClr val="5B6372"/>
                </a:solidFill>
                <a:latin typeface="Arial"/>
              </a:rPr>
              <a:t>Someone in management cares about the result.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Data is available</a:t>
            </a:r>
          </a:p>
          <a:p>
            <a:pPr algn="l">
              <a:spcAft>
                <a:spcPts val="300"/>
              </a:spcAft>
            </a:pPr>
            <a:r>
              <a:rPr sz="1200" b="0">
                <a:solidFill>
                  <a:srgbClr val="5B6372"/>
                </a:solidFill>
                <a:latin typeface="Arial"/>
              </a:rPr>
              <a:t>You can measure the baseline and the improvement.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DATA · activities/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Contoso Service Desk Data Set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One scenario, one data set</a:t>
            </a:r>
          </a:p>
          <a:p>
            <a:pPr algn="l">
              <a:spcAft>
                <a:spcPts val="300"/>
              </a:spcAft>
            </a:pPr>
            <a:r>
              <a:rPr sz="1000" b="0">
                <a:solidFill>
                  <a:srgbClr val="5B6372"/>
                </a:solidFill>
                <a:latin typeface="Arial"/>
              </a:rPr>
              <a:t>Every activity works from the same two weeks of service desk activity: 400 tickets, 96 of them defective, 120 defects in total.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Defect opportunities</a:t>
            </a:r>
          </a:p>
          <a:p>
            <a:pPr algn="l">
              <a:spcAft>
                <a:spcPts val="300"/>
              </a:spcAft>
            </a:pPr>
            <a:r>
              <a:rPr sz="1000" b="0">
                <a:solidFill>
                  <a:srgbClr val="5B6372"/>
                </a:solidFill>
                <a:latin typeface="Arial"/>
              </a:rPr>
              <a:t>Each ticket carries 6 defect opportunities — the basis for DPO and DPMO.</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Baseline performance</a:t>
            </a:r>
          </a:p>
          <a:p>
            <a:pPr algn="l">
              <a:spcAft>
                <a:spcPts val="300"/>
              </a:spcAft>
            </a:pPr>
            <a:r>
              <a:rPr sz="1000" b="0">
                <a:solidFill>
                  <a:srgbClr val="5B6372"/>
                </a:solidFill>
                <a:latin typeface="Arial"/>
              </a:rPr>
              <a:t>Yield 76% · DPU 0.30 · DPMO 50,000 · sigma level ~3.1.</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Speed of assignment</a:t>
            </a:r>
          </a:p>
          <a:p>
            <a:pPr algn="l">
              <a:spcAft>
                <a:spcPts val="300"/>
              </a:spcAft>
            </a:pPr>
            <a:r>
              <a:rPr sz="1000" b="0">
                <a:solidFill>
                  <a:srgbClr val="5B6372"/>
                </a:solidFill>
                <a:latin typeface="Arial"/>
              </a:rPr>
              <a:t>Mean 55 min, median 46 min, against a 30-minute goal — the gap between mean and median is the story.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Where the files are</a:t>
            </a:r>
          </a:p>
          <a:p>
            <a:pPr algn="l">
              <a:spcAft>
                <a:spcPts val="300"/>
              </a:spcAft>
            </a:pPr>
            <a:r>
              <a:rPr sz="1000" b="0">
                <a:solidFill>
                  <a:srgbClr val="5B6372"/>
                </a:solidFill>
                <a:latin typeface="Arial"/>
              </a:rPr>
              <a:t>Each activity folder holds a Learner Worksheet and Checklist, plus data/ (the mock data you analyse) and templates/ (the worksheets you complete).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Why it matters</a:t>
            </a:r>
          </a:p>
          <a:p>
            <a:pPr algn="l">
              <a:spcAft>
                <a:spcPts val="300"/>
              </a:spcAft>
            </a:pPr>
            <a:r>
              <a:rPr sz="1000" b="0">
                <a:solidFill>
                  <a:srgbClr val="5B6372"/>
                </a:solidFill>
                <a:latin typeface="Arial"/>
              </a:rPr>
              <a:t>Every activity works from these same figures, so your outputs stay consistent across the course.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PARETO PREVIEW · ANALYSED IN ACTIVITY 7</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the Baseline Data Already Tells You</a:t>
            </a:r>
          </a:p>
        </p:txBody>
      </p:sp>
      <p:sp>
        <p:nvSpPr>
          <p:cNvPr id="6" name="Rectangle 5"/>
          <p:cNvSpPr/>
          <p:nvPr/>
        </p:nvSpPr>
        <p:spPr>
          <a:xfrm>
            <a:off x="777240"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Delayed assignment · 48</a:t>
            </a:r>
          </a:p>
          <a:p>
            <a:pPr algn="l">
              <a:spcAft>
                <a:spcPts val="300"/>
              </a:spcAft>
            </a:pPr>
            <a:r>
              <a:rPr sz="900" b="0">
                <a:solidFill>
                  <a:srgbClr val="5B6372"/>
                </a:solidFill>
                <a:latin typeface="Arial"/>
              </a:rPr>
              <a:t>40% of all defects — the single largest category.</a:t>
            </a:r>
          </a:p>
        </p:txBody>
      </p:sp>
      <p:sp>
        <p:nvSpPr>
          <p:cNvPr id="11" name="Rectangle 10"/>
          <p:cNvSpPr/>
          <p:nvPr/>
        </p:nvSpPr>
        <p:spPr>
          <a:xfrm>
            <a:off x="4413504"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13504"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651248"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51248"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5346192" y="1892808"/>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Missing information · 30</a:t>
            </a:r>
          </a:p>
          <a:p>
            <a:pPr algn="l">
              <a:spcAft>
                <a:spcPts val="300"/>
              </a:spcAft>
            </a:pPr>
            <a:r>
              <a:rPr sz="900" b="0">
                <a:solidFill>
                  <a:srgbClr val="5B6372"/>
                </a:solidFill>
                <a:latin typeface="Arial"/>
              </a:rPr>
              <a:t>25% — together with delays this is the vital few: 65%.</a:t>
            </a:r>
          </a:p>
        </p:txBody>
      </p:sp>
      <p:sp>
        <p:nvSpPr>
          <p:cNvPr id="16" name="Rectangle 15"/>
          <p:cNvSpPr/>
          <p:nvPr/>
        </p:nvSpPr>
        <p:spPr>
          <a:xfrm>
            <a:off x="8049768" y="1783080"/>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49768" y="1783080"/>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8287512" y="255117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8287512"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8982456" y="1892808"/>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Wrong queue · 18</a:t>
            </a:r>
          </a:p>
          <a:p>
            <a:pPr algn="l">
              <a:spcAft>
                <a:spcPts val="300"/>
              </a:spcAft>
            </a:pPr>
            <a:r>
              <a:rPr sz="900" b="0">
                <a:solidFill>
                  <a:srgbClr val="5B6372"/>
                </a:solidFill>
                <a:latin typeface="Arial"/>
              </a:rPr>
              <a:t>15% — tickets bouncing between teams.</a:t>
            </a:r>
          </a:p>
        </p:txBody>
      </p:sp>
      <p:sp>
        <p:nvSpPr>
          <p:cNvPr id="21" name="Rectangle 20"/>
          <p:cNvSpPr/>
          <p:nvPr/>
        </p:nvSpPr>
        <p:spPr>
          <a:xfrm>
            <a:off x="777240"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Reopened ticket · 12</a:t>
            </a:r>
          </a:p>
          <a:p>
            <a:pPr algn="l">
              <a:spcAft>
                <a:spcPts val="300"/>
              </a:spcAft>
            </a:pPr>
            <a:r>
              <a:rPr sz="900" b="0">
                <a:solidFill>
                  <a:srgbClr val="5B6372"/>
                </a:solidFill>
                <a:latin typeface="Arial"/>
              </a:rPr>
              <a:t>10% — the fix did not hold the first time.</a:t>
            </a:r>
          </a:p>
        </p:txBody>
      </p:sp>
      <p:sp>
        <p:nvSpPr>
          <p:cNvPr id="26" name="Rectangle 25"/>
          <p:cNvSpPr/>
          <p:nvPr/>
        </p:nvSpPr>
        <p:spPr>
          <a:xfrm>
            <a:off x="4413504"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4413504" y="4087368"/>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4651248"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4651248"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5346192" y="4197096"/>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Duplicate ticket · 8</a:t>
            </a:r>
          </a:p>
          <a:p>
            <a:pPr algn="l">
              <a:spcAft>
                <a:spcPts val="300"/>
              </a:spcAft>
            </a:pPr>
            <a:r>
              <a:rPr sz="900" b="0">
                <a:solidFill>
                  <a:srgbClr val="5B6372"/>
                </a:solidFill>
                <a:latin typeface="Arial"/>
              </a:rPr>
              <a:t>6.7% — the same issue logged twice.</a:t>
            </a:r>
          </a:p>
        </p:txBody>
      </p:sp>
      <p:sp>
        <p:nvSpPr>
          <p:cNvPr id="31" name="Rectangle 30"/>
          <p:cNvSpPr/>
          <p:nvPr/>
        </p:nvSpPr>
        <p:spPr>
          <a:xfrm>
            <a:off x="8049768" y="4087368"/>
            <a:ext cx="3361944"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8049768"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8287512"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287512"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8982456" y="4197096"/>
            <a:ext cx="2209800" cy="1901952"/>
          </a:xfrm>
          <a:prstGeom prst="rect">
            <a:avLst/>
          </a:prstGeom>
          <a:noFill/>
        </p:spPr>
        <p:txBody>
          <a:bodyPr wrap="square" anchor="ctr">
            <a:spAutoFit/>
          </a:bodyPr>
          <a:lstStyle/>
          <a:p>
            <a:pPr algn="l">
              <a:spcAft>
                <a:spcPts val="300"/>
              </a:spcAft>
            </a:pPr>
            <a:r>
              <a:rPr sz="1300" b="1">
                <a:solidFill>
                  <a:srgbClr val="161B26"/>
                </a:solidFill>
                <a:latin typeface="Arial"/>
              </a:rPr>
              <a:t>Unclear status · 4</a:t>
            </a:r>
          </a:p>
          <a:p>
            <a:pPr algn="l">
              <a:spcAft>
                <a:spcPts val="300"/>
              </a:spcAft>
            </a:pPr>
            <a:r>
              <a:rPr sz="900" b="0">
                <a:solidFill>
                  <a:srgbClr val="5B6372"/>
                </a:solidFill>
                <a:latin typeface="Arial"/>
              </a:rPr>
              <a:t>3.3% — the trivial many, by count.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FOUNDATIONS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Establish what a Lean Six Sigma Yellow Belt is accountable for, how the belt pathway progresses from White to Master Black Belt, and choose a small, manageable improvement scenario to carry through the whole course.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Yellow Belt responsibility table and a selected improvement scenario.</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Belt role matrix, CSSC certification pathway, project selection criteria</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Yellow Belt role — list at least four responsibilities and your contribution to each.</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the White, Yellow, Green, Black and Master Black Belt pathways in a table.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Review the Contoso Service Desk scenario: tickets are slow to be assigned and status is unclear.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your scenario against the 'good project' criteria — day-to-day work, manageable, aligned to business goals, data available.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Yellow Belt Role, Certification Paths,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Record why a Yellow Belt supports rather than leads this improvement.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 · activities/01 - Yellow Belt Role, Certification.../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1 — Your Data Files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data/service-desk-tickets.csv</a:t>
            </a:r>
          </a:p>
          <a:p>
            <a:pPr algn="l">
              <a:spcAft>
                <a:spcPts val="300"/>
              </a:spcAft>
            </a:pPr>
            <a:r>
              <a:rPr sz="1000" b="0">
                <a:solidFill>
                  <a:srgbClr val="5B6372"/>
                </a:solidFill>
                <a:latin typeface="Arial"/>
              </a:rPr>
              <a:t>400 rows · ticket_id, date, ticket_type, channel, assigned_queue, agent, +5 more</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templates/belt-pathway-comparison.csv</a:t>
            </a:r>
          </a:p>
          <a:p>
            <a:pPr algn="l">
              <a:spcAft>
                <a:spcPts val="300"/>
              </a:spcAft>
            </a:pPr>
            <a:r>
              <a:rPr sz="1000" b="0">
                <a:solidFill>
                  <a:srgbClr val="5B6372"/>
                </a:solidFill>
                <a:latin typeface="Arial"/>
              </a:rPr>
              <a:t>Worksheet to complete · belt, typical_role, training_days, +2 more</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templates/project-selection-criteria.csv</a:t>
            </a:r>
          </a:p>
          <a:p>
            <a:pPr algn="l">
              <a:spcAft>
                <a:spcPts val="300"/>
              </a:spcAft>
            </a:pPr>
            <a:r>
              <a:rPr sz="1000" b="0">
                <a:solidFill>
                  <a:srgbClr val="5B6372"/>
                </a:solidFill>
                <a:latin typeface="Arial"/>
              </a:rPr>
              <a:t>Worksheet to complete · criterion, does_the_scenario_meet_it, evidence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templates/yellow-belt-responsibilities.csv</a:t>
            </a:r>
          </a:p>
          <a:p>
            <a:pPr algn="l">
              <a:spcAft>
                <a:spcPts val="300"/>
              </a:spcAft>
            </a:pPr>
            <a:r>
              <a:rPr sz="1000" b="0">
                <a:solidFill>
                  <a:srgbClr val="5B6372"/>
                </a:solidFill>
                <a:latin typeface="Arial"/>
              </a:rPr>
              <a:t>Worksheet to complete · responsibility, your_contribution, +1 more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Yellow Belt Role, Certification Paths, and Improvement Scenario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state the Yellow Belt role in one sentence and justify your scenario against all four selection criteria.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DEFINE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Define — Scope the Problem</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VOC · CTQ · Project charter · Problem statement · Scope · SIPOC · Process mapping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D</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Define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Voice of the Customer</a:t>
            </a:r>
          </a:p>
          <a:p>
            <a:pPr algn="l">
              <a:spcAft>
                <a:spcPts val="300"/>
              </a:spcAft>
            </a:pPr>
            <a:r>
              <a:rPr sz="1100" b="0">
                <a:solidFill>
                  <a:srgbClr val="5B6372"/>
                </a:solidFill>
                <a:latin typeface="Arial"/>
              </a:rPr>
              <a:t>Capture customer needs in their own words before deciding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Critical to Quality</a:t>
            </a:r>
          </a:p>
          <a:p>
            <a:pPr algn="l">
              <a:spcAft>
                <a:spcPts val="300"/>
              </a:spcAft>
            </a:pPr>
            <a:r>
              <a:rPr sz="1100" b="0">
                <a:solidFill>
                  <a:srgbClr val="5B6372"/>
                </a:solidFill>
                <a:latin typeface="Arial"/>
              </a:rPr>
              <a:t>Translate each VOC need into a specific, measurable CTQ requirement.</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Project charter</a:t>
            </a:r>
          </a:p>
          <a:p>
            <a:pPr algn="l">
              <a:spcAft>
                <a:spcPts val="300"/>
              </a:spcAft>
            </a:pPr>
            <a:r>
              <a:rPr sz="1100" b="0">
                <a:solidFill>
                  <a:srgbClr val="5B6372"/>
                </a:solidFill>
                <a:latin typeface="Arial"/>
              </a:rPr>
              <a:t>Problem statement, goal, scope, team and benefit — the project's contract.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Process, time period, measurable issue and impact — and never a solution.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SIPOC</a:t>
            </a:r>
          </a:p>
          <a:p>
            <a:pPr algn="l">
              <a:spcAft>
                <a:spcPts val="300"/>
              </a:spcAft>
            </a:pPr>
            <a:r>
              <a:rPr sz="1100" b="0">
                <a:solidFill>
                  <a:srgbClr val="5B6372"/>
                </a:solidFill>
                <a:latin typeface="Arial"/>
              </a:rPr>
              <a:t>The macro as-is map: Suppliers, Inputs, Process, Outputs, Customers.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mapping</a:t>
            </a:r>
          </a:p>
          <a:p>
            <a:pPr algn="l">
              <a:spcAft>
                <a:spcPts val="300"/>
              </a:spcAft>
            </a:pPr>
            <a:r>
              <a:rPr sz="1100" b="0">
                <a:solidFill>
                  <a:srgbClr val="5B6372"/>
                </a:solidFill>
                <a:latin typeface="Arial"/>
              </a:rPr>
              <a:t>Flowcharts and swimlanes expose the handoffs where delay and defects are born.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DMAIC · D — DEFINE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Define — What problem are we solving, and for whom?</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Define phase converts a vague complaint into a scoped, measurable problem statement everyone agrees on.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Define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Capture the Voice of the Customer</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Translate VOC into CTQ requirements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Write the problem and goal statements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Charter and scope the project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F6FEB"/>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Map the process with SIPOC</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DEFINE · VOC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Voice of the Customer (VOC)</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needs and expectations of the customer, expressed in the customer's own language.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SOURCES OF VOC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Where VOC Comes From</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Surveys</a:t>
            </a:r>
          </a:p>
          <a:p>
            <a:pPr algn="l">
              <a:spcAft>
                <a:spcPts val="300"/>
              </a:spcAft>
            </a:pPr>
            <a:r>
              <a:rPr sz="1200" b="0">
                <a:solidFill>
                  <a:srgbClr val="5B6372"/>
                </a:solidFill>
                <a:latin typeface="Arial"/>
              </a:rPr>
              <a:t>Structured and at scale, but limited to the questions you thought to ask.</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Interviews</a:t>
            </a:r>
          </a:p>
          <a:p>
            <a:pPr algn="l">
              <a:spcAft>
                <a:spcPts val="300"/>
              </a:spcAft>
            </a:pPr>
            <a:r>
              <a:rPr sz="1200" b="0">
                <a:solidFill>
                  <a:srgbClr val="5B6372"/>
                </a:solidFill>
                <a:latin typeface="Arial"/>
              </a:rPr>
              <a:t>Rich and open-ended; best for understanding the 'why' behind a complaint.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Complaints &amp; tickets</a:t>
            </a:r>
          </a:p>
          <a:p>
            <a:pPr algn="l">
              <a:spcAft>
                <a:spcPts val="300"/>
              </a:spcAft>
            </a:pPr>
            <a:r>
              <a:rPr sz="1200" b="0">
                <a:solidFill>
                  <a:srgbClr val="5B6372"/>
                </a:solidFill>
                <a:latin typeface="Arial"/>
              </a:rPr>
              <a:t>Already in your system — the cheapest and most honest VOC source.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Direct observation</a:t>
            </a:r>
          </a:p>
          <a:p>
            <a:pPr algn="l">
              <a:spcAft>
                <a:spcPts val="300"/>
              </a:spcAft>
            </a:pPr>
            <a:r>
              <a:rPr sz="1200" b="0">
                <a:solidFill>
                  <a:srgbClr val="5B6372"/>
                </a:solidFill>
                <a:latin typeface="Arial"/>
              </a:rPr>
              <a:t>Go and watch the work happen; customers cannot always articulate the problem.</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CTQ TRANSLATION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VOC → Need → CTQ: The Translation</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F59E0B"/>
                </a:solidFill>
                <a:latin typeface="Arial"/>
              </a:rPr>
              <a:t>Voice of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Critical to Quality</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The customer says (VOC)</a:t>
            </a:r>
          </a:p>
          <a:p>
            <a:pPr>
              <a:spcAft>
                <a:spcPts val="1000"/>
              </a:spcAft>
            </a:pPr>
            <a:r>
              <a:rPr sz="1300">
                <a:solidFill>
                  <a:srgbClr val="5B6372"/>
                </a:solidFill>
                <a:latin typeface="Arial"/>
              </a:rPr>
              <a:t>–  "I don't want to wait too long"</a:t>
            </a:r>
          </a:p>
          <a:p>
            <a:pPr>
              <a:spcAft>
                <a:spcPts val="1000"/>
              </a:spcAft>
            </a:pPr>
            <a:r>
              <a:rPr sz="1300">
                <a:solidFill>
                  <a:srgbClr val="5B6372"/>
                </a:solidFill>
                <a:latin typeface="Arial"/>
              </a:rPr>
              <a:t>–  "I don't want cold pizza"</a:t>
            </a:r>
          </a:p>
          <a:p>
            <a:pPr>
              <a:spcAft>
                <a:spcPts val="1000"/>
              </a:spcAft>
            </a:pPr>
            <a:r>
              <a:rPr sz="1300">
                <a:solidFill>
                  <a:srgbClr val="5B6372"/>
                </a:solidFill>
                <a:latin typeface="Arial"/>
              </a:rPr>
              <a:t>–  "I never know where my ticket is"</a:t>
            </a:r>
          </a:p>
          <a:p>
            <a:pPr>
              <a:spcAft>
                <a:spcPts val="1000"/>
              </a:spcAft>
            </a:pPr>
            <a:r>
              <a:rPr sz="1300">
                <a:solidFill>
                  <a:srgbClr val="5B6372"/>
                </a:solidFill>
                <a:latin typeface="Arial"/>
              </a:rPr>
              <a:t>–  Vague, emotional, unmeasurable</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The measurable requirement (CTQ)</a:t>
            </a:r>
          </a:p>
          <a:p>
            <a:pPr>
              <a:spcAft>
                <a:spcPts val="1000"/>
              </a:spcAft>
            </a:pPr>
            <a:r>
              <a:rPr sz="1300">
                <a:solidFill>
                  <a:srgbClr val="5B6372"/>
                </a:solidFill>
                <a:latin typeface="Arial"/>
              </a:rPr>
              <a:t>–  Delivery in 30 minutes or less</a:t>
            </a:r>
          </a:p>
          <a:p>
            <a:pPr>
              <a:spcAft>
                <a:spcPts val="1000"/>
              </a:spcAft>
            </a:pPr>
            <a:r>
              <a:rPr sz="1300">
                <a:solidFill>
                  <a:srgbClr val="5B6372"/>
                </a:solidFill>
                <a:latin typeface="Arial"/>
              </a:rPr>
              <a:t>–  Pizza at 32°C minimum on arrival</a:t>
            </a:r>
          </a:p>
          <a:p>
            <a:pPr>
              <a:spcAft>
                <a:spcPts val="1000"/>
              </a:spcAft>
            </a:pPr>
            <a:r>
              <a:rPr sz="1300">
                <a:solidFill>
                  <a:srgbClr val="5B6372"/>
                </a:solidFill>
                <a:latin typeface="Arial"/>
              </a:rPr>
              <a:t>–  Status update within 4 working hours</a:t>
            </a:r>
          </a:p>
          <a:p>
            <a:pPr>
              <a:spcAft>
                <a:spcPts val="1000"/>
              </a:spcAft>
            </a:pPr>
            <a:r>
              <a:rPr sz="1300">
                <a:solidFill>
                  <a:srgbClr val="5B6372"/>
                </a:solidFill>
                <a:latin typeface="Arial"/>
              </a:rPr>
              <a:t>–  Specific, numeric, testable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CTQ QUALITY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Makes a Good CTQ?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Specific</a:t>
            </a:r>
          </a:p>
          <a:p>
            <a:pPr algn="l">
              <a:spcAft>
                <a:spcPts val="300"/>
              </a:spcAft>
            </a:pPr>
            <a:r>
              <a:rPr sz="1200" b="0">
                <a:solidFill>
                  <a:srgbClr val="5B6372"/>
                </a:solidFill>
                <a:latin typeface="Arial"/>
              </a:rPr>
              <a:t>Names exactly one characteristic of the output.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Measurable</a:t>
            </a:r>
          </a:p>
          <a:p>
            <a:pPr algn="l">
              <a:spcAft>
                <a:spcPts val="300"/>
              </a:spcAft>
            </a:pPr>
            <a:r>
              <a:rPr sz="1200" b="0">
                <a:solidFill>
                  <a:srgbClr val="5B6372"/>
                </a:solidFill>
                <a:latin typeface="Arial"/>
              </a:rPr>
              <a:t>Has a number and a unit you can actually record.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Linked to VOC</a:t>
            </a:r>
          </a:p>
          <a:p>
            <a:pPr algn="l">
              <a:spcAft>
                <a:spcPts val="300"/>
              </a:spcAft>
            </a:pPr>
            <a:r>
              <a:rPr sz="1200" b="0">
                <a:solidFill>
                  <a:srgbClr val="5B6372"/>
                </a:solidFill>
                <a:latin typeface="Arial"/>
              </a:rPr>
              <a:t>Traces back to something a customer genuinely said.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Has a target and limit</a:t>
            </a:r>
          </a:p>
          <a:p>
            <a:pPr algn="l">
              <a:spcAft>
                <a:spcPts val="300"/>
              </a:spcAft>
            </a:pPr>
            <a:r>
              <a:rPr sz="1200" b="0">
                <a:solidFill>
                  <a:srgbClr val="5B6372"/>
                </a:solidFill>
                <a:latin typeface="Arial"/>
              </a:rPr>
              <a:t>States the target value and the acceptable range around it.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DEFINE · THE PROJECT'S CONTRACT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Project Charter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Business case</a:t>
            </a:r>
          </a:p>
          <a:p>
            <a:pPr algn="l">
              <a:spcAft>
                <a:spcPts val="300"/>
              </a:spcAft>
            </a:pPr>
            <a:r>
              <a:rPr sz="1100" b="0">
                <a:solidFill>
                  <a:srgbClr val="5B6372"/>
                </a:solidFill>
                <a:latin typeface="Arial"/>
              </a:rPr>
              <a:t>Why this project matters and what it is worth.</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Problem statement</a:t>
            </a:r>
          </a:p>
          <a:p>
            <a:pPr algn="l">
              <a:spcAft>
                <a:spcPts val="300"/>
              </a:spcAft>
            </a:pPr>
            <a:r>
              <a:rPr sz="1100" b="0">
                <a:solidFill>
                  <a:srgbClr val="5B6372"/>
                </a:solidFill>
                <a:latin typeface="Arial"/>
              </a:rPr>
              <a:t>What is wrong, quantified, over a stated time period.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 statement</a:t>
            </a:r>
          </a:p>
          <a:p>
            <a:pPr algn="l">
              <a:spcAft>
                <a:spcPts val="300"/>
              </a:spcAft>
            </a:pPr>
            <a:r>
              <a:rPr sz="1100" b="0">
                <a:solidFill>
                  <a:srgbClr val="5B6372"/>
                </a:solidFill>
                <a:latin typeface="Arial"/>
              </a:rPr>
              <a:t>Metric, baseline, target and date.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Scope</a:t>
            </a:r>
          </a:p>
          <a:p>
            <a:pPr algn="l">
              <a:spcAft>
                <a:spcPts val="300"/>
              </a:spcAft>
            </a:pPr>
            <a:r>
              <a:rPr sz="1100" b="0">
                <a:solidFill>
                  <a:srgbClr val="5B6372"/>
                </a:solidFill>
                <a:latin typeface="Arial"/>
              </a:rPr>
              <a:t>What is in, and explicitly what is out.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and roles</a:t>
            </a:r>
          </a:p>
          <a:p>
            <a:pPr algn="l">
              <a:spcAft>
                <a:spcPts val="300"/>
              </a:spcAft>
            </a:pPr>
            <a:r>
              <a:rPr sz="1100" b="0">
                <a:solidFill>
                  <a:srgbClr val="5B6372"/>
                </a:solidFill>
                <a:latin typeface="Arial"/>
              </a:rPr>
              <a:t>Sponsor, project leader, Yellow Belt support and SMEs.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Milestones</a:t>
            </a:r>
          </a:p>
          <a:p>
            <a:pPr algn="l">
              <a:spcAft>
                <a:spcPts val="300"/>
              </a:spcAft>
            </a:pPr>
            <a:r>
              <a:rPr sz="1100" b="0">
                <a:solidFill>
                  <a:srgbClr val="5B6372"/>
                </a:solidFill>
                <a:latin typeface="Arial"/>
              </a:rPr>
              <a:t>The dates each DMAIC phase is expected to complete.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WRITING THE PROBLEM STATEMENT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Problem Statements — Good vs Bad</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Avoid this</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0B981"/>
                </a:solidFill>
                <a:latin typeface="Arial"/>
              </a:rPr>
              <a:t>Aim for this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Weak problem statement</a:t>
            </a:r>
          </a:p>
          <a:p>
            <a:pPr>
              <a:spcAft>
                <a:spcPts val="1000"/>
              </a:spcAft>
            </a:pPr>
            <a:r>
              <a:rPr sz="1300">
                <a:solidFill>
                  <a:srgbClr val="5B6372"/>
                </a:solidFill>
                <a:latin typeface="Arial"/>
              </a:rPr>
              <a:t>–  "The service desk is too slow."</a:t>
            </a:r>
          </a:p>
          <a:p>
            <a:pPr>
              <a:spcAft>
                <a:spcPts val="1000"/>
              </a:spcAft>
            </a:pPr>
            <a:r>
              <a:rPr sz="1300">
                <a:solidFill>
                  <a:srgbClr val="5B6372"/>
                </a:solidFill>
                <a:latin typeface="Arial"/>
              </a:rPr>
              <a:t>–  No process named</a:t>
            </a:r>
          </a:p>
          <a:p>
            <a:pPr>
              <a:spcAft>
                <a:spcPts val="1000"/>
              </a:spcAft>
            </a:pPr>
            <a:r>
              <a:rPr sz="1300">
                <a:solidFill>
                  <a:srgbClr val="5B6372"/>
                </a:solidFill>
                <a:latin typeface="Arial"/>
              </a:rPr>
              <a:t>–  No time period</a:t>
            </a:r>
          </a:p>
          <a:p>
            <a:pPr>
              <a:spcAft>
                <a:spcPts val="1000"/>
              </a:spcAft>
            </a:pPr>
            <a:r>
              <a:rPr sz="1300">
                <a:solidFill>
                  <a:srgbClr val="5B6372"/>
                </a:solidFill>
                <a:latin typeface="Arial"/>
              </a:rPr>
              <a:t>–  No measure or baseline</a:t>
            </a:r>
          </a:p>
          <a:p>
            <a:pPr>
              <a:spcAft>
                <a:spcPts val="1000"/>
              </a:spcAft>
            </a:pPr>
            <a:r>
              <a:rPr sz="1300">
                <a:solidFill>
                  <a:srgbClr val="5B6372"/>
                </a:solidFill>
                <a:latin typeface="Arial"/>
              </a:rPr>
              <a:t>–  No customer impact stated</a:t>
            </a:r>
          </a:p>
          <a:p>
            <a:pPr>
              <a:spcAft>
                <a:spcPts val="1000"/>
              </a:spcAft>
            </a:pPr>
            <a:r>
              <a:rPr sz="1300">
                <a:solidFill>
                  <a:srgbClr val="5B6372"/>
                </a:solidFill>
                <a:latin typeface="Arial"/>
              </a:rPr>
              <a:t>–  Hints at a solution ("we need more staff")</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Strong problem statement</a:t>
            </a:r>
          </a:p>
          <a:p>
            <a:pPr>
              <a:spcAft>
                <a:spcPts val="1000"/>
              </a:spcAft>
            </a:pPr>
            <a:r>
              <a:rPr sz="1300">
                <a:solidFill>
                  <a:srgbClr val="5B6372"/>
                </a:solidFill>
                <a:latin typeface="Arial"/>
              </a:rPr>
              <a:t>–  "Between 1 Jan and 31 Mar, tickets took an average of 9.4 working hours to be assigned against a 4-hour target, affecting 38% of employees and generating 210 chase-up contacts."</a:t>
            </a:r>
          </a:p>
          <a:p>
            <a:pPr>
              <a:spcAft>
                <a:spcPts val="1000"/>
              </a:spcAft>
            </a:pPr>
            <a:r>
              <a:rPr sz="1300">
                <a:solidFill>
                  <a:srgbClr val="5B6372"/>
                </a:solidFill>
                <a:latin typeface="Arial"/>
              </a:rPr>
              <a:t>–  Process, period, measure, baseline and impact — and no solution.</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PROBLEM STATEMENT ANATOMY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Four Components of a Problem Statement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a:t>
            </a:r>
          </a:p>
          <a:p>
            <a:pPr algn="l">
              <a:spcAft>
                <a:spcPts val="300"/>
              </a:spcAft>
            </a:pPr>
            <a:r>
              <a:rPr sz="1200" b="0">
                <a:solidFill>
                  <a:srgbClr val="5B6372"/>
                </a:solidFill>
                <a:latin typeface="Arial"/>
              </a:rPr>
              <a:t>The specific process and the defect or gap observed.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When</a:t>
            </a:r>
          </a:p>
          <a:p>
            <a:pPr algn="l">
              <a:spcAft>
                <a:spcPts val="300"/>
              </a:spcAft>
            </a:pPr>
            <a:r>
              <a:rPr sz="1200" b="0">
                <a:solidFill>
                  <a:srgbClr val="5B6372"/>
                </a:solidFill>
                <a:latin typeface="Arial"/>
              </a:rPr>
              <a:t>The time period the data covers.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much</a:t>
            </a:r>
          </a:p>
          <a:p>
            <a:pPr algn="l">
              <a:spcAft>
                <a:spcPts val="300"/>
              </a:spcAft>
            </a:pPr>
            <a:r>
              <a:rPr sz="1200" b="0">
                <a:solidFill>
                  <a:srgbClr val="5B6372"/>
                </a:solidFill>
                <a:latin typeface="Arial"/>
              </a:rPr>
              <a:t>The measured baseline against the requirement.</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So what</a:t>
            </a:r>
          </a:p>
          <a:p>
            <a:pPr algn="l">
              <a:spcAft>
                <a:spcPts val="300"/>
              </a:spcAft>
            </a:pPr>
            <a:r>
              <a:rPr sz="1200" b="0">
                <a:solidFill>
                  <a:srgbClr val="5B6372"/>
                </a:solidFill>
                <a:latin typeface="Arial"/>
              </a:rPr>
              <a:t>The impact on the customer and the business.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DEFINE · SIPOC</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SIPOC — the macro 'as-is' map</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One page that shows who supplies the process, what goes in, what happens, what comes out, and who receives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 Contoso Service Desk Ticket Assignment</a:t>
            </a:r>
          </a:p>
        </p:txBody>
      </p:sp>
      <p:sp>
        <p:nvSpPr>
          <p:cNvPr id="6" name="Rectangle 5"/>
          <p:cNvSpPr/>
          <p:nvPr/>
        </p:nvSpPr>
        <p:spPr>
          <a:xfrm>
            <a:off x="77724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828800"/>
            <a:ext cx="2009851" cy="56692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7724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S — Suppliers</a:t>
            </a:r>
          </a:p>
        </p:txBody>
      </p:sp>
      <p:sp>
        <p:nvSpPr>
          <p:cNvPr id="9" name="TextBox 8"/>
          <p:cNvSpPr txBox="1"/>
          <p:nvPr/>
        </p:nvSpPr>
        <p:spPr>
          <a:xfrm>
            <a:off x="92354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Employees</a:t>
            </a:r>
          </a:p>
          <a:p>
            <a:pPr>
              <a:spcAft>
                <a:spcPts val="700"/>
              </a:spcAft>
            </a:pPr>
            <a:r>
              <a:rPr sz="1200">
                <a:solidFill>
                  <a:srgbClr val="161B26"/>
                </a:solidFill>
                <a:latin typeface="Arial"/>
              </a:rPr>
              <a:t>•  Line managers</a:t>
            </a:r>
          </a:p>
          <a:p>
            <a:pPr>
              <a:spcAft>
                <a:spcPts val="700"/>
              </a:spcAft>
            </a:pPr>
            <a:r>
              <a:rPr sz="1200">
                <a:solidFill>
                  <a:srgbClr val="161B26"/>
                </a:solidFill>
                <a:latin typeface="Arial"/>
              </a:rPr>
              <a:t>•  HR onboarding</a:t>
            </a:r>
          </a:p>
          <a:p>
            <a:pPr>
              <a:spcAft>
                <a:spcPts val="700"/>
              </a:spcAft>
            </a:pPr>
            <a:r>
              <a:rPr sz="1200">
                <a:solidFill>
                  <a:srgbClr val="161B26"/>
                </a:solidFill>
                <a:latin typeface="Arial"/>
              </a:rPr>
              <a:t>•  Monitoring tools</a:t>
            </a:r>
          </a:p>
        </p:txBody>
      </p:sp>
      <p:sp>
        <p:nvSpPr>
          <p:cNvPr id="10" name="TextBox 9"/>
          <p:cNvSpPr txBox="1"/>
          <p:nvPr/>
        </p:nvSpPr>
        <p:spPr>
          <a:xfrm>
            <a:off x="278709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1" name="Rectangle 10"/>
          <p:cNvSpPr/>
          <p:nvPr/>
        </p:nvSpPr>
        <p:spPr>
          <a:xfrm>
            <a:off x="293339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2933395" y="1828800"/>
            <a:ext cx="2009851" cy="56692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293339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I — Inputs</a:t>
            </a:r>
          </a:p>
        </p:txBody>
      </p:sp>
      <p:sp>
        <p:nvSpPr>
          <p:cNvPr id="14" name="TextBox 13"/>
          <p:cNvSpPr txBox="1"/>
          <p:nvPr/>
        </p:nvSpPr>
        <p:spPr>
          <a:xfrm>
            <a:off x="3079699" y="2560320"/>
            <a:ext cx="1717243" cy="2404872"/>
          </a:xfrm>
          <a:prstGeom prst="rect">
            <a:avLst/>
          </a:prstGeom>
          <a:noFill/>
        </p:spPr>
        <p:txBody>
          <a:bodyPr wrap="square">
            <a:spAutoFit/>
          </a:bodyPr>
          <a:lstStyle/>
          <a:p>
            <a:pPr>
              <a:spcAft>
                <a:spcPts val="700"/>
              </a:spcAft>
            </a:pPr>
            <a:r>
              <a:rPr sz="1200">
                <a:solidFill>
                  <a:srgbClr val="161B26"/>
                </a:solidFill>
                <a:latin typeface="Arial"/>
              </a:rPr>
              <a:t>•  Ticket form</a:t>
            </a:r>
          </a:p>
          <a:p>
            <a:pPr>
              <a:spcAft>
                <a:spcPts val="700"/>
              </a:spcAft>
            </a:pPr>
            <a:r>
              <a:rPr sz="1200">
                <a:solidFill>
                  <a:srgbClr val="161B26"/>
                </a:solidFill>
                <a:latin typeface="Arial"/>
              </a:rPr>
              <a:t>•  Category</a:t>
            </a:r>
          </a:p>
          <a:p>
            <a:pPr>
              <a:spcAft>
                <a:spcPts val="700"/>
              </a:spcAft>
            </a:pPr>
            <a:r>
              <a:rPr sz="1200">
                <a:solidFill>
                  <a:srgbClr val="161B26"/>
                </a:solidFill>
                <a:latin typeface="Arial"/>
              </a:rPr>
              <a:t>•  Priority</a:t>
            </a:r>
          </a:p>
          <a:p>
            <a:pPr>
              <a:spcAft>
                <a:spcPts val="700"/>
              </a:spcAft>
            </a:pPr>
            <a:r>
              <a:rPr sz="1200">
                <a:solidFill>
                  <a:srgbClr val="161B26"/>
                </a:solidFill>
                <a:latin typeface="Arial"/>
              </a:rPr>
              <a:t>•  Asset details</a:t>
            </a:r>
          </a:p>
          <a:p>
            <a:pPr>
              <a:spcAft>
                <a:spcPts val="700"/>
              </a:spcAft>
            </a:pPr>
            <a:r>
              <a:rPr sz="1200">
                <a:solidFill>
                  <a:srgbClr val="161B26"/>
                </a:solidFill>
                <a:latin typeface="Arial"/>
              </a:rPr>
              <a:t>•  Contact info</a:t>
            </a:r>
          </a:p>
        </p:txBody>
      </p:sp>
      <p:sp>
        <p:nvSpPr>
          <p:cNvPr id="15" name="TextBox 14"/>
          <p:cNvSpPr txBox="1"/>
          <p:nvPr/>
        </p:nvSpPr>
        <p:spPr>
          <a:xfrm>
            <a:off x="494324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16" name="Rectangle 15"/>
          <p:cNvSpPr/>
          <p:nvPr/>
        </p:nvSpPr>
        <p:spPr>
          <a:xfrm>
            <a:off x="508955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089550" y="1828800"/>
            <a:ext cx="2009851" cy="56692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08955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P — Process</a:t>
            </a:r>
          </a:p>
        </p:txBody>
      </p:sp>
      <p:sp>
        <p:nvSpPr>
          <p:cNvPr id="19" name="TextBox 18"/>
          <p:cNvSpPr txBox="1"/>
          <p:nvPr/>
        </p:nvSpPr>
        <p:spPr>
          <a:xfrm>
            <a:off x="5235854" y="2560320"/>
            <a:ext cx="1717243" cy="2404872"/>
          </a:xfrm>
          <a:prstGeom prst="rect">
            <a:avLst/>
          </a:prstGeom>
          <a:noFill/>
        </p:spPr>
        <p:txBody>
          <a:bodyPr wrap="square">
            <a:spAutoFit/>
          </a:bodyPr>
          <a:lstStyle/>
          <a:p>
            <a:pPr>
              <a:spcAft>
                <a:spcPts val="700"/>
              </a:spcAft>
            </a:pPr>
            <a:r>
              <a:rPr sz="1200">
                <a:solidFill>
                  <a:srgbClr val="161B26"/>
                </a:solidFill>
                <a:latin typeface="Arial"/>
              </a:rPr>
              <a:t>•  1. Ticket submitted</a:t>
            </a:r>
          </a:p>
          <a:p>
            <a:pPr>
              <a:spcAft>
                <a:spcPts val="700"/>
              </a:spcAft>
            </a:pPr>
            <a:r>
              <a:rPr sz="1200">
                <a:solidFill>
                  <a:srgbClr val="161B26"/>
                </a:solidFill>
                <a:latin typeface="Arial"/>
              </a:rPr>
              <a:t>•  2. Auto-categorised</a:t>
            </a:r>
          </a:p>
          <a:p>
            <a:pPr>
              <a:spcAft>
                <a:spcPts val="700"/>
              </a:spcAft>
            </a:pPr>
            <a:r>
              <a:rPr sz="1200">
                <a:solidFill>
                  <a:srgbClr val="161B26"/>
                </a:solidFill>
                <a:latin typeface="Arial"/>
              </a:rPr>
              <a:t>•  3. Triage review</a:t>
            </a:r>
          </a:p>
          <a:p>
            <a:pPr>
              <a:spcAft>
                <a:spcPts val="700"/>
              </a:spcAft>
            </a:pPr>
            <a:r>
              <a:rPr sz="1200">
                <a:solidFill>
                  <a:srgbClr val="161B26"/>
                </a:solidFill>
                <a:latin typeface="Arial"/>
              </a:rPr>
              <a:t>•  4. Assigned to agent</a:t>
            </a:r>
          </a:p>
          <a:p>
            <a:pPr>
              <a:spcAft>
                <a:spcPts val="700"/>
              </a:spcAft>
            </a:pPr>
            <a:r>
              <a:rPr sz="1200">
                <a:solidFill>
                  <a:srgbClr val="161B26"/>
                </a:solidFill>
                <a:latin typeface="Arial"/>
              </a:rPr>
              <a:t>•  5. Agent acknowledges</a:t>
            </a:r>
          </a:p>
        </p:txBody>
      </p:sp>
      <p:sp>
        <p:nvSpPr>
          <p:cNvPr id="20" name="TextBox 19"/>
          <p:cNvSpPr txBox="1"/>
          <p:nvPr/>
        </p:nvSpPr>
        <p:spPr>
          <a:xfrm>
            <a:off x="7099401"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1" name="Rectangle 20"/>
          <p:cNvSpPr/>
          <p:nvPr/>
        </p:nvSpPr>
        <p:spPr>
          <a:xfrm>
            <a:off x="7245705"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245705" y="1828800"/>
            <a:ext cx="2009851" cy="56692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245705"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O — Outputs</a:t>
            </a:r>
          </a:p>
        </p:txBody>
      </p:sp>
      <p:sp>
        <p:nvSpPr>
          <p:cNvPr id="24" name="TextBox 23"/>
          <p:cNvSpPr txBox="1"/>
          <p:nvPr/>
        </p:nvSpPr>
        <p:spPr>
          <a:xfrm>
            <a:off x="7392009" y="2560320"/>
            <a:ext cx="1717243" cy="2404872"/>
          </a:xfrm>
          <a:prstGeom prst="rect">
            <a:avLst/>
          </a:prstGeom>
          <a:noFill/>
        </p:spPr>
        <p:txBody>
          <a:bodyPr wrap="square">
            <a:spAutoFit/>
          </a:bodyPr>
          <a:lstStyle/>
          <a:p>
            <a:pPr>
              <a:spcAft>
                <a:spcPts val="700"/>
              </a:spcAft>
            </a:pPr>
            <a:r>
              <a:rPr sz="1200">
                <a:solidFill>
                  <a:srgbClr val="161B26"/>
                </a:solidFill>
                <a:latin typeface="Arial"/>
              </a:rPr>
              <a:t>•  Assigned ticket</a:t>
            </a:r>
          </a:p>
          <a:p>
            <a:pPr>
              <a:spcAft>
                <a:spcPts val="700"/>
              </a:spcAft>
            </a:pPr>
            <a:r>
              <a:rPr sz="1200">
                <a:solidFill>
                  <a:srgbClr val="161B26"/>
                </a:solidFill>
                <a:latin typeface="Arial"/>
              </a:rPr>
              <a:t>•  Assignment notification</a:t>
            </a:r>
          </a:p>
          <a:p>
            <a:pPr>
              <a:spcAft>
                <a:spcPts val="700"/>
              </a:spcAft>
            </a:pPr>
            <a:r>
              <a:rPr sz="1200">
                <a:solidFill>
                  <a:srgbClr val="161B26"/>
                </a:solidFill>
                <a:latin typeface="Arial"/>
              </a:rPr>
              <a:t>•  Priority classification</a:t>
            </a:r>
          </a:p>
          <a:p>
            <a:pPr>
              <a:spcAft>
                <a:spcPts val="700"/>
              </a:spcAft>
            </a:pPr>
            <a:r>
              <a:rPr sz="1200">
                <a:solidFill>
                  <a:srgbClr val="161B26"/>
                </a:solidFill>
                <a:latin typeface="Arial"/>
              </a:rPr>
              <a:t>•  SLA clock started</a:t>
            </a:r>
          </a:p>
        </p:txBody>
      </p:sp>
      <p:sp>
        <p:nvSpPr>
          <p:cNvPr id="25" name="TextBox 24"/>
          <p:cNvSpPr txBox="1"/>
          <p:nvPr/>
        </p:nvSpPr>
        <p:spPr>
          <a:xfrm>
            <a:off x="9255556" y="3223260"/>
            <a:ext cx="146304" cy="457200"/>
          </a:xfrm>
          <a:prstGeom prst="rect">
            <a:avLst/>
          </a:prstGeom>
          <a:noFill/>
        </p:spPr>
        <p:txBody>
          <a:bodyPr wrap="square" anchor="ctr">
            <a:spAutoFit/>
          </a:bodyPr>
          <a:lstStyle/>
          <a:p>
            <a:pPr algn="ctr">
              <a:spcAft>
                <a:spcPts val="400"/>
              </a:spcAft>
            </a:pPr>
            <a:r>
              <a:rPr sz="1200" b="1">
                <a:solidFill>
                  <a:srgbClr val="5B6372"/>
                </a:solidFill>
                <a:latin typeface="Arial"/>
              </a:rPr>
              <a:t>▶</a:t>
            </a:r>
          </a:p>
        </p:txBody>
      </p:sp>
      <p:sp>
        <p:nvSpPr>
          <p:cNvPr id="26" name="Rectangle 25"/>
          <p:cNvSpPr/>
          <p:nvPr/>
        </p:nvSpPr>
        <p:spPr>
          <a:xfrm>
            <a:off x="9401860" y="1828800"/>
            <a:ext cx="2009851" cy="32461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9401860" y="1828800"/>
            <a:ext cx="2009851" cy="566928"/>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401860" y="1828800"/>
            <a:ext cx="2009851" cy="566928"/>
          </a:xfrm>
          <a:prstGeom prst="rect">
            <a:avLst/>
          </a:prstGeom>
          <a:noFill/>
        </p:spPr>
        <p:txBody>
          <a:bodyPr wrap="square" anchor="ctr">
            <a:spAutoFit/>
          </a:bodyPr>
          <a:lstStyle/>
          <a:p>
            <a:pPr algn="ctr">
              <a:spcAft>
                <a:spcPts val="400"/>
              </a:spcAft>
            </a:pPr>
            <a:r>
              <a:rPr sz="1400" b="1">
                <a:solidFill>
                  <a:srgbClr val="FFFFFF"/>
                </a:solidFill>
                <a:latin typeface="Arial"/>
              </a:rPr>
              <a:t>C — Customers</a:t>
            </a:r>
          </a:p>
        </p:txBody>
      </p:sp>
      <p:sp>
        <p:nvSpPr>
          <p:cNvPr id="29" name="TextBox 28"/>
          <p:cNvSpPr txBox="1"/>
          <p:nvPr/>
        </p:nvSpPr>
        <p:spPr>
          <a:xfrm>
            <a:off x="9548164" y="2560320"/>
            <a:ext cx="1717243" cy="2404872"/>
          </a:xfrm>
          <a:prstGeom prst="rect">
            <a:avLst/>
          </a:prstGeom>
          <a:noFill/>
        </p:spPr>
        <p:txBody>
          <a:bodyPr wrap="square">
            <a:spAutoFit/>
          </a:bodyPr>
          <a:lstStyle/>
          <a:p>
            <a:pPr>
              <a:spcAft>
                <a:spcPts val="700"/>
              </a:spcAft>
            </a:pPr>
            <a:r>
              <a:rPr sz="1200">
                <a:solidFill>
                  <a:srgbClr val="161B26"/>
                </a:solidFill>
                <a:latin typeface="Arial"/>
              </a:rPr>
              <a:t>•  Employee</a:t>
            </a:r>
          </a:p>
          <a:p>
            <a:pPr>
              <a:spcAft>
                <a:spcPts val="700"/>
              </a:spcAft>
            </a:pPr>
            <a:r>
              <a:rPr sz="1200">
                <a:solidFill>
                  <a:srgbClr val="161B26"/>
                </a:solidFill>
                <a:latin typeface="Arial"/>
              </a:rPr>
              <a:t>•  Support agent</a:t>
            </a:r>
          </a:p>
          <a:p>
            <a:pPr>
              <a:spcAft>
                <a:spcPts val="700"/>
              </a:spcAft>
            </a:pPr>
            <a:r>
              <a:rPr sz="1200">
                <a:solidFill>
                  <a:srgbClr val="161B26"/>
                </a:solidFill>
                <a:latin typeface="Arial"/>
              </a:rPr>
              <a:t>•  Service desk manager</a:t>
            </a:r>
          </a:p>
          <a:p>
            <a:pPr>
              <a:spcAft>
                <a:spcPts val="700"/>
              </a:spcAft>
            </a:pPr>
            <a:r>
              <a:rPr sz="1200">
                <a:solidFill>
                  <a:srgbClr val="161B26"/>
                </a:solidFill>
                <a:latin typeface="Arial"/>
              </a:rPr>
              <a:t>•  IT leadership</a:t>
            </a:r>
          </a:p>
        </p:txBody>
      </p:sp>
      <p:sp>
        <p:nvSpPr>
          <p:cNvPr id="30" name="TextBox 29"/>
          <p:cNvSpPr txBox="1"/>
          <p:nvPr/>
        </p:nvSpPr>
        <p:spPr>
          <a:xfrm>
            <a:off x="777240" y="5532120"/>
            <a:ext cx="10634472" cy="457200"/>
          </a:xfrm>
          <a:prstGeom prst="rect">
            <a:avLst/>
          </a:prstGeom>
          <a:noFill/>
        </p:spPr>
        <p:txBody>
          <a:bodyPr wrap="square" anchor="t">
            <a:spAutoFit/>
          </a:bodyPr>
          <a:lstStyle/>
          <a:p>
            <a:pPr algn="ctr">
              <a:spcAft>
                <a:spcPts val="400"/>
              </a:spcAft>
            </a:pPr>
            <a:r>
              <a:rPr sz="1300" b="0">
                <a:solidFill>
                  <a:srgbClr val="5B6372"/>
                </a:solidFill>
                <a:latin typeface="Arial"/>
              </a:rPr>
              <a:t>Read left to right: suppliers provide the inputs, the process transforms them, and the outputs go to the customers.</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SIPOC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SIPOC</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Name the process and agree its start and stop points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high-level steps — 5 to 7, no more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outputs and who receives them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the inputs each step needs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Identify who supplies each input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DEFINE · PROCESS MAPPING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Why Process Maps Matter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Shows the real process</a:t>
            </a:r>
          </a:p>
          <a:p>
            <a:pPr algn="l">
              <a:spcAft>
                <a:spcPts val="300"/>
              </a:spcAft>
            </a:pPr>
            <a:r>
              <a:rPr sz="1100" b="0">
                <a:solidFill>
                  <a:srgbClr val="5B6372"/>
                </a:solidFill>
                <a:latin typeface="Arial"/>
              </a:rPr>
              <a:t>Not the process in the procedure manual — the one people actually follow.</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Exposes handoffs</a:t>
            </a:r>
          </a:p>
          <a:p>
            <a:pPr algn="l">
              <a:spcAft>
                <a:spcPts val="300"/>
              </a:spcAft>
            </a:pPr>
            <a:r>
              <a:rPr sz="1100" b="0">
                <a:solidFill>
                  <a:srgbClr val="5B6372"/>
                </a:solidFill>
                <a:latin typeface="Arial"/>
              </a:rPr>
              <a:t>Delay and defects are usually created where work changes hands.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Builds shared understanding</a:t>
            </a:r>
          </a:p>
          <a:p>
            <a:pPr algn="l">
              <a:spcAft>
                <a:spcPts val="300"/>
              </a:spcAft>
            </a:pPr>
            <a:r>
              <a:rPr sz="1100" b="0">
                <a:solidFill>
                  <a:srgbClr val="5B6372"/>
                </a:solidFill>
                <a:latin typeface="Arial"/>
              </a:rPr>
              <a:t>The team often discovers they each believed a different process.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Finds the waste</a:t>
            </a:r>
          </a:p>
          <a:p>
            <a:pPr algn="l">
              <a:spcAft>
                <a:spcPts val="300"/>
              </a:spcAft>
            </a:pPr>
            <a:r>
              <a:rPr sz="1100" b="0">
                <a:solidFill>
                  <a:srgbClr val="5B6372"/>
                </a:solidFill>
                <a:latin typeface="Arial"/>
              </a:rPr>
              <a:t>Rework loops, waiting and duplicated approvals become visible.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Sets the baseline</a:t>
            </a:r>
          </a:p>
          <a:p>
            <a:pPr algn="l">
              <a:spcAft>
                <a:spcPts val="300"/>
              </a:spcAft>
            </a:pPr>
            <a:r>
              <a:rPr sz="1100" b="0">
                <a:solidFill>
                  <a:srgbClr val="5B6372"/>
                </a:solidFill>
                <a:latin typeface="Arial"/>
              </a:rPr>
              <a:t>You cannot improve a process you have not described.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Guides data collection</a:t>
            </a:r>
          </a:p>
          <a:p>
            <a:pPr algn="l">
              <a:spcAft>
                <a:spcPts val="300"/>
              </a:spcAft>
            </a:pPr>
            <a:r>
              <a:rPr sz="1100" b="0">
                <a:solidFill>
                  <a:srgbClr val="5B6372"/>
                </a:solidFill>
                <a:latin typeface="Arial"/>
              </a:rPr>
              <a:t>The map tells you where to put your measurement points.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CHOOSING THE RIGHT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Process Map</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SIPOC</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Macro / 30,000 feet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5-7 steps on one page.</a:t>
            </a:r>
          </a:p>
          <a:p>
            <a:pPr>
              <a:spcAft>
                <a:spcPts val="700"/>
              </a:spcAft>
            </a:pPr>
            <a:r>
              <a:rPr sz="1200">
                <a:solidFill>
                  <a:srgbClr val="161B26"/>
                </a:solidFill>
                <a:latin typeface="Arial"/>
              </a:rPr>
              <a:t>•  Sets scope and boundaries.</a:t>
            </a:r>
          </a:p>
          <a:p>
            <a:pPr>
              <a:spcAft>
                <a:spcPts val="700"/>
              </a:spcAft>
            </a:pPr>
            <a:r>
              <a:rPr sz="1200">
                <a:solidFill>
                  <a:srgbClr val="161B26"/>
                </a:solidFill>
                <a:latin typeface="Arial"/>
              </a:rPr>
              <a:t>•  Built first, in the Define phase.</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Process flowchart</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ground level</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Every step, decision and loop.</a:t>
            </a:r>
          </a:p>
          <a:p>
            <a:pPr>
              <a:spcAft>
                <a:spcPts val="700"/>
              </a:spcAft>
            </a:pPr>
            <a:r>
              <a:rPr sz="1200">
                <a:solidFill>
                  <a:srgbClr val="161B26"/>
                </a:solidFill>
                <a:latin typeface="Arial"/>
              </a:rPr>
              <a:t>•  Uses standard symbols.</a:t>
            </a:r>
          </a:p>
          <a:p>
            <a:pPr>
              <a:spcAft>
                <a:spcPts val="700"/>
              </a:spcAft>
            </a:pPr>
            <a:r>
              <a:rPr sz="1200">
                <a:solidFill>
                  <a:srgbClr val="161B26"/>
                </a:solidFill>
                <a:latin typeface="Arial"/>
              </a:rPr>
              <a:t>•  Reveals rework and delay.</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Swimlane map</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Detailed + ownership</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One lane per actor or team.</a:t>
            </a:r>
          </a:p>
          <a:p>
            <a:pPr>
              <a:spcAft>
                <a:spcPts val="700"/>
              </a:spcAft>
            </a:pPr>
            <a:r>
              <a:rPr sz="1200">
                <a:solidFill>
                  <a:srgbClr val="161B26"/>
                </a:solidFill>
                <a:latin typeface="Arial"/>
              </a:rPr>
              <a:t>•  Handoffs cross the lanes.</a:t>
            </a:r>
          </a:p>
          <a:p>
            <a:pPr>
              <a:spcAft>
                <a:spcPts val="700"/>
              </a:spcAft>
            </a:pPr>
            <a:r>
              <a:rPr sz="1200">
                <a:solidFill>
                  <a:srgbClr val="161B26"/>
                </a:solidFill>
                <a:latin typeface="Arial"/>
              </a:rPr>
              <a:t>•  Best for finding delay in handoffs.</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READING A PROCESS 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Process Map Symbols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Oval — Terminator</a:t>
            </a:r>
          </a:p>
          <a:p>
            <a:pPr algn="l">
              <a:spcAft>
                <a:spcPts val="300"/>
              </a:spcAft>
            </a:pPr>
            <a:r>
              <a:rPr sz="1100" b="0">
                <a:solidFill>
                  <a:srgbClr val="5B6372"/>
                </a:solidFill>
                <a:latin typeface="Arial"/>
              </a:rPr>
              <a:t>The start or the end of the process.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Rectangle — Process step</a:t>
            </a:r>
          </a:p>
          <a:p>
            <a:pPr algn="l">
              <a:spcAft>
                <a:spcPts val="300"/>
              </a:spcAft>
            </a:pPr>
            <a:r>
              <a:rPr sz="1100" b="0">
                <a:solidFill>
                  <a:srgbClr val="5B6372"/>
                </a:solidFill>
                <a:latin typeface="Arial"/>
              </a:rPr>
              <a:t>An activity or task being performed.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Diamond — Decision</a:t>
            </a:r>
          </a:p>
          <a:p>
            <a:pPr algn="l">
              <a:spcAft>
                <a:spcPts val="300"/>
              </a:spcAft>
            </a:pPr>
            <a:r>
              <a:rPr sz="1100" b="0">
                <a:solidFill>
                  <a:srgbClr val="5B6372"/>
                </a:solidFill>
                <a:latin typeface="Arial"/>
              </a:rPr>
              <a:t>A yes/no branch point in the flow.</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Arrow — Flow</a:t>
            </a:r>
          </a:p>
          <a:p>
            <a:pPr algn="l">
              <a:spcAft>
                <a:spcPts val="300"/>
              </a:spcAft>
            </a:pPr>
            <a:r>
              <a:rPr sz="1100" b="0">
                <a:solidFill>
                  <a:srgbClr val="5B6372"/>
                </a:solidFill>
                <a:latin typeface="Arial"/>
              </a:rPr>
              <a:t>The direction work moves between steps.</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Parallelogram — Data</a:t>
            </a:r>
          </a:p>
          <a:p>
            <a:pPr algn="l">
              <a:spcAft>
                <a:spcPts val="300"/>
              </a:spcAft>
            </a:pPr>
            <a:r>
              <a:rPr sz="1100" b="0">
                <a:solidFill>
                  <a:srgbClr val="5B6372"/>
                </a:solidFill>
                <a:latin typeface="Arial"/>
              </a:rPr>
              <a:t>An input to, or output from, a step.</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 shape — Delay</a:t>
            </a:r>
          </a:p>
          <a:p>
            <a:pPr algn="l">
              <a:spcAft>
                <a:spcPts val="300"/>
              </a:spcAft>
            </a:pPr>
            <a:r>
              <a:rPr sz="1100" b="0">
                <a:solidFill>
                  <a:srgbClr val="5B6372"/>
                </a:solidFill>
                <a:latin typeface="Arial"/>
              </a:rPr>
              <a:t>Work waiting in a queue — usually where the waste is.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YOUR ONLINE TOOL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SIPOC &amp; Process Map Builder</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Where</a:t>
            </a:r>
          </a:p>
          <a:p>
            <a:pPr algn="l">
              <a:spcAft>
                <a:spcPts val="300"/>
              </a:spcAft>
            </a:pPr>
            <a:r>
              <a:rPr sz="1000" b="0">
                <a:solidFill>
                  <a:srgbClr val="5B6372"/>
                </a:solidFill>
                <a:latin typeface="Arial"/>
              </a:rPr>
              <a:t>alfredang.github.io/sipoc/ — no install, works in any browser.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Guided order</a:t>
            </a:r>
          </a:p>
          <a:p>
            <a:pPr algn="l">
              <a:spcAft>
                <a:spcPts val="300"/>
              </a:spcAft>
            </a:pPr>
            <a:r>
              <a:rPr sz="1000" b="0">
                <a:solidFill>
                  <a:srgbClr val="5B6372"/>
                </a:solidFill>
                <a:latin typeface="Arial"/>
              </a:rPr>
              <a:t>Enter Process → Outputs → Customers → Inputs → Suppliers, the way the method teaches.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Enforces the rules</a:t>
            </a:r>
          </a:p>
          <a:p>
            <a:pPr algn="l">
              <a:spcAft>
                <a:spcPts val="300"/>
              </a:spcAft>
            </a:pPr>
            <a:r>
              <a:rPr sz="1000" b="0">
                <a:solidFill>
                  <a:srgbClr val="5B6372"/>
                </a:solidFill>
                <a:latin typeface="Arial"/>
              </a:rPr>
              <a:t>Warns if you drift outside 5–7 steps, and tracks your pain-point count.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Tag pain points</a:t>
            </a:r>
          </a:p>
          <a:p>
            <a:pPr algn="l">
              <a:spcAft>
                <a:spcPts val="300"/>
              </a:spcAft>
            </a:pPr>
            <a:r>
              <a:rPr sz="1000" b="0">
                <a:solidFill>
                  <a:srgbClr val="5B6372"/>
                </a:solidFill>
                <a:latin typeface="Arial"/>
              </a:rPr>
              <a:t>Waiting, rework loop, unclear ownership, duplicate entry, missing decision rule.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Swimlane for free</a:t>
            </a:r>
          </a:p>
          <a:p>
            <a:pPr algn="l">
              <a:spcAft>
                <a:spcPts val="300"/>
              </a:spcAft>
            </a:pPr>
            <a:r>
              <a:rPr sz="1000" b="0">
                <a:solidFill>
                  <a:srgbClr val="5B6372"/>
                </a:solidFill>
                <a:latin typeface="Arial"/>
              </a:rPr>
              <a:t>Assign an actor to each step and the swimlane and handoff table build themselves.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Check my SIPOC</a:t>
            </a:r>
          </a:p>
          <a:p>
            <a:pPr algn="l">
              <a:spcAft>
                <a:spcPts val="300"/>
              </a:spcAft>
            </a:pPr>
            <a:r>
              <a:rPr sz="1000" b="0">
                <a:solidFill>
                  <a:srgbClr val="5B6372"/>
                </a:solidFill>
                <a:latin typeface="Arial"/>
              </a:rPr>
              <a:t>Validates the same rules your activity work is checked against.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DEFINE · TOOL WALKTHROUGH</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SIPOC Builder in Activity 3</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Set the process name, start point and stop point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List the 5–7 process steps, then work outward to O, C, I, 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Tag at least three pain points on the steps</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Assign an actor to each step — handoffs appear automatically</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Run 'Check my SIPOC', then export the PNG for your package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Define</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Activity 2 — Lean, Six Sigma, Waste, Voice of Customer,</a:t>
            </a:r>
          </a:p>
          <a:p>
            <a:pPr algn="l">
              <a:spcAft>
                <a:spcPts val="300"/>
              </a:spcAft>
            </a:pPr>
            <a:r>
              <a:rPr sz="1100" b="0">
                <a:solidFill>
                  <a:srgbClr val="5B6372"/>
                </a:solidFill>
                <a:latin typeface="Arial"/>
              </a:rPr>
              <a:t>A VOC-to-CTQ translation table, a value-added analysis, and a waste wa</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Activity 3 — SIPOC, Process Mapping, Handoffs, and SME </a:t>
            </a:r>
          </a:p>
          <a:p>
            <a:pPr algn="l">
              <a:spcAft>
                <a:spcPts val="300"/>
              </a:spcAft>
            </a:pPr>
            <a:r>
              <a:rPr sz="1100" b="0">
                <a:solidFill>
                  <a:srgbClr val="5B6372"/>
                </a:solidFill>
                <a:latin typeface="Arial"/>
              </a:rPr>
              <a:t>A completed SIPOC and a detailed process map with pain points marked.</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Activity 5 — DMAIC Overview, Problem Statement, Scope, </a:t>
            </a:r>
          </a:p>
          <a:p>
            <a:pPr algn="l">
              <a:spcAft>
                <a:spcPts val="300"/>
              </a:spcAft>
            </a:pPr>
            <a:r>
              <a:rPr sz="1100" b="0">
                <a:solidFill>
                  <a:srgbClr val="5B6372"/>
                </a:solidFill>
                <a:latin typeface="Arial"/>
              </a:rPr>
              <a:t>A DMAIC phase table, refined problem statement, stakeholder map and be</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Activity 4 (elective) — PDCA Small Improvement Project Charter</a:t>
            </a:r>
          </a:p>
          <a:p>
            <a:pPr algn="l">
              <a:spcAft>
                <a:spcPts val="300"/>
              </a:spcAft>
            </a:pPr>
            <a:r>
              <a:rPr sz="1100" b="0">
                <a:solidFill>
                  <a:srgbClr val="5B6372"/>
                </a:solidFill>
                <a:latin typeface="Arial"/>
              </a:rPr>
              <a:t>A one-page PDCA charter with problem statement, goal, scope and succes</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500" b="1">
                <a:solidFill>
                  <a:srgbClr val="161B26"/>
                </a:solidFill>
                <a:latin typeface="Arial"/>
              </a:rPr>
              <a:t>Activity 11 (elective) — Affinity Diagram and Kano Analysis</a:t>
            </a:r>
          </a:p>
          <a:p>
            <a:pPr algn="l">
              <a:spcAft>
                <a:spcPts val="300"/>
              </a:spcAft>
            </a:pPr>
            <a:r>
              <a:rPr sz="1100" b="0">
                <a:solidFill>
                  <a:srgbClr val="5B6372"/>
                </a:solidFill>
                <a:latin typeface="Arial"/>
              </a:rPr>
              <a:t>An Affinity Diagram of clustered VOC themes and a Kano classification </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2</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Separate what the customer actually values from the waste that surrounds it. Capture the Voice of the Customer, translate it into measurable CTQ requirements, and run a waste walk using the eight wastes (DOWNTIME).</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VOC-to-CTQ translation table, a value-added analysis, and a waste walk log.</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VOC, CTQ tree, DOWNTIME eight wastes, value-added analysis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Capture the Voice of the Customer — record at least five verbatim customer statements.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Translate each VOC statement into a need, then into a measurable CTQ requirement.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process activity as value-added, business-value-added or non-value-added.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Conduct a waste walk and tag each observation against the eight wastes (DOWNTIME).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defect (output fails CTQ) from waste (effort the customer will not pay for).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Lean, Six Sigma, Waste, Voice of Custo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which single waste type appears most often in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2 · activities/02 - Lean, Six Sigma, Waste, Voice of.../</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2 — Your Data Files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data/voice-of-customer.csv</a:t>
            </a:r>
          </a:p>
          <a:p>
            <a:pPr algn="l">
              <a:spcAft>
                <a:spcPts val="300"/>
              </a:spcAft>
            </a:pPr>
            <a:r>
              <a:rPr sz="1000" b="0">
                <a:solidFill>
                  <a:srgbClr val="5B6372"/>
                </a:solidFill>
                <a:latin typeface="Arial"/>
              </a:rPr>
              <a:t>10 rows · id, customer_statement, source, date</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data/waste-walk-observations.csv</a:t>
            </a:r>
          </a:p>
          <a:p>
            <a:pPr algn="l">
              <a:spcAft>
                <a:spcPts val="300"/>
              </a:spcAft>
            </a:pPr>
            <a:r>
              <a:rPr sz="1000" b="0">
                <a:solidFill>
                  <a:srgbClr val="5B6372"/>
                </a:solidFill>
                <a:latin typeface="Arial"/>
              </a:rPr>
              <a:t>10 rows · obs_id, observation, process_step, time_lost_min, waste_type</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templates/value-added-analysis.csv</a:t>
            </a:r>
          </a:p>
          <a:p>
            <a:pPr algn="l">
              <a:spcAft>
                <a:spcPts val="300"/>
              </a:spcAft>
            </a:pPr>
            <a:r>
              <a:rPr sz="1000" b="0">
                <a:solidFill>
                  <a:srgbClr val="5B6372"/>
                </a:solidFill>
                <a:latin typeface="Arial"/>
              </a:rPr>
              <a:t>Worksheet to complete · step_no, activity, VA_BVA_NVA, justification</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templates/voc-to-ctq.csv</a:t>
            </a:r>
          </a:p>
          <a:p>
            <a:pPr algn="l">
              <a:spcAft>
                <a:spcPts val="300"/>
              </a:spcAft>
            </a:pPr>
            <a:r>
              <a:rPr sz="1000" b="0">
                <a:solidFill>
                  <a:srgbClr val="5B6372"/>
                </a:solidFill>
                <a:latin typeface="Arial"/>
              </a:rPr>
              <a:t>Worksheet to complete · voc_id, customer_statement, need, ctq_requirement, +2 more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Lean, Six Sigma, Waste, Voice of Customer, and Value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CTQ is measurable with a target, and each waste observation is tagged to one of the eight waste types.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3</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Build the macro 'as-is' view with SIPOC, then drill into a detailed process map that shows every actor, system and handoff — the points where delay and defects are actually created.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SIPOC and a detailed process map with pain points marked.</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process flowchart, swimlane map, standard process symbols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Set the process boundaries — agree the explicit start and stop points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SIPOC with the online builder: Suppliers, Inputs, Process (5-7 high-level steps), Outputs, Customers.</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Expand into a detailed process map: Step, Actor, Activity, System, Handoff.</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Assign an actor to each step — the tool generates the swimlane and detects every handoff for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Tag pain points on the steps — waiting, rework loop, unclear ownership, duplicate entry or missing decision rule (at least three).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SIPOC, Process Mapping, Handoffs,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SME notes for the Green Belt: what you observed and what needs validation.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3 · activities/03 - SIPOC, Process Mapping, Handoffs,.../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3 — Your Data Files</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data/process-steps.csv</a:t>
            </a:r>
          </a:p>
          <a:p>
            <a:pPr algn="l">
              <a:spcAft>
                <a:spcPts val="300"/>
              </a:spcAft>
            </a:pPr>
            <a:r>
              <a:rPr sz="1000" b="0">
                <a:solidFill>
                  <a:srgbClr val="5B6372"/>
                </a:solidFill>
                <a:latin typeface="Arial"/>
              </a:rPr>
              <a:t>7 rows · step_no, activity, actor, system, process_time_min, +2 more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429000"/>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templates/handoff-register.csv</a:t>
            </a:r>
          </a:p>
          <a:p>
            <a:pPr algn="l">
              <a:spcAft>
                <a:spcPts val="300"/>
              </a:spcAft>
            </a:pPr>
            <a:r>
              <a:rPr sz="1000" b="0">
                <a:solidFill>
                  <a:srgbClr val="5B6372"/>
                </a:solidFill>
                <a:latin typeface="Arial"/>
              </a:rPr>
              <a:t>Worksheet to complete · handoff_no, from_actor, to_actor, trigger, +2 more</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523951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965192"/>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templates/sipoc.csv</a:t>
            </a:r>
          </a:p>
          <a:p>
            <a:pPr algn="l">
              <a:spcAft>
                <a:spcPts val="300"/>
              </a:spcAft>
            </a:pPr>
            <a:r>
              <a:rPr sz="1000" b="0">
                <a:solidFill>
                  <a:srgbClr val="5B6372"/>
                </a:solidFill>
                <a:latin typeface="Arial"/>
              </a:rPr>
              <a:t>Worksheet to complete · suppliers, inputs, process_step, outputs, +1 more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SIPOC, Process Mapping, Handoffs, and SME Support</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Run 'Check my SIPOC' in the tool — all five columns populated, 5-7 steps, at least three pain points, and every handoff owned on both sides.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Not every improvement needs a full DMAIC project. Use PDCA to charter a small, fast improvement that a Yellow Belt can run under guidance — with a problem statement, a measurable goal and a defined check point.</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one-page PDCA charter with problem statement, goal, scope and success measure.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PDCA cycle, problem/goal statements, scope in-out, stakeholder list</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four PDCA phases to concrete actions for your scenario.</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process, time period, measurable issue and impact — no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a measurable goal statement: metric, baseline, target and date.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scope with an explicit in-scope / out-of-scope table to prevent scope creep.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the decision you will make after the Check phase.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Elective — PDCA Small Improvement Proj</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the improvement is small enough to test within two weeks.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4 · activities/04 - PDCA Small Improvement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4 — Your Data Files</a:t>
            </a:r>
          </a:p>
        </p:txBody>
      </p:sp>
      <p:sp>
        <p:nvSpPr>
          <p:cNvPr id="6" name="Rectangle 5"/>
          <p:cNvSpPr/>
          <p:nvPr/>
        </p:nvSpPr>
        <p:spPr>
          <a:xfrm>
            <a:off x="777240" y="1783080"/>
            <a:ext cx="10634472" cy="437083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437083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4206240"/>
          </a:xfrm>
          <a:prstGeom prst="rect">
            <a:avLst/>
          </a:prstGeom>
          <a:noFill/>
        </p:spPr>
        <p:txBody>
          <a:bodyPr wrap="square" anchor="ctr">
            <a:spAutoFit/>
          </a:bodyPr>
          <a:lstStyle/>
          <a:p>
            <a:pPr algn="l">
              <a:spcAft>
                <a:spcPts val="300"/>
              </a:spcAft>
            </a:pPr>
            <a:r>
              <a:rPr sz="1400" b="1">
                <a:solidFill>
                  <a:srgbClr val="161B26"/>
                </a:solidFill>
                <a:latin typeface="Arial"/>
              </a:rPr>
              <a:t>templates/pdca-charter.csv</a:t>
            </a:r>
          </a:p>
          <a:p>
            <a:pPr algn="l">
              <a:spcAft>
                <a:spcPts val="300"/>
              </a:spcAft>
            </a:pPr>
            <a:r>
              <a:rPr sz="1000" b="0">
                <a:solidFill>
                  <a:srgbClr val="5B6372"/>
                </a:solidFill>
                <a:latin typeface="Arial"/>
              </a:rPr>
              <a:t>Worksheet to complete · section, content</a:t>
            </a:r>
          </a:p>
        </p:txBody>
      </p:sp>
      <p:sp>
        <p:nvSpPr>
          <p:cNvPr id="11" name="TextBox 1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2" name="TextBox 1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3" name="TextBox 1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PDCA Small Improvement Project Charter</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goal statement contains a metric, a baseline, a target and a date, and your problem statement names no solution.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5</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Step up from PDCA to the full DMAIC roadmap. Clarify what each phase delivers, where a Yellow Belt contributes most, and prepare defensible Define-phase information for the project leader.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DMAIC phase table, refined problem statement, stakeholder map and benefit estimate.</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DMAIC roadmap, project charter, stakeholder analysis, CTQ linkage</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Summarise all five DMAIC phases: purpose, key deliverable and Yellow Belt support role.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Refine the problem statement so it is specific, measurable and solution-free.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stakeholders and classify each by influence and interest.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project scope and state the expected benefit in business terms.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Link the problem back to the CTQ requirements captured in Activity 2.</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DMAIC Overview, Problem Statement, Sco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Confirm which DMAIC phases a Yellow Belt can support most strongly.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5 · activities/05 - DMAIC Overview, Problem.../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5 — Your Data Files</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400" b="1">
                <a:solidFill>
                  <a:srgbClr val="161B26"/>
                </a:solidFill>
                <a:latin typeface="Arial"/>
              </a:rPr>
              <a:t>templates/dmaic-phase-table.csv</a:t>
            </a:r>
          </a:p>
          <a:p>
            <a:pPr algn="l">
              <a:spcAft>
                <a:spcPts val="300"/>
              </a:spcAft>
            </a:pPr>
            <a:r>
              <a:rPr sz="1000" b="0">
                <a:solidFill>
                  <a:srgbClr val="5B6372"/>
                </a:solidFill>
                <a:latin typeface="Arial"/>
              </a:rPr>
              <a:t>Worksheet to complete · phase, purpose, key_deliverable, +1 more</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400" b="1">
                <a:solidFill>
                  <a:srgbClr val="161B26"/>
                </a:solidFill>
                <a:latin typeface="Arial"/>
              </a:rPr>
              <a:t>templates/stakeholder-map.csv</a:t>
            </a:r>
          </a:p>
          <a:p>
            <a:pPr algn="l">
              <a:spcAft>
                <a:spcPts val="300"/>
              </a:spcAft>
            </a:pPr>
            <a:r>
              <a:rPr sz="1000" b="0">
                <a:solidFill>
                  <a:srgbClr val="5B6372"/>
                </a:solidFill>
                <a:latin typeface="Arial"/>
              </a:rPr>
              <a:t>Worksheet to complete · stakeholder, interest, influence_H_M_L, +2 more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5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DMAIC Overview, Problem Statement, Scope, and Stakeholders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problem statement passes the 'no solution named' test and every stakeholder has a defined engagement approach.</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DEFINE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11</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Two Define-phase tools from the original course. Use an Affinity Diagram to cluster unstructured VOC input into themes, then apply Kano Analysis to classify requirements as Must-Be, One-Dimensional or Delighter.</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An Affinity Diagram of clustered VOC themes and a Kano classification table.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Affinity Diagram, Kano Analysis, VOC clustering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each VOC statement on a separate note — one idea per note.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Cluster related notes into natural groups without talking, then name each group.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each requirement as Must-Be, One-Dimensional or Delighter.</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Elective — Affinity Diagram and Kano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Plot the requirements on the Kano diagram and identify where to invest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11 · activities/11 - Affinity Diagram and Kano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11 — Your Data Files</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data/voice-of-customer.csv</a:t>
            </a:r>
          </a:p>
          <a:p>
            <a:pPr algn="l">
              <a:spcAft>
                <a:spcPts val="300"/>
              </a:spcAft>
            </a:pPr>
            <a:r>
              <a:rPr sz="1000" b="0">
                <a:solidFill>
                  <a:srgbClr val="5B6372"/>
                </a:solidFill>
                <a:latin typeface="Arial"/>
              </a:rPr>
              <a:t>10 rows · id, customer_statement, source, date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429000"/>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templates/affinity-groups.csv</a:t>
            </a:r>
          </a:p>
          <a:p>
            <a:pPr algn="l">
              <a:spcAft>
                <a:spcPts val="300"/>
              </a:spcAft>
            </a:pPr>
            <a:r>
              <a:rPr sz="1000" b="0">
                <a:solidFill>
                  <a:srgbClr val="5B6372"/>
                </a:solidFill>
                <a:latin typeface="Arial"/>
              </a:rPr>
              <a:t>Worksheet to complete · voc_id, statement, affinity_group</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523951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965192"/>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templates/kano-classification.csv</a:t>
            </a:r>
          </a:p>
          <a:p>
            <a:pPr algn="l">
              <a:spcAft>
                <a:spcPts val="300"/>
              </a:spcAft>
            </a:pPr>
            <a:r>
              <a:rPr sz="1000" b="0">
                <a:solidFill>
                  <a:srgbClr val="5B6372"/>
                </a:solidFill>
                <a:latin typeface="Arial"/>
              </a:rPr>
              <a:t>Worksheet to complete · requirement, kano_class_MustBe_OneDim_Delighter, +2 more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11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Affinity Diagram and Kano Analysis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VOC note sits in exactly one named affinity group and carries a Kano classification.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Define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Voice of the Customer — Capture customer needs in their own words before deciding anything.</a:t>
            </a:r>
          </a:p>
          <a:p>
            <a:pPr>
              <a:spcAft>
                <a:spcPts val="1000"/>
              </a:spcAft>
            </a:pPr>
            <a:r>
              <a:rPr sz="1500">
                <a:solidFill>
                  <a:srgbClr val="161B26"/>
                </a:solidFill>
                <a:latin typeface="Arial"/>
              </a:rPr>
              <a:t>•  Critical to Quality — Translate each VOC need into a specific, measurable CTQ requirement.</a:t>
            </a:r>
          </a:p>
          <a:p>
            <a:pPr>
              <a:spcAft>
                <a:spcPts val="1000"/>
              </a:spcAft>
            </a:pPr>
            <a:r>
              <a:rPr sz="1500">
                <a:solidFill>
                  <a:srgbClr val="161B26"/>
                </a:solidFill>
                <a:latin typeface="Arial"/>
              </a:rPr>
              <a:t>•  Project charter — Problem statement, goal, scope, team and benefit — the project's contract.</a:t>
            </a:r>
          </a:p>
          <a:p>
            <a:pPr>
              <a:spcAft>
                <a:spcPts val="1000"/>
              </a:spcAft>
            </a:pPr>
            <a:r>
              <a:rPr sz="1500">
                <a:solidFill>
                  <a:srgbClr val="161B26"/>
                </a:solidFill>
                <a:latin typeface="Arial"/>
              </a:rPr>
              <a:t>•  Problem statement — Process, time period, measurable issue and impact — and never a solution.</a:t>
            </a:r>
          </a:p>
          <a:p>
            <a:pPr>
              <a:spcAft>
                <a:spcPts val="1000"/>
              </a:spcAft>
            </a:pPr>
            <a:r>
              <a:rPr sz="1500">
                <a:solidFill>
                  <a:srgbClr val="161B26"/>
                </a:solidFill>
                <a:latin typeface="Arial"/>
              </a:rPr>
              <a:t>•  SIPOC — The macro as-is map: Suppliers, Inputs, Process, Outputs, Customers.</a:t>
            </a:r>
          </a:p>
          <a:p>
            <a:pPr>
              <a:spcAft>
                <a:spcPts val="1000"/>
              </a:spcAft>
            </a:pPr>
            <a:r>
              <a:rPr sz="1500">
                <a:solidFill>
                  <a:srgbClr val="161B26"/>
                </a:solidFill>
                <a:latin typeface="Arial"/>
              </a:rPr>
              <a:t>•  Process mapping — Flowcharts and swimlanes expose the handoffs where delay and defects are born.</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MEASURE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Measure — Quantify Performance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The 8 wastes · Data types · Data collection plan · Check sheets · Yield · DPMO · Sigma level</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25%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Measure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8 wastes</a:t>
            </a:r>
          </a:p>
          <a:p>
            <a:pPr algn="l">
              <a:spcAft>
                <a:spcPts val="300"/>
              </a:spcAft>
            </a:pPr>
            <a:r>
              <a:rPr sz="1100" b="0">
                <a:solidFill>
                  <a:srgbClr val="5B6372"/>
                </a:solidFill>
                <a:latin typeface="Arial"/>
              </a:rPr>
              <a:t>DOWNTIME — Defects, Overproduction, Waiting, Non-utilised talent, Transport, Inventory, Motion, Extra-processing.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Types of data</a:t>
            </a:r>
          </a:p>
          <a:p>
            <a:pPr algn="l">
              <a:spcAft>
                <a:spcPts val="300"/>
              </a:spcAft>
            </a:pPr>
            <a:r>
              <a:rPr sz="1100" b="0">
                <a:solidFill>
                  <a:srgbClr val="5B6372"/>
                </a:solidFill>
                <a:latin typeface="Arial"/>
              </a:rPr>
              <a:t>Continuous vs discrete; nominal vs ordinal — the data type drives the tool choice.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Data collection plan</a:t>
            </a:r>
          </a:p>
          <a:p>
            <a:pPr algn="l">
              <a:spcAft>
                <a:spcPts val="300"/>
              </a:spcAft>
            </a:pPr>
            <a:r>
              <a:rPr sz="1100" b="0">
                <a:solidFill>
                  <a:srgbClr val="5B6372"/>
                </a:solidFill>
                <a:latin typeface="Arial"/>
              </a:rPr>
              <a:t>What, who, when and how — with operational definitions to remove ambiguity.</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Check sheets</a:t>
            </a:r>
          </a:p>
          <a:p>
            <a:pPr algn="l">
              <a:spcAft>
                <a:spcPts val="300"/>
              </a:spcAft>
            </a:pPr>
            <a:r>
              <a:rPr sz="1100" b="0">
                <a:solidFill>
                  <a:srgbClr val="5B6372"/>
                </a:solidFill>
                <a:latin typeface="Arial"/>
              </a:rPr>
              <a:t>A simple structured form is the most reliable way to capture process data.</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metrics</a:t>
            </a:r>
          </a:p>
          <a:p>
            <a:pPr algn="l">
              <a:spcAft>
                <a:spcPts val="300"/>
              </a:spcAft>
            </a:pPr>
            <a:r>
              <a:rPr sz="1100" b="0">
                <a:solidFill>
                  <a:srgbClr val="5B6372"/>
                </a:solidFill>
                <a:latin typeface="Arial"/>
              </a:rPr>
              <a:t>Yield, DPU, DPO and DPMO quantify how well the process actually performs.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Sigma level</a:t>
            </a:r>
          </a:p>
          <a:p>
            <a:pPr algn="l">
              <a:spcAft>
                <a:spcPts val="300"/>
              </a:spcAft>
            </a:pPr>
            <a:r>
              <a:rPr sz="1100" b="0">
                <a:solidFill>
                  <a:srgbClr val="5B6372"/>
                </a:solidFill>
                <a:latin typeface="Arial"/>
              </a:rPr>
              <a:t>Convert DPMO into a sigma level to benchmark the process against Six Sigma.</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DMAIC · M — MEASURE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Measure — How big is the problem, really?</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Measure phase replaces opinion with a trustworthy baseline you can improve against.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Measure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Identify the waste in the current process</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Decide what to measure and define it precisely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data collection plan and check sheet</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Collect the baseline data</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Calculate yield, DPMO and sigma level</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MEASURE · WASTE (MUDA)</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Waste?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Anything beyond the minimum information, equipment, material and effort absolutely required to add value for the customer.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8 WASTES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of Lean — DOWNTIME</a:t>
            </a:r>
          </a:p>
        </p:txBody>
      </p:sp>
      <p:sp>
        <p:nvSpPr>
          <p:cNvPr id="6" name="Oval 5"/>
          <p:cNvSpPr/>
          <p:nvPr/>
        </p:nvSpPr>
        <p:spPr>
          <a:xfrm>
            <a:off x="5157216" y="2724912"/>
            <a:ext cx="1865376" cy="1865376"/>
          </a:xfrm>
          <a:prstGeom prst="ellipse">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157216" y="2724912"/>
            <a:ext cx="1865376" cy="1865376"/>
          </a:xfrm>
          <a:prstGeom prst="rect">
            <a:avLst/>
          </a:prstGeom>
          <a:noFill/>
        </p:spPr>
        <p:txBody>
          <a:bodyPr wrap="square" anchor="ctr">
            <a:spAutoFit/>
          </a:bodyPr>
          <a:lstStyle/>
          <a:p>
            <a:pPr algn="ctr">
              <a:spcAft>
                <a:spcPts val="200"/>
              </a:spcAft>
            </a:pPr>
            <a:r>
              <a:rPr sz="1700" b="1">
                <a:solidFill>
                  <a:srgbClr val="DC2C2C"/>
                </a:solidFill>
                <a:latin typeface="Arial"/>
              </a:rPr>
              <a:t>DOWNTIME</a:t>
            </a:r>
          </a:p>
          <a:p>
            <a:pPr algn="ctr">
              <a:spcAft>
                <a:spcPts val="200"/>
              </a:spcAft>
            </a:pPr>
            <a:r>
              <a:rPr sz="1200" b="0">
                <a:solidFill>
                  <a:srgbClr val="5B6372"/>
                </a:solidFill>
                <a:latin typeface="Arial"/>
              </a:rPr>
              <a:t>8 wastes</a:t>
            </a:r>
          </a:p>
        </p:txBody>
      </p:sp>
      <p:sp>
        <p:nvSpPr>
          <p:cNvPr id="8" name="Oval 7"/>
          <p:cNvSpPr/>
          <p:nvPr/>
        </p:nvSpPr>
        <p:spPr>
          <a:xfrm>
            <a:off x="5477256" y="1404518"/>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77256" y="1404518"/>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D</a:t>
            </a:r>
          </a:p>
          <a:p>
            <a:pPr algn="ctr">
              <a:spcAft>
                <a:spcPts val="100"/>
              </a:spcAft>
            </a:pPr>
            <a:r>
              <a:rPr sz="800" b="0">
                <a:solidFill>
                  <a:srgbClr val="FFFFFF"/>
                </a:solidFill>
                <a:latin typeface="Arial"/>
              </a:rPr>
              <a:t>Defects</a:t>
            </a:r>
          </a:p>
        </p:txBody>
      </p:sp>
      <p:sp>
        <p:nvSpPr>
          <p:cNvPr id="10" name="Oval 9"/>
          <p:cNvSpPr/>
          <p:nvPr/>
        </p:nvSpPr>
        <p:spPr>
          <a:xfrm>
            <a:off x="7519797" y="1884990"/>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519797"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O</a:t>
            </a:r>
          </a:p>
          <a:p>
            <a:pPr algn="ctr">
              <a:spcAft>
                <a:spcPts val="100"/>
              </a:spcAft>
            </a:pPr>
            <a:r>
              <a:rPr sz="800" b="0">
                <a:solidFill>
                  <a:srgbClr val="FFFFFF"/>
                </a:solidFill>
                <a:latin typeface="Arial"/>
              </a:rPr>
              <a:t>Overproduction</a:t>
            </a:r>
          </a:p>
        </p:txBody>
      </p:sp>
      <p:sp>
        <p:nvSpPr>
          <p:cNvPr id="12" name="Oval 11"/>
          <p:cNvSpPr/>
          <p:nvPr/>
        </p:nvSpPr>
        <p:spPr>
          <a:xfrm>
            <a:off x="8365845"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365845"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W</a:t>
            </a:r>
          </a:p>
          <a:p>
            <a:pPr algn="ctr">
              <a:spcAft>
                <a:spcPts val="100"/>
              </a:spcAft>
            </a:pPr>
            <a:r>
              <a:rPr sz="800" b="0">
                <a:solidFill>
                  <a:srgbClr val="FFFFFF"/>
                </a:solidFill>
                <a:latin typeface="Arial"/>
              </a:rPr>
              <a:t>Waiting</a:t>
            </a:r>
          </a:p>
        </p:txBody>
      </p:sp>
      <p:sp>
        <p:nvSpPr>
          <p:cNvPr id="14" name="Oval 13"/>
          <p:cNvSpPr/>
          <p:nvPr/>
        </p:nvSpPr>
        <p:spPr>
          <a:xfrm>
            <a:off x="7519797" y="4204913"/>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519797"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N</a:t>
            </a:r>
          </a:p>
          <a:p>
            <a:pPr algn="ctr">
              <a:spcAft>
                <a:spcPts val="100"/>
              </a:spcAft>
            </a:pPr>
            <a:r>
              <a:rPr sz="800" b="0">
                <a:solidFill>
                  <a:srgbClr val="FFFFFF"/>
                </a:solidFill>
                <a:latin typeface="Arial"/>
              </a:rPr>
              <a:t>Non-utilised talent</a:t>
            </a:r>
          </a:p>
        </p:txBody>
      </p:sp>
      <p:sp>
        <p:nvSpPr>
          <p:cNvPr id="16" name="Oval 15"/>
          <p:cNvSpPr/>
          <p:nvPr/>
        </p:nvSpPr>
        <p:spPr>
          <a:xfrm>
            <a:off x="5477256" y="4685385"/>
            <a:ext cx="1225296" cy="1225296"/>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477256" y="4685385"/>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T</a:t>
            </a:r>
          </a:p>
          <a:p>
            <a:pPr algn="ctr">
              <a:spcAft>
                <a:spcPts val="100"/>
              </a:spcAft>
            </a:pPr>
            <a:r>
              <a:rPr sz="800" b="0">
                <a:solidFill>
                  <a:srgbClr val="FFFFFF"/>
                </a:solidFill>
                <a:latin typeface="Arial"/>
              </a:rPr>
              <a:t>Transport</a:t>
            </a:r>
          </a:p>
        </p:txBody>
      </p:sp>
      <p:sp>
        <p:nvSpPr>
          <p:cNvPr id="18" name="Oval 17"/>
          <p:cNvSpPr/>
          <p:nvPr/>
        </p:nvSpPr>
        <p:spPr>
          <a:xfrm>
            <a:off x="3434714" y="4204913"/>
            <a:ext cx="1225296" cy="1225296"/>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434714" y="4204913"/>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I</a:t>
            </a:r>
          </a:p>
          <a:p>
            <a:pPr algn="ctr">
              <a:spcAft>
                <a:spcPts val="100"/>
              </a:spcAft>
            </a:pPr>
            <a:r>
              <a:rPr sz="800" b="0">
                <a:solidFill>
                  <a:srgbClr val="FFFFFF"/>
                </a:solidFill>
                <a:latin typeface="Arial"/>
              </a:rPr>
              <a:t>Inventory</a:t>
            </a:r>
          </a:p>
        </p:txBody>
      </p:sp>
      <p:sp>
        <p:nvSpPr>
          <p:cNvPr id="20" name="Oval 19"/>
          <p:cNvSpPr/>
          <p:nvPr/>
        </p:nvSpPr>
        <p:spPr>
          <a:xfrm>
            <a:off x="2588666" y="3044952"/>
            <a:ext cx="1225296" cy="1225296"/>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2588666" y="3044952"/>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M</a:t>
            </a:r>
          </a:p>
          <a:p>
            <a:pPr algn="ctr">
              <a:spcAft>
                <a:spcPts val="100"/>
              </a:spcAft>
            </a:pPr>
            <a:r>
              <a:rPr sz="800" b="0">
                <a:solidFill>
                  <a:srgbClr val="FFFFFF"/>
                </a:solidFill>
                <a:latin typeface="Arial"/>
              </a:rPr>
              <a:t>Motion</a:t>
            </a:r>
          </a:p>
        </p:txBody>
      </p:sp>
      <p:sp>
        <p:nvSpPr>
          <p:cNvPr id="22" name="Oval 21"/>
          <p:cNvSpPr/>
          <p:nvPr/>
        </p:nvSpPr>
        <p:spPr>
          <a:xfrm>
            <a:off x="3434714" y="1884990"/>
            <a:ext cx="1225296" cy="1225296"/>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3434714" y="1884990"/>
            <a:ext cx="1225296" cy="1225296"/>
          </a:xfrm>
          <a:prstGeom prst="rect">
            <a:avLst/>
          </a:prstGeom>
          <a:noFill/>
        </p:spPr>
        <p:txBody>
          <a:bodyPr wrap="square" anchor="ctr">
            <a:spAutoFit/>
          </a:bodyPr>
          <a:lstStyle/>
          <a:p>
            <a:pPr algn="ctr">
              <a:spcAft>
                <a:spcPts val="100"/>
              </a:spcAft>
            </a:pPr>
            <a:r>
              <a:rPr sz="2000" b="1">
                <a:solidFill>
                  <a:srgbClr val="FFFFFF"/>
                </a:solidFill>
                <a:latin typeface="Arial"/>
              </a:rPr>
              <a:t>E</a:t>
            </a:r>
          </a:p>
          <a:p>
            <a:pPr algn="ctr">
              <a:spcAft>
                <a:spcPts val="100"/>
              </a:spcAft>
            </a:pPr>
            <a:r>
              <a:rPr sz="800" b="0">
                <a:solidFill>
                  <a:srgbClr val="FFFFFF"/>
                </a:solidFill>
                <a:latin typeface="Arial"/>
              </a:rPr>
              <a:t>Extra-processing</a:t>
            </a:r>
          </a:p>
        </p:txBody>
      </p:sp>
      <p:sp>
        <p:nvSpPr>
          <p:cNvPr id="24" name="TextBox 23"/>
          <p:cNvSpPr txBox="1"/>
          <p:nvPr/>
        </p:nvSpPr>
        <p:spPr>
          <a:xfrm>
            <a:off x="777240" y="5852160"/>
            <a:ext cx="10607040" cy="457200"/>
          </a:xfrm>
          <a:prstGeom prst="rect">
            <a:avLst/>
          </a:prstGeom>
          <a:noFill/>
        </p:spPr>
        <p:txBody>
          <a:bodyPr wrap="square" anchor="t">
            <a:spAutoFit/>
          </a:bodyPr>
          <a:lstStyle/>
          <a:p>
            <a:pPr algn="ctr">
              <a:spcAft>
                <a:spcPts val="400"/>
              </a:spcAft>
            </a:pPr>
            <a:r>
              <a:rPr sz="1400" b="0">
                <a:solidFill>
                  <a:srgbClr val="5B6372"/>
                </a:solidFill>
                <a:latin typeface="Arial"/>
              </a:rPr>
              <a:t>Waste is any effort the customer would not willingly pay for.</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DOWNTIME IN PRACTICE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Eight Wastes in a Service Process</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D — Defects</a:t>
            </a:r>
          </a:p>
          <a:p>
            <a:pPr algn="l">
              <a:spcAft>
                <a:spcPts val="300"/>
              </a:spcAft>
            </a:pPr>
            <a:r>
              <a:rPr sz="1000" b="0">
                <a:solidFill>
                  <a:srgbClr val="5B6372"/>
                </a:solidFill>
                <a:latin typeface="Arial"/>
              </a:rPr>
              <a:t>Wrong ticket category, incomplete information, work that must be redone.</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O — Overproduction</a:t>
            </a:r>
          </a:p>
          <a:p>
            <a:pPr algn="l">
              <a:spcAft>
                <a:spcPts val="300"/>
              </a:spcAft>
            </a:pPr>
            <a:r>
              <a:rPr sz="1000" b="0">
                <a:solidFill>
                  <a:srgbClr val="5B6372"/>
                </a:solidFill>
                <a:latin typeface="Arial"/>
              </a:rPr>
              <a:t>Reports nobody reads; producing output before it is needed.</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W — Waiting</a:t>
            </a:r>
          </a:p>
          <a:p>
            <a:pPr algn="l">
              <a:spcAft>
                <a:spcPts val="300"/>
              </a:spcAft>
            </a:pPr>
            <a:r>
              <a:rPr sz="1000" b="0">
                <a:solidFill>
                  <a:srgbClr val="5B6372"/>
                </a:solidFill>
                <a:latin typeface="Arial"/>
              </a:rPr>
              <a:t>Tickets sitting in a queue waiting for triage or approval.</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N — Non-utilised talent</a:t>
            </a:r>
          </a:p>
          <a:p>
            <a:pPr algn="l">
              <a:spcAft>
                <a:spcPts val="300"/>
              </a:spcAft>
            </a:pPr>
            <a:r>
              <a:rPr sz="1000" b="0">
                <a:solidFill>
                  <a:srgbClr val="5B6372"/>
                </a:solidFill>
                <a:latin typeface="Arial"/>
              </a:rPr>
              <a:t>Skilled agents doing routine data entry a form could handle.</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T — Transport</a:t>
            </a:r>
          </a:p>
          <a:p>
            <a:pPr algn="l">
              <a:spcAft>
                <a:spcPts val="300"/>
              </a:spcAft>
            </a:pPr>
            <a:r>
              <a:rPr sz="1000" b="0">
                <a:solidFill>
                  <a:srgbClr val="5B6372"/>
                </a:solidFill>
                <a:latin typeface="Arial"/>
              </a:rPr>
              <a:t>Tickets bouncing between teams before reaching the right owner.</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I — Inventory</a:t>
            </a:r>
          </a:p>
          <a:p>
            <a:pPr algn="l">
              <a:spcAft>
                <a:spcPts val="300"/>
              </a:spcAft>
            </a:pPr>
            <a:r>
              <a:rPr sz="1000" b="0">
                <a:solidFill>
                  <a:srgbClr val="5B6372"/>
                </a:solidFill>
                <a:latin typeface="Arial"/>
              </a:rPr>
              <a:t>A growing backlog of unassigned tickets.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 — Motion</a:t>
            </a:r>
          </a:p>
          <a:p>
            <a:pPr algn="l">
              <a:spcAft>
                <a:spcPts val="300"/>
              </a:spcAft>
            </a:pPr>
            <a:r>
              <a:rPr sz="1000" b="0">
                <a:solidFill>
                  <a:srgbClr val="5B6372"/>
                </a:solidFill>
                <a:latin typeface="Arial"/>
              </a:rPr>
              <a:t>Switching between four systems to resolve one ticket.</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E — Extra-processing</a:t>
            </a:r>
          </a:p>
          <a:p>
            <a:pPr algn="l">
              <a:spcAft>
                <a:spcPts val="300"/>
              </a:spcAft>
            </a:pPr>
            <a:r>
              <a:rPr sz="1000" b="0">
                <a:solidFill>
                  <a:srgbClr val="5B6372"/>
                </a:solidFill>
                <a:latin typeface="Arial"/>
              </a:rPr>
              <a:t>Approvals and checks that add no value to the customer.</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VALUE ANALYSIS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Value-Added vs Non-Value-Added</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Value-added (VA)</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customer would pay for it</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Changes the product or service.</a:t>
            </a:r>
          </a:p>
          <a:p>
            <a:pPr>
              <a:spcAft>
                <a:spcPts val="700"/>
              </a:spcAft>
            </a:pPr>
            <a:r>
              <a:rPr sz="1200">
                <a:solidFill>
                  <a:srgbClr val="161B26"/>
                </a:solidFill>
                <a:latin typeface="Arial"/>
              </a:rPr>
              <a:t>•  Done right the first time.</a:t>
            </a:r>
          </a:p>
          <a:p>
            <a:pPr>
              <a:spcAft>
                <a:spcPts val="700"/>
              </a:spcAft>
            </a:pPr>
            <a:r>
              <a:rPr sz="1200">
                <a:solidFill>
                  <a:srgbClr val="161B26"/>
                </a:solidFill>
                <a:latin typeface="Arial"/>
              </a:rPr>
              <a:t>•  The customer cares that it happened.</a:t>
            </a:r>
          </a:p>
          <a:p>
            <a:pPr>
              <a:spcAft>
                <a:spcPts val="700"/>
              </a:spcAft>
            </a:pPr>
            <a:r>
              <a:rPr sz="1200">
                <a:solidFill>
                  <a:srgbClr val="161B26"/>
                </a:solidFill>
                <a:latin typeface="Arial"/>
              </a:rPr>
              <a:t>•  Example: diagnosing the actual fault.</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Business-value-added (BVA)</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Required, but not by the customer</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Needed for legal or regulatory reasons.</a:t>
            </a:r>
          </a:p>
          <a:p>
            <a:pPr>
              <a:spcAft>
                <a:spcPts val="700"/>
              </a:spcAft>
            </a:pPr>
            <a:r>
              <a:rPr sz="1200">
                <a:solidFill>
                  <a:srgbClr val="161B26"/>
                </a:solidFill>
                <a:latin typeface="Arial"/>
              </a:rPr>
              <a:t>•  Required to run the business.</a:t>
            </a:r>
          </a:p>
          <a:p>
            <a:pPr>
              <a:spcAft>
                <a:spcPts val="700"/>
              </a:spcAft>
            </a:pPr>
            <a:r>
              <a:rPr sz="1200">
                <a:solidFill>
                  <a:srgbClr val="161B26"/>
                </a:solidFill>
                <a:latin typeface="Arial"/>
              </a:rPr>
              <a:t>•  Minimise it — you cannot remove it.</a:t>
            </a:r>
          </a:p>
          <a:p>
            <a:pPr>
              <a:spcAft>
                <a:spcPts val="700"/>
              </a:spcAft>
            </a:pPr>
            <a:r>
              <a:rPr sz="1200">
                <a:solidFill>
                  <a:srgbClr val="161B26"/>
                </a:solidFill>
                <a:latin typeface="Arial"/>
              </a:rPr>
              <a:t>•  Example: mandatory audit logging.</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Non-value-added (NVA)</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Pure waste — remove it</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Consumes time and resource for nothing.</a:t>
            </a:r>
          </a:p>
          <a:p>
            <a:pPr>
              <a:spcAft>
                <a:spcPts val="700"/>
              </a:spcAft>
            </a:pPr>
            <a:r>
              <a:rPr sz="1200">
                <a:solidFill>
                  <a:srgbClr val="161B26"/>
                </a:solidFill>
                <a:latin typeface="Arial"/>
              </a:rPr>
              <a:t>•  The customer would never pay for it.</a:t>
            </a:r>
          </a:p>
          <a:p>
            <a:pPr>
              <a:spcAft>
                <a:spcPts val="700"/>
              </a:spcAft>
            </a:pPr>
            <a:r>
              <a:rPr sz="1200">
                <a:solidFill>
                  <a:srgbClr val="161B26"/>
                </a:solidFill>
                <a:latin typeface="Arial"/>
              </a:rPr>
              <a:t>•  Attack this first.</a:t>
            </a:r>
          </a:p>
          <a:p>
            <a:pPr>
              <a:spcAft>
                <a:spcPts val="700"/>
              </a:spcAft>
            </a:pPr>
            <a:r>
              <a:rPr sz="1200">
                <a:solidFill>
                  <a:srgbClr val="161B26"/>
                </a:solidFill>
                <a:latin typeface="Arial"/>
              </a:rPr>
              <a:t>•  Example: a ticket waiting in a queue.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 IMPORTANT DISTINCTION</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Waste is not the same as a defect.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defect is an output that fails the CTQ requirement. Waste is any effort along the way that the customer would not willingly pay for. Every defect creates waste — but most waste is not a defect.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DATA TYPES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Types of Data — and Why It Matters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Continuous data</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Measured on a scale</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Any value within a range.</a:t>
            </a:r>
          </a:p>
          <a:p>
            <a:pPr>
              <a:spcAft>
                <a:spcPts val="700"/>
              </a:spcAft>
            </a:pPr>
            <a:r>
              <a:rPr sz="1200">
                <a:solidFill>
                  <a:srgbClr val="161B26"/>
                </a:solidFill>
                <a:latin typeface="Arial"/>
              </a:rPr>
              <a:t>•  Time, cost, temperature, length.</a:t>
            </a:r>
          </a:p>
          <a:p>
            <a:pPr>
              <a:spcAft>
                <a:spcPts val="700"/>
              </a:spcAft>
            </a:pPr>
            <a:r>
              <a:rPr sz="1200">
                <a:solidFill>
                  <a:srgbClr val="161B26"/>
                </a:solidFill>
                <a:latin typeface="Arial"/>
              </a:rPr>
              <a:t>•  More information per data point.</a:t>
            </a:r>
          </a:p>
          <a:p>
            <a:pPr>
              <a:spcAft>
                <a:spcPts val="700"/>
              </a:spcAft>
            </a:pPr>
            <a:r>
              <a:rPr sz="1200">
                <a:solidFill>
                  <a:srgbClr val="161B26"/>
                </a:solidFill>
                <a:latin typeface="Arial"/>
              </a:rPr>
              <a:t>•  Needs a smaller sample size.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Discrete / attribute data</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Counted in whole units</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Counts and categories only.</a:t>
            </a:r>
          </a:p>
          <a:p>
            <a:pPr>
              <a:spcAft>
                <a:spcPts val="700"/>
              </a:spcAft>
            </a:pPr>
            <a:r>
              <a:rPr sz="1200">
                <a:solidFill>
                  <a:srgbClr val="161B26"/>
                </a:solidFill>
                <a:latin typeface="Arial"/>
              </a:rPr>
              <a:t>•  Number of defects, pass/fail.</a:t>
            </a:r>
          </a:p>
          <a:p>
            <a:pPr>
              <a:spcAft>
                <a:spcPts val="700"/>
              </a:spcAft>
            </a:pPr>
            <a:r>
              <a:rPr sz="1200">
                <a:solidFill>
                  <a:srgbClr val="161B26"/>
                </a:solidFill>
                <a:latin typeface="Arial"/>
              </a:rPr>
              <a:t>•  Less information per data point.</a:t>
            </a:r>
          </a:p>
          <a:p>
            <a:pPr>
              <a:spcAft>
                <a:spcPts val="700"/>
              </a:spcAft>
            </a:pPr>
            <a:r>
              <a:rPr sz="1200">
                <a:solidFill>
                  <a:srgbClr val="161B26"/>
                </a:solidFill>
                <a:latin typeface="Arial"/>
              </a:rPr>
              <a:t>•  Needs a much larger sample.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THE FOUR MEASUREMENT SCALES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Nominal, Ordinal, Interval, Ratio</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Nominal</a:t>
            </a:r>
          </a:p>
          <a:p>
            <a:pPr algn="l">
              <a:spcAft>
                <a:spcPts val="300"/>
              </a:spcAft>
            </a:pPr>
            <a:r>
              <a:rPr sz="1100" b="0">
                <a:solidFill>
                  <a:srgbClr val="5B6372"/>
                </a:solidFill>
                <a:latin typeface="Arial"/>
              </a:rPr>
              <a:t>Labels with no order — ticket category, agent name, department.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Ordinal</a:t>
            </a:r>
          </a:p>
          <a:p>
            <a:pPr algn="l">
              <a:spcAft>
                <a:spcPts val="300"/>
              </a:spcAft>
            </a:pPr>
            <a:r>
              <a:rPr sz="1100" b="0">
                <a:solidFill>
                  <a:srgbClr val="5B6372"/>
                </a:solidFill>
                <a:latin typeface="Arial"/>
              </a:rPr>
              <a:t>Ordered categories, but the gaps are not equal — priority P1/P2/P3, satisfaction 1-5.</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Interval</a:t>
            </a:r>
          </a:p>
          <a:p>
            <a:pPr algn="l">
              <a:spcAft>
                <a:spcPts val="300"/>
              </a:spcAft>
            </a:pPr>
            <a:r>
              <a:rPr sz="1100" b="0">
                <a:solidFill>
                  <a:srgbClr val="5B6372"/>
                </a:solidFill>
                <a:latin typeface="Arial"/>
              </a:rPr>
              <a:t>Equal gaps, but no true zero — temperature in °C, calendar dates.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Ratio</a:t>
            </a:r>
          </a:p>
          <a:p>
            <a:pPr algn="l">
              <a:spcAft>
                <a:spcPts val="300"/>
              </a:spcAft>
            </a:pPr>
            <a:r>
              <a:rPr sz="1100" b="0">
                <a:solidFill>
                  <a:srgbClr val="5B6372"/>
                </a:solidFill>
                <a:latin typeface="Arial"/>
              </a:rPr>
              <a:t>Equal gaps and a true zero — assignment time, cost, number of tickets.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WHY THIS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data type decides the tool.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Choose your chart, your test and your sample size AFTER you know what kind of data you are holding — not before.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PLANNING THE DATA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Data Collection Plan</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a:t>
            </a:r>
          </a:p>
          <a:p>
            <a:pPr algn="l">
              <a:spcAft>
                <a:spcPts val="300"/>
              </a:spcAft>
            </a:pPr>
            <a:r>
              <a:rPr sz="1100" b="0">
                <a:solidFill>
                  <a:srgbClr val="5B6372"/>
                </a:solidFill>
                <a:latin typeface="Arial"/>
              </a:rPr>
              <a:t>Which metric, and what exactly counts as one observation.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a:t>
            </a:r>
          </a:p>
          <a:p>
            <a:pPr algn="l">
              <a:spcAft>
                <a:spcPts val="300"/>
              </a:spcAft>
            </a:pPr>
            <a:r>
              <a:rPr sz="1100" b="0">
                <a:solidFill>
                  <a:srgbClr val="5B6372"/>
                </a:solidFill>
                <a:latin typeface="Arial"/>
              </a:rPr>
              <a:t>Which CTQ or problem statement this metric supports.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a:t>
            </a:r>
          </a:p>
          <a:p>
            <a:pPr algn="l">
              <a:spcAft>
                <a:spcPts val="300"/>
              </a:spcAft>
            </a:pPr>
            <a:r>
              <a:rPr sz="1100" b="0">
                <a:solidFill>
                  <a:srgbClr val="5B6372"/>
                </a:solidFill>
                <a:latin typeface="Arial"/>
              </a:rPr>
              <a:t>Automated report preferred; manual capture only when unavoidable.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a:t>
            </a:r>
          </a:p>
          <a:p>
            <a:pPr algn="l">
              <a:spcAft>
                <a:spcPts val="300"/>
              </a:spcAft>
            </a:pPr>
            <a:r>
              <a:rPr sz="1100" b="0">
                <a:solidFill>
                  <a:srgbClr val="5B6372"/>
                </a:solidFill>
                <a:latin typeface="Arial"/>
              </a:rPr>
              <a:t>Someone who knows the process and is available to do it consistently.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When</a:t>
            </a:r>
          </a:p>
          <a:p>
            <a:pPr algn="l">
              <a:spcAft>
                <a:spcPts val="300"/>
              </a:spcAft>
            </a:pPr>
            <a:r>
              <a:rPr sz="1100" b="0">
                <a:solidFill>
                  <a:srgbClr val="5B6372"/>
                </a:solidFill>
                <a:latin typeface="Arial"/>
              </a:rPr>
              <a:t>The frequency and the exact period the data covers.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How many</a:t>
            </a:r>
          </a:p>
          <a:p>
            <a:pPr algn="l">
              <a:spcAft>
                <a:spcPts val="300"/>
              </a:spcAft>
            </a:pPr>
            <a:r>
              <a:rPr sz="1100" b="0">
                <a:solidFill>
                  <a:srgbClr val="5B6372"/>
                </a:solidFill>
                <a:latin typeface="Arial"/>
              </a:rPr>
              <a:t>The sample size — enough to be representative, not so many it is unaffordable.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0B981"/>
                </a:solidFill>
                <a:latin typeface="Arial"/>
              </a:rPr>
              <a:t>MEASURE · OPERATIONAL DEFINITIONS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Operational definitions remove the argument.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"Assignment time" means nothing until you state it precisely: the elapsed working hours from ticket submission timestamp to the first agent assignment timestamp, excluding weekends and public holidays.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MEASURE · CHECK SHEETS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Check Sheets — the Simplest Reliable Tool</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One row per observation</a:t>
            </a:r>
          </a:p>
          <a:p>
            <a:pPr algn="l">
              <a:spcAft>
                <a:spcPts val="300"/>
              </a:spcAft>
            </a:pPr>
            <a:r>
              <a:rPr sz="1200" b="0">
                <a:solidFill>
                  <a:srgbClr val="5B6372"/>
                </a:solidFill>
                <a:latin typeface="Arial"/>
              </a:rPr>
              <a:t>Never summarise as you collect — record the raw event.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Pre-printed categories</a:t>
            </a:r>
          </a:p>
          <a:p>
            <a:pPr algn="l">
              <a:spcAft>
                <a:spcPts val="300"/>
              </a:spcAft>
            </a:pPr>
            <a:r>
              <a:rPr sz="1200" b="0">
                <a:solidFill>
                  <a:srgbClr val="5B6372"/>
                </a:solidFill>
                <a:latin typeface="Arial"/>
              </a:rPr>
              <a:t>Tick a box rather than writing free text; free text cannot be counted.</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Mutually exclusive</a:t>
            </a:r>
          </a:p>
          <a:p>
            <a:pPr algn="l">
              <a:spcAft>
                <a:spcPts val="300"/>
              </a:spcAft>
            </a:pPr>
            <a:r>
              <a:rPr sz="1200" b="0">
                <a:solidFill>
                  <a:srgbClr val="5B6372"/>
                </a:solidFill>
                <a:latin typeface="Arial"/>
              </a:rPr>
              <a:t>Every observation must fall into exactly one category.</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context</a:t>
            </a:r>
          </a:p>
          <a:p>
            <a:pPr algn="l">
              <a:spcAft>
                <a:spcPts val="300"/>
              </a:spcAft>
            </a:pPr>
            <a:r>
              <a:rPr sz="1200" b="0">
                <a:solidFill>
                  <a:srgbClr val="5B6372"/>
                </a:solidFill>
                <a:latin typeface="Arial"/>
              </a:rPr>
              <a:t>Date, time, shift and who recorded it — you will need this later.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MEASURE · SAMPLING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Sampling Techniques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Simple random</a:t>
            </a:r>
          </a:p>
          <a:p>
            <a:pPr algn="l">
              <a:spcAft>
                <a:spcPts val="300"/>
              </a:spcAft>
            </a:pPr>
            <a:r>
              <a:rPr sz="1200" b="0">
                <a:solidFill>
                  <a:srgbClr val="5B6372"/>
                </a:solidFill>
                <a:latin typeface="Arial"/>
              </a:rPr>
              <a:t>Every unit has an equal chance of being selected.</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Stratified random</a:t>
            </a:r>
          </a:p>
          <a:p>
            <a:pPr algn="l">
              <a:spcAft>
                <a:spcPts val="300"/>
              </a:spcAft>
            </a:pPr>
            <a:r>
              <a:rPr sz="1200" b="0">
                <a:solidFill>
                  <a:srgbClr val="5B6372"/>
                </a:solidFill>
                <a:latin typeface="Arial"/>
              </a:rPr>
              <a:t>Split the population into groups, then sample randomly within each group.</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Systematic</a:t>
            </a:r>
          </a:p>
          <a:p>
            <a:pPr algn="l">
              <a:spcAft>
                <a:spcPts val="300"/>
              </a:spcAft>
            </a:pPr>
            <a:r>
              <a:rPr sz="1200" b="0">
                <a:solidFill>
                  <a:srgbClr val="5B6372"/>
                </a:solidFill>
                <a:latin typeface="Arial"/>
              </a:rPr>
              <a:t>Take every nth unit — simple, but beware of hidden cycles in the data.</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Cluster</a:t>
            </a:r>
          </a:p>
          <a:p>
            <a:pPr algn="l">
              <a:spcAft>
                <a:spcPts val="300"/>
              </a:spcAft>
            </a:pPr>
            <a:r>
              <a:rPr sz="1200" b="0">
                <a:solidFill>
                  <a:srgbClr val="5B6372"/>
                </a:solidFill>
                <a:latin typeface="Arial"/>
              </a:rPr>
              <a:t>Sample whole naturally occurring groups when individual sampling is impractical.</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THE STANDARD METRICS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Process Performance Metrics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914400"/>
          </a:xfrm>
          <a:prstGeom prst="rect">
            <a:avLst/>
          </a:prstGeom>
          <a:noFill/>
        </p:spPr>
        <p:txBody>
          <a:bodyPr wrap="square" anchor="ctr">
            <a:spAutoFit/>
          </a:bodyPr>
          <a:lstStyle/>
          <a:p>
            <a:pPr algn="l">
              <a:spcAft>
                <a:spcPts val="400"/>
              </a:spcAft>
            </a:pPr>
            <a:r>
              <a:rPr sz="1500" b="1">
                <a:solidFill>
                  <a:srgbClr val="1F6FEB"/>
                </a:solidFill>
                <a:latin typeface="Arial"/>
              </a:rPr>
              <a:t>Yield</a:t>
            </a:r>
          </a:p>
        </p:txBody>
      </p:sp>
      <p:sp>
        <p:nvSpPr>
          <p:cNvPr id="9" name="Rectangle 8"/>
          <p:cNvSpPr/>
          <p:nvPr/>
        </p:nvSpPr>
        <p:spPr>
          <a:xfrm>
            <a:off x="3749039" y="189280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Yield = (Good units / Total units) × 100</a:t>
            </a:r>
          </a:p>
        </p:txBody>
      </p:sp>
      <p:sp>
        <p:nvSpPr>
          <p:cNvPr id="11" name="TextBox 10"/>
          <p:cNvSpPr txBox="1"/>
          <p:nvPr/>
        </p:nvSpPr>
        <p:spPr>
          <a:xfrm>
            <a:off x="7909560" y="178308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950 of 1,000 tickets assigned on time → 95% yield</a:t>
            </a:r>
          </a:p>
        </p:txBody>
      </p:sp>
      <p:sp>
        <p:nvSpPr>
          <p:cNvPr id="12" name="Rectangle 11"/>
          <p:cNvSpPr/>
          <p:nvPr/>
        </p:nvSpPr>
        <p:spPr>
          <a:xfrm>
            <a:off x="777240" y="288036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288036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2880360"/>
            <a:ext cx="2651760" cy="914400"/>
          </a:xfrm>
          <a:prstGeom prst="rect">
            <a:avLst/>
          </a:prstGeom>
          <a:noFill/>
        </p:spPr>
        <p:txBody>
          <a:bodyPr wrap="square" anchor="ctr">
            <a:spAutoFit/>
          </a:bodyPr>
          <a:lstStyle/>
          <a:p>
            <a:pPr algn="l">
              <a:spcAft>
                <a:spcPts val="400"/>
              </a:spcAft>
            </a:pPr>
            <a:r>
              <a:rPr sz="1500" b="1">
                <a:solidFill>
                  <a:srgbClr val="10B981"/>
                </a:solidFill>
                <a:latin typeface="Arial"/>
              </a:rPr>
              <a:t>DPU</a:t>
            </a:r>
          </a:p>
        </p:txBody>
      </p:sp>
      <p:sp>
        <p:nvSpPr>
          <p:cNvPr id="15" name="Rectangle 14"/>
          <p:cNvSpPr/>
          <p:nvPr/>
        </p:nvSpPr>
        <p:spPr>
          <a:xfrm>
            <a:off x="3749039" y="299008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288036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DPU = Defects / Units</a:t>
            </a:r>
          </a:p>
        </p:txBody>
      </p:sp>
      <p:sp>
        <p:nvSpPr>
          <p:cNvPr id="17" name="TextBox 16"/>
          <p:cNvSpPr txBox="1"/>
          <p:nvPr/>
        </p:nvSpPr>
        <p:spPr>
          <a:xfrm>
            <a:off x="7909560" y="288036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across 1,000 tickets → DPU = 0.6</a:t>
            </a:r>
          </a:p>
        </p:txBody>
      </p:sp>
      <p:sp>
        <p:nvSpPr>
          <p:cNvPr id="18" name="Rectangle 17"/>
          <p:cNvSpPr/>
          <p:nvPr/>
        </p:nvSpPr>
        <p:spPr>
          <a:xfrm>
            <a:off x="777240" y="397764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3977640"/>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3977640"/>
            <a:ext cx="2651760" cy="914400"/>
          </a:xfrm>
          <a:prstGeom prst="rect">
            <a:avLst/>
          </a:prstGeom>
          <a:noFill/>
        </p:spPr>
        <p:txBody>
          <a:bodyPr wrap="square" anchor="ctr">
            <a:spAutoFit/>
          </a:bodyPr>
          <a:lstStyle/>
          <a:p>
            <a:pPr algn="l">
              <a:spcAft>
                <a:spcPts val="400"/>
              </a:spcAft>
            </a:pPr>
            <a:r>
              <a:rPr sz="1500" b="1">
                <a:solidFill>
                  <a:srgbClr val="7C3AED"/>
                </a:solidFill>
                <a:latin typeface="Arial"/>
              </a:rPr>
              <a:t>DPO</a:t>
            </a:r>
          </a:p>
        </p:txBody>
      </p:sp>
      <p:sp>
        <p:nvSpPr>
          <p:cNvPr id="21" name="Rectangle 20"/>
          <p:cNvSpPr/>
          <p:nvPr/>
        </p:nvSpPr>
        <p:spPr>
          <a:xfrm>
            <a:off x="3749039" y="408736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397764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DPO = Defects / (Units × Opportunities)</a:t>
            </a:r>
          </a:p>
        </p:txBody>
      </p:sp>
      <p:sp>
        <p:nvSpPr>
          <p:cNvPr id="23" name="TextBox 22"/>
          <p:cNvSpPr txBox="1"/>
          <p:nvPr/>
        </p:nvSpPr>
        <p:spPr>
          <a:xfrm>
            <a:off x="7909560" y="397764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600 defects, 1,000 tickets, 3 opportunities each → DPO = 0.2</a:t>
            </a:r>
          </a:p>
        </p:txBody>
      </p:sp>
      <p:sp>
        <p:nvSpPr>
          <p:cNvPr id="24" name="Rectangle 23"/>
          <p:cNvSpPr/>
          <p:nvPr/>
        </p:nvSpPr>
        <p:spPr>
          <a:xfrm>
            <a:off x="777240" y="507492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77240" y="5074920"/>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51560" y="5074920"/>
            <a:ext cx="2651760" cy="914400"/>
          </a:xfrm>
          <a:prstGeom prst="rect">
            <a:avLst/>
          </a:prstGeom>
          <a:noFill/>
        </p:spPr>
        <p:txBody>
          <a:bodyPr wrap="square" anchor="ctr">
            <a:spAutoFit/>
          </a:bodyPr>
          <a:lstStyle/>
          <a:p>
            <a:pPr algn="l">
              <a:spcAft>
                <a:spcPts val="400"/>
              </a:spcAft>
            </a:pPr>
            <a:r>
              <a:rPr sz="1500" b="1">
                <a:solidFill>
                  <a:srgbClr val="F59E0B"/>
                </a:solidFill>
                <a:latin typeface="Arial"/>
              </a:rPr>
              <a:t>DPMO</a:t>
            </a:r>
          </a:p>
        </p:txBody>
      </p:sp>
      <p:sp>
        <p:nvSpPr>
          <p:cNvPr id="27" name="Rectangle 26"/>
          <p:cNvSpPr/>
          <p:nvPr/>
        </p:nvSpPr>
        <p:spPr>
          <a:xfrm>
            <a:off x="3749039" y="5184648"/>
            <a:ext cx="3931920" cy="69494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840480" y="5074920"/>
            <a:ext cx="3749039" cy="914400"/>
          </a:xfrm>
          <a:prstGeom prst="rect">
            <a:avLst/>
          </a:prstGeom>
          <a:noFill/>
        </p:spPr>
        <p:txBody>
          <a:bodyPr wrap="square" anchor="ctr">
            <a:spAutoFit/>
          </a:bodyPr>
          <a:lstStyle/>
          <a:p>
            <a:pPr algn="ctr">
              <a:spcAft>
                <a:spcPts val="400"/>
              </a:spcAft>
            </a:pPr>
            <a:r>
              <a:rPr sz="1400" b="1">
                <a:solidFill>
                  <a:srgbClr val="161B26"/>
                </a:solidFill>
                <a:latin typeface="Arial"/>
              </a:rPr>
              <a:t>DPMO = DPO × 1,000,000</a:t>
            </a:r>
          </a:p>
        </p:txBody>
      </p:sp>
      <p:sp>
        <p:nvSpPr>
          <p:cNvPr id="29" name="TextBox 28"/>
          <p:cNvSpPr txBox="1"/>
          <p:nvPr/>
        </p:nvSpPr>
        <p:spPr>
          <a:xfrm>
            <a:off x="7909560" y="5074920"/>
            <a:ext cx="3291840" cy="914400"/>
          </a:xfrm>
          <a:prstGeom prst="rect">
            <a:avLst/>
          </a:prstGeom>
          <a:noFill/>
        </p:spPr>
        <p:txBody>
          <a:bodyPr wrap="square" anchor="ctr">
            <a:spAutoFit/>
          </a:bodyPr>
          <a:lstStyle/>
          <a:p>
            <a:pPr algn="l">
              <a:spcAft>
                <a:spcPts val="400"/>
              </a:spcAft>
            </a:pPr>
            <a:r>
              <a:rPr sz="1200" b="0">
                <a:solidFill>
                  <a:srgbClr val="5B6372"/>
                </a:solidFill>
                <a:latin typeface="Arial"/>
              </a:rPr>
              <a:t>DPO of 0.2 → 200,000 DPMO</a:t>
            </a:r>
          </a:p>
        </p:txBody>
      </p:sp>
      <p:sp>
        <p:nvSpPr>
          <p:cNvPr id="30" name="TextBox 29"/>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An 'opportunity' is any single chance for a defect to occur on one unit — agree the count before you measure.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YIELD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Yield — Three Different Questions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Classic yield</a:t>
            </a:r>
          </a:p>
          <a:p>
            <a:pPr algn="l">
              <a:spcAft>
                <a:spcPts val="300"/>
              </a:spcAft>
            </a:pPr>
            <a:r>
              <a:rPr sz="1100" b="0">
                <a:solidFill>
                  <a:srgbClr val="5B6372"/>
                </a:solidFill>
                <a:latin typeface="Arial"/>
              </a:rPr>
              <a:t>What fraction of units passed final inspection? Ignores any rework along the way.</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First pass yield (FPY)</a:t>
            </a:r>
          </a:p>
          <a:p>
            <a:pPr algn="l">
              <a:spcAft>
                <a:spcPts val="300"/>
              </a:spcAft>
            </a:pPr>
            <a:r>
              <a:rPr sz="1100" b="0">
                <a:solidFill>
                  <a:srgbClr val="5B6372"/>
                </a:solidFill>
                <a:latin typeface="Arial"/>
              </a:rPr>
              <a:t>What fraction passed with NO rework at any step? The honest number.</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Rolled throughput yield (RTY)</a:t>
            </a:r>
          </a:p>
          <a:p>
            <a:pPr algn="l">
              <a:spcAft>
                <a:spcPts val="300"/>
              </a:spcAft>
            </a:pPr>
            <a:r>
              <a:rPr sz="1100" b="0">
                <a:solidFill>
                  <a:srgbClr val="5B6372"/>
                </a:solidFill>
                <a:latin typeface="Arial"/>
              </a:rPr>
              <a:t>Multiply the FPY of every step — the probability a unit passes cleanly through the entire process.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500" b="1">
                <a:solidFill>
                  <a:srgbClr val="161B26"/>
                </a:solidFill>
                <a:latin typeface="Arial"/>
              </a:rPr>
              <a:t>Why RTY matters</a:t>
            </a:r>
          </a:p>
          <a:p>
            <a:pPr algn="l">
              <a:spcAft>
                <a:spcPts val="300"/>
              </a:spcAft>
            </a:pPr>
            <a:r>
              <a:rPr sz="1100" b="0">
                <a:solidFill>
                  <a:srgbClr val="5B6372"/>
                </a:solidFill>
                <a:latin typeface="Arial"/>
              </a:rPr>
              <a:t>Five steps at 95% each give an RTY of only 77% — small defect rates compound fast.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MEASURE · SIGMA LEVEL</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From DPMO to Sigma Level</a:t>
            </a:r>
          </a:p>
        </p:txBody>
      </p:sp>
      <p:sp>
        <p:nvSpPr>
          <p:cNvPr id="6" name="Rectangle 5"/>
          <p:cNvSpPr/>
          <p:nvPr/>
        </p:nvSpPr>
        <p:spPr>
          <a:xfrm>
            <a:off x="777240" y="178308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801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051560" y="1783080"/>
            <a:ext cx="2651760" cy="1280160"/>
          </a:xfrm>
          <a:prstGeom prst="rect">
            <a:avLst/>
          </a:prstGeom>
          <a:noFill/>
        </p:spPr>
        <p:txBody>
          <a:bodyPr wrap="square" anchor="ctr">
            <a:spAutoFit/>
          </a:bodyPr>
          <a:lstStyle/>
          <a:p>
            <a:pPr algn="l">
              <a:spcAft>
                <a:spcPts val="400"/>
              </a:spcAft>
            </a:pPr>
            <a:r>
              <a:rPr sz="1500" b="1">
                <a:solidFill>
                  <a:srgbClr val="1F6FEB"/>
                </a:solidFill>
                <a:latin typeface="Arial"/>
              </a:rPr>
              <a:t>Sigma level</a:t>
            </a:r>
          </a:p>
        </p:txBody>
      </p:sp>
      <p:sp>
        <p:nvSpPr>
          <p:cNvPr id="9" name="Rectangle 8"/>
          <p:cNvSpPr/>
          <p:nvPr/>
        </p:nvSpPr>
        <p:spPr>
          <a:xfrm>
            <a:off x="3749039" y="189280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840480" y="178308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Look DPMO up in the sigma conversion table</a:t>
            </a:r>
          </a:p>
        </p:txBody>
      </p:sp>
      <p:sp>
        <p:nvSpPr>
          <p:cNvPr id="11" name="TextBox 10"/>
          <p:cNvSpPr txBox="1"/>
          <p:nvPr/>
        </p:nvSpPr>
        <p:spPr>
          <a:xfrm>
            <a:off x="7909560" y="178308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200,000 DPMO ≈ 2.3σ</a:t>
            </a:r>
          </a:p>
        </p:txBody>
      </p:sp>
      <p:sp>
        <p:nvSpPr>
          <p:cNvPr id="12" name="Rectangle 11"/>
          <p:cNvSpPr/>
          <p:nvPr/>
        </p:nvSpPr>
        <p:spPr>
          <a:xfrm>
            <a:off x="777240" y="324612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77240" y="3246120"/>
            <a:ext cx="91440" cy="12801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51560" y="3246120"/>
            <a:ext cx="2651760" cy="1280160"/>
          </a:xfrm>
          <a:prstGeom prst="rect">
            <a:avLst/>
          </a:prstGeom>
          <a:noFill/>
        </p:spPr>
        <p:txBody>
          <a:bodyPr wrap="square" anchor="ctr">
            <a:spAutoFit/>
          </a:bodyPr>
          <a:lstStyle/>
          <a:p>
            <a:pPr algn="l">
              <a:spcAft>
                <a:spcPts val="400"/>
              </a:spcAft>
            </a:pPr>
            <a:r>
              <a:rPr sz="1500" b="1">
                <a:solidFill>
                  <a:srgbClr val="10B981"/>
                </a:solidFill>
                <a:latin typeface="Arial"/>
              </a:rPr>
              <a:t>Our example</a:t>
            </a:r>
          </a:p>
        </p:txBody>
      </p:sp>
      <p:sp>
        <p:nvSpPr>
          <p:cNvPr id="15" name="Rectangle 14"/>
          <p:cNvSpPr/>
          <p:nvPr/>
        </p:nvSpPr>
        <p:spPr>
          <a:xfrm>
            <a:off x="3749039" y="335584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840480" y="324612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Yield 99.5% → 5,000 DPMO</a:t>
            </a:r>
          </a:p>
        </p:txBody>
      </p:sp>
      <p:sp>
        <p:nvSpPr>
          <p:cNvPr id="17" name="TextBox 16"/>
          <p:cNvSpPr txBox="1"/>
          <p:nvPr/>
        </p:nvSpPr>
        <p:spPr>
          <a:xfrm>
            <a:off x="7909560" y="324612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5,000 DPMO ≈ 4.1σ</a:t>
            </a:r>
          </a:p>
        </p:txBody>
      </p:sp>
      <p:sp>
        <p:nvSpPr>
          <p:cNvPr id="18" name="Rectangle 17"/>
          <p:cNvSpPr/>
          <p:nvPr/>
        </p:nvSpPr>
        <p:spPr>
          <a:xfrm>
            <a:off x="777240" y="4709160"/>
            <a:ext cx="10634472" cy="128016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777240" y="4709160"/>
            <a:ext cx="91440" cy="12801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51560" y="4709160"/>
            <a:ext cx="2651760" cy="1280160"/>
          </a:xfrm>
          <a:prstGeom prst="rect">
            <a:avLst/>
          </a:prstGeom>
          <a:noFill/>
        </p:spPr>
        <p:txBody>
          <a:bodyPr wrap="square" anchor="ctr">
            <a:spAutoFit/>
          </a:bodyPr>
          <a:lstStyle/>
          <a:p>
            <a:pPr algn="l">
              <a:spcAft>
                <a:spcPts val="400"/>
              </a:spcAft>
            </a:pPr>
            <a:r>
              <a:rPr sz="1500" b="1">
                <a:solidFill>
                  <a:srgbClr val="7C3AED"/>
                </a:solidFill>
                <a:latin typeface="Arial"/>
              </a:rPr>
              <a:t>The Six Sigma target</a:t>
            </a:r>
          </a:p>
        </p:txBody>
      </p:sp>
      <p:sp>
        <p:nvSpPr>
          <p:cNvPr id="21" name="Rectangle 20"/>
          <p:cNvSpPr/>
          <p:nvPr/>
        </p:nvSpPr>
        <p:spPr>
          <a:xfrm>
            <a:off x="3749039" y="4818888"/>
            <a:ext cx="3931920" cy="1060704"/>
          </a:xfrm>
          <a:prstGeom prst="rect">
            <a:avLst/>
          </a:prstGeom>
          <a:solidFill>
            <a:srgbClr val="FFFFFF"/>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40480" y="4709160"/>
            <a:ext cx="3749039" cy="1280160"/>
          </a:xfrm>
          <a:prstGeom prst="rect">
            <a:avLst/>
          </a:prstGeom>
          <a:noFill/>
        </p:spPr>
        <p:txBody>
          <a:bodyPr wrap="square" anchor="ctr">
            <a:spAutoFit/>
          </a:bodyPr>
          <a:lstStyle/>
          <a:p>
            <a:pPr algn="ctr">
              <a:spcAft>
                <a:spcPts val="400"/>
              </a:spcAft>
            </a:pPr>
            <a:r>
              <a:rPr sz="1400" b="1">
                <a:solidFill>
                  <a:srgbClr val="161B26"/>
                </a:solidFill>
                <a:latin typeface="Arial"/>
              </a:rPr>
              <a:t>3.4 DPMO</a:t>
            </a:r>
          </a:p>
        </p:txBody>
      </p:sp>
      <p:sp>
        <p:nvSpPr>
          <p:cNvPr id="23" name="TextBox 22"/>
          <p:cNvSpPr txBox="1"/>
          <p:nvPr/>
        </p:nvSpPr>
        <p:spPr>
          <a:xfrm>
            <a:off x="7909560" y="4709160"/>
            <a:ext cx="3291840" cy="1280160"/>
          </a:xfrm>
          <a:prstGeom prst="rect">
            <a:avLst/>
          </a:prstGeom>
          <a:noFill/>
        </p:spPr>
        <p:txBody>
          <a:bodyPr wrap="square" anchor="ctr">
            <a:spAutoFit/>
          </a:bodyPr>
          <a:lstStyle/>
          <a:p>
            <a:pPr algn="l">
              <a:spcAft>
                <a:spcPts val="400"/>
              </a:spcAft>
            </a:pPr>
            <a:r>
              <a:rPr sz="1200" b="0">
                <a:solidFill>
                  <a:srgbClr val="5B6372"/>
                </a:solidFill>
                <a:latin typeface="Arial"/>
              </a:rPr>
              <a:t>99.99966% yield</a:t>
            </a:r>
          </a:p>
        </p:txBody>
      </p:sp>
      <p:sp>
        <p:nvSpPr>
          <p:cNvPr id="24" name="TextBox 23"/>
          <p:cNvSpPr txBox="1"/>
          <p:nvPr/>
        </p:nvSpPr>
        <p:spPr>
          <a:xfrm>
            <a:off x="777240" y="6080760"/>
            <a:ext cx="10607040" cy="365760"/>
          </a:xfrm>
          <a:prstGeom prst="rect">
            <a:avLst/>
          </a:prstGeom>
          <a:noFill/>
        </p:spPr>
        <p:txBody>
          <a:bodyPr wrap="square" anchor="t">
            <a:spAutoFit/>
          </a:bodyPr>
          <a:lstStyle/>
          <a:p>
            <a:pPr algn="ctr">
              <a:spcAft>
                <a:spcPts val="400"/>
              </a:spcAft>
            </a:pPr>
            <a:r>
              <a:rPr sz="1200" b="0">
                <a:solidFill>
                  <a:srgbClr val="5B6372"/>
                </a:solidFill>
                <a:latin typeface="Arial"/>
              </a:rPr>
              <a:t>Sigma level is the common yardstick that lets you compare performance across completely different processes.</a:t>
            </a:r>
          </a:p>
        </p:txBody>
      </p:sp>
      <p:sp>
        <p:nvSpPr>
          <p:cNvPr id="25" name="TextBox 2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6" name="TextBox 2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7" name="TextBox 2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MEASURE · THE BUSINESS CASE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Cost of Poor Quality (COPQ)</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Internal failure</a:t>
            </a:r>
          </a:p>
          <a:p>
            <a:pPr algn="l">
              <a:spcAft>
                <a:spcPts val="300"/>
              </a:spcAft>
            </a:pPr>
            <a:r>
              <a:rPr sz="1200" b="0">
                <a:solidFill>
                  <a:srgbClr val="5B6372"/>
                </a:solidFill>
                <a:latin typeface="Arial"/>
              </a:rPr>
              <a:t>Defects found before the customer sees them — rework, scrap, re-triage.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External failure</a:t>
            </a:r>
          </a:p>
          <a:p>
            <a:pPr algn="l">
              <a:spcAft>
                <a:spcPts val="300"/>
              </a:spcAft>
            </a:pPr>
            <a:r>
              <a:rPr sz="1200" b="0">
                <a:solidFill>
                  <a:srgbClr val="5B6372"/>
                </a:solidFill>
                <a:latin typeface="Arial"/>
              </a:rPr>
              <a:t>Defects the customer finds — complaints, escalations, lost trust.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Appraisal cost</a:t>
            </a:r>
          </a:p>
          <a:p>
            <a:pPr algn="l">
              <a:spcAft>
                <a:spcPts val="300"/>
              </a:spcAft>
            </a:pPr>
            <a:r>
              <a:rPr sz="1200" b="0">
                <a:solidFill>
                  <a:srgbClr val="5B6372"/>
                </a:solidFill>
                <a:latin typeface="Arial"/>
              </a:rPr>
              <a:t>The cost of inspecting and checking for defects.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Prevention cost</a:t>
            </a:r>
          </a:p>
          <a:p>
            <a:pPr algn="l">
              <a:spcAft>
                <a:spcPts val="300"/>
              </a:spcAft>
            </a:pPr>
            <a:r>
              <a:rPr sz="1200" b="0">
                <a:solidFill>
                  <a:srgbClr val="5B6372"/>
                </a:solidFill>
                <a:latin typeface="Arial"/>
              </a:rPr>
              <a:t>The cost of stopping defects happening — training, poka-yoke, better design.</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Measure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6 — Data Collection, KPIs, Check Sheets, and B</a:t>
            </a:r>
          </a:p>
          <a:p>
            <a:pPr algn="l">
              <a:spcAft>
                <a:spcPts val="300"/>
              </a:spcAft>
            </a:pPr>
            <a:r>
              <a:rPr sz="1100" b="0">
                <a:solidFill>
                  <a:srgbClr val="5B6372"/>
                </a:solidFill>
                <a:latin typeface="Arial"/>
              </a:rPr>
              <a:t>A data collection plan, an operational definition set and a working ch</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12 (elective) — Value Stream Map and Takt Time</a:t>
            </a:r>
          </a:p>
          <a:p>
            <a:pPr algn="l">
              <a:spcAft>
                <a:spcPts val="300"/>
              </a:spcAft>
            </a:pPr>
            <a:r>
              <a:rPr sz="1100" b="0">
                <a:solidFill>
                  <a:srgbClr val="5B6372"/>
                </a:solidFill>
                <a:latin typeface="Arial"/>
              </a:rPr>
              <a:t>A value stream map with lead time, process time and a calculated takt </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6</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Replace anecdote with evidence. Define KPIs with unambiguous operational definitions, design a check sheet, plan the sampling approach, and understand which data type you are collecting — because the data type drives the tool.</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data collection plan, an operational definition set and a working check sheet.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KPI definition, operational definitions, check sheets, sampling, data types</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Classify your data: continuous vs discrete, nominal vs ordinal — and why it matters.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KPIs with operational definitions, data source and collection frequency.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a check sheet capturing date, ticket ID, type, assignment time and defect category.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mutually exclusive defect categories so every observation lands in exactly 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sampling: how many, how often, by whom — and identify possible bias.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Data Collection, KPIs, Check Sheets, 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which KPI best reflects the customer pain point from your VOC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6 · activities/06 - Data Collection, KPIs, Check.../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6 — Your Data Files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data/daily-summary.csv</a:t>
            </a:r>
          </a:p>
          <a:p>
            <a:pPr algn="l">
              <a:spcAft>
                <a:spcPts val="300"/>
              </a:spcAft>
            </a:pPr>
            <a:r>
              <a:rPr sz="1000" b="0">
                <a:solidFill>
                  <a:srgbClr val="5B6372"/>
                </a:solidFill>
                <a:latin typeface="Arial"/>
              </a:rPr>
              <a:t>10 rows · date, tickets, mean_assignment_min, median_assignment_min, +2 more</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data/service-desk-tickets.csv</a:t>
            </a:r>
          </a:p>
          <a:p>
            <a:pPr algn="l">
              <a:spcAft>
                <a:spcPts val="300"/>
              </a:spcAft>
            </a:pPr>
            <a:r>
              <a:rPr sz="1000" b="0">
                <a:solidFill>
                  <a:srgbClr val="5B6372"/>
                </a:solidFill>
                <a:latin typeface="Arial"/>
              </a:rPr>
              <a:t>400 rows · ticket_id, date, ticket_type, channel, assigned_queue, agent, +5 more</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templates/check-sheet.csv</a:t>
            </a:r>
          </a:p>
          <a:p>
            <a:pPr algn="l">
              <a:spcAft>
                <a:spcPts val="300"/>
              </a:spcAft>
            </a:pPr>
            <a:r>
              <a:rPr sz="1000" b="0">
                <a:solidFill>
                  <a:srgbClr val="5B6372"/>
                </a:solidFill>
                <a:latin typeface="Arial"/>
              </a:rPr>
              <a:t>Worksheet to complete · date, ticket_id, ticket_type, assignment_time_min, +3 more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templates/data-collection-plan.csv</a:t>
            </a:r>
          </a:p>
          <a:p>
            <a:pPr algn="l">
              <a:spcAft>
                <a:spcPts val="300"/>
              </a:spcAft>
            </a:pPr>
            <a:r>
              <a:rPr sz="1000" b="0">
                <a:solidFill>
                  <a:srgbClr val="5B6372"/>
                </a:solidFill>
                <a:latin typeface="Arial"/>
              </a:rPr>
              <a:t>Worksheet to complete · kpi, operational_definition, data_type, +4 more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6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Data Collection, KPIs, Check Sheets, and Basic Metrics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Two different people reading your operational definition would record the same value for the same event.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MEASURE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12</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Extend process mapping into Lean metrics. Map the value stream with process and wait times, calculate process cycle efficiency, then compute takt time to see whether the process can meet customer demand.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value stream map with lead time, process time and a calculated takt time.</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SIPOC &amp; Process Map Builder, value stream mapping, lead time, WIP, takt time</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Map the value stream: each step with its process time and the wait time between steps. Start from your Activity 3 process map.</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https://alfredang.github.io/sipoc/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Total the value-added time and the lead time, then compute process cycle efficiency.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takt time = available working time / customer demand.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Elective — Value Stream Map and Takt 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Compare cycle time against takt time to identify the bottleneck step.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12 · activities/12 - Value Stream Map and Takt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12 — Your Data Files</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data/process-steps.csv</a:t>
            </a:r>
          </a:p>
          <a:p>
            <a:pPr algn="l">
              <a:spcAft>
                <a:spcPts val="300"/>
              </a:spcAft>
            </a:pPr>
            <a:r>
              <a:rPr sz="1000" b="0">
                <a:solidFill>
                  <a:srgbClr val="5B6372"/>
                </a:solidFill>
                <a:latin typeface="Arial"/>
              </a:rPr>
              <a:t>7 rows · step_no, activity, actor, system, process_time_min, +2 more</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429000"/>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templates/takt-time.csv</a:t>
            </a:r>
          </a:p>
          <a:p>
            <a:pPr algn="l">
              <a:spcAft>
                <a:spcPts val="300"/>
              </a:spcAft>
            </a:pPr>
            <a:r>
              <a:rPr sz="1000" b="0">
                <a:solidFill>
                  <a:srgbClr val="5B6372"/>
                </a:solidFill>
                <a:latin typeface="Arial"/>
              </a:rPr>
              <a:t>Worksheet to complete · input, value</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523951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965192"/>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templates/value-stream-map.csv</a:t>
            </a:r>
          </a:p>
          <a:p>
            <a:pPr algn="l">
              <a:spcAft>
                <a:spcPts val="300"/>
              </a:spcAft>
            </a:pPr>
            <a:r>
              <a:rPr sz="1000" b="0">
                <a:solidFill>
                  <a:srgbClr val="5B6372"/>
                </a:solidFill>
                <a:latin typeface="Arial"/>
              </a:rPr>
              <a:t>Worksheet to complete · step_no, activity, process_time_min, wait_time_min, +1 more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12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Elective — Value Stream Map and Takt Time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lead time equals the sum of all process and wait times, and takt time is expressed per unit.</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Measure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The 8 wastes — DOWNTIME — Defects, Overproduction, Waiting, Non-utilised talent, Transport, Inventory, Motion, Extra-processing.</a:t>
            </a:r>
          </a:p>
          <a:p>
            <a:pPr>
              <a:spcAft>
                <a:spcPts val="1000"/>
              </a:spcAft>
            </a:pPr>
            <a:r>
              <a:rPr sz="1500">
                <a:solidFill>
                  <a:srgbClr val="161B26"/>
                </a:solidFill>
                <a:latin typeface="Arial"/>
              </a:rPr>
              <a:t>•  Types of data — Continuous vs discrete; nominal vs ordinal — the data type drives the tool choice.</a:t>
            </a:r>
          </a:p>
          <a:p>
            <a:pPr>
              <a:spcAft>
                <a:spcPts val="1000"/>
              </a:spcAft>
            </a:pPr>
            <a:r>
              <a:rPr sz="1500">
                <a:solidFill>
                  <a:srgbClr val="161B26"/>
                </a:solidFill>
                <a:latin typeface="Arial"/>
              </a:rPr>
              <a:t>•  Data collection plan — What, who, when and how — with operational definitions to remove ambiguity.</a:t>
            </a:r>
          </a:p>
          <a:p>
            <a:pPr>
              <a:spcAft>
                <a:spcPts val="1000"/>
              </a:spcAft>
            </a:pPr>
            <a:r>
              <a:rPr sz="1500">
                <a:solidFill>
                  <a:srgbClr val="161B26"/>
                </a:solidFill>
                <a:latin typeface="Arial"/>
              </a:rPr>
              <a:t>•  Check sheets — A simple structured form is the most reliable way to capture process data.</a:t>
            </a:r>
          </a:p>
          <a:p>
            <a:pPr>
              <a:spcAft>
                <a:spcPts val="1000"/>
              </a:spcAft>
            </a:pPr>
            <a:r>
              <a:rPr sz="1500">
                <a:solidFill>
                  <a:srgbClr val="161B26"/>
                </a:solidFill>
                <a:latin typeface="Arial"/>
              </a:rPr>
              <a:t>•  Process metrics — Yield, DPU, DPO and DPMO quantify how well the process actually performs.</a:t>
            </a:r>
          </a:p>
          <a:p>
            <a:pPr>
              <a:spcAft>
                <a:spcPts val="1000"/>
              </a:spcAft>
            </a:pPr>
            <a:r>
              <a:rPr sz="1500">
                <a:solidFill>
                  <a:srgbClr val="161B26"/>
                </a:solidFill>
                <a:latin typeface="Arial"/>
              </a:rPr>
              <a:t>•  Sigma level — Convert DPMO into a sigma level to benchmark the process against Six Sigma.</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ANALYZE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Analyze — Find the Root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Variation · Pareto · Run charts · 5 Whys · Fishbone · Multi-voting · Evidence</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A</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20%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Analyze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Variation</a:t>
            </a:r>
          </a:p>
          <a:p>
            <a:pPr algn="l">
              <a:spcAft>
                <a:spcPts val="300"/>
              </a:spcAft>
            </a:pPr>
            <a:r>
              <a:rPr sz="1100" b="0">
                <a:solidFill>
                  <a:srgbClr val="5B6372"/>
                </a:solidFill>
                <a:latin typeface="Arial"/>
              </a:rPr>
              <a:t>Common cause is built into the process; special cause is an external, assignable signal.</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Pareto analysis</a:t>
            </a:r>
          </a:p>
          <a:p>
            <a:pPr algn="l">
              <a:spcAft>
                <a:spcPts val="300"/>
              </a:spcAft>
            </a:pPr>
            <a:r>
              <a:rPr sz="1100" b="0">
                <a:solidFill>
                  <a:srgbClr val="5B6372"/>
                </a:solidFill>
                <a:latin typeface="Arial"/>
              </a:rPr>
              <a:t>The 80/20 rule separates the vital few causes from the trivial many.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charts</a:t>
            </a:r>
          </a:p>
          <a:p>
            <a:pPr algn="l">
              <a:spcAft>
                <a:spcPts val="300"/>
              </a:spcAft>
            </a:pPr>
            <a:r>
              <a:rPr sz="1100" b="0">
                <a:solidFill>
                  <a:srgbClr val="5B6372"/>
                </a:solidFill>
                <a:latin typeface="Arial"/>
              </a:rPr>
              <a:t>Plot the metric over time to reveal trend, shift, cluster and oscillation.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 Whys</a:t>
            </a:r>
          </a:p>
          <a:p>
            <a:pPr algn="l">
              <a:spcAft>
                <a:spcPts val="300"/>
              </a:spcAft>
            </a:pPr>
            <a:r>
              <a:rPr sz="1100" b="0">
                <a:solidFill>
                  <a:srgbClr val="5B6372"/>
                </a:solidFill>
                <a:latin typeface="Arial"/>
              </a:rPr>
              <a:t>Ask why repeatedly to drill from the symptom down to an actionable cause.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Fishbone diagram</a:t>
            </a:r>
          </a:p>
          <a:p>
            <a:pPr algn="l">
              <a:spcAft>
                <a:spcPts val="300"/>
              </a:spcAft>
            </a:pPr>
            <a:r>
              <a:rPr sz="1100" b="0">
                <a:solidFill>
                  <a:srgbClr val="5B6372"/>
                </a:solidFill>
                <a:latin typeface="Arial"/>
              </a:rPr>
              <a:t>Organise candidate causes by category — Manpower, Method, Machine, Material, Measurement.</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Evidence testing</a:t>
            </a:r>
          </a:p>
          <a:p>
            <a:pPr algn="l">
              <a:spcAft>
                <a:spcPts val="300"/>
              </a:spcAft>
            </a:pPr>
            <a:r>
              <a:rPr sz="1100" b="0">
                <a:solidFill>
                  <a:srgbClr val="5B6372"/>
                </a:solidFill>
                <a:latin typeface="Arial"/>
              </a:rPr>
              <a:t>A cause is only a root cause when the data you collected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DMAIC · A — ANALYZE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Analyze — Why is this happening?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Analyze phase moves the team from a measured symptom to a proven, actionable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Analyze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Study the data and the process map</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Generate a list of potential causes (Xs)</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Organise the causes with a Fishbone diagram</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Drill down with the 5 Whys</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Test each candidate cause against the evidence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UNDERSTANDING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Two Kinds of Variation — and Two Different Responses</a:t>
            </a:r>
          </a:p>
        </p:txBody>
      </p:sp>
      <p:sp>
        <p:nvSpPr>
          <p:cNvPr id="6" name="Rectangle 5"/>
          <p:cNvSpPr/>
          <p:nvPr/>
        </p:nvSpPr>
        <p:spPr>
          <a:xfrm>
            <a:off x="777240"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51892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4786884" cy="457200"/>
          </a:xfrm>
          <a:prstGeom prst="rect">
            <a:avLst/>
          </a:prstGeom>
          <a:noFill/>
        </p:spPr>
        <p:txBody>
          <a:bodyPr wrap="square" anchor="t">
            <a:spAutoFit/>
          </a:bodyPr>
          <a:lstStyle/>
          <a:p>
            <a:pPr algn="l">
              <a:spcAft>
                <a:spcPts val="400"/>
              </a:spcAft>
            </a:pPr>
            <a:r>
              <a:rPr sz="1800" b="1">
                <a:solidFill>
                  <a:srgbClr val="1F6FEB"/>
                </a:solidFill>
                <a:latin typeface="Arial"/>
              </a:rPr>
              <a:t>Common cause</a:t>
            </a:r>
          </a:p>
        </p:txBody>
      </p:sp>
      <p:sp>
        <p:nvSpPr>
          <p:cNvPr id="9" name="TextBox 8"/>
          <p:cNvSpPr txBox="1"/>
          <p:nvPr/>
        </p:nvSpPr>
        <p:spPr>
          <a:xfrm>
            <a:off x="978408"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Built into the process</a:t>
            </a:r>
          </a:p>
        </p:txBody>
      </p:sp>
      <p:sp>
        <p:nvSpPr>
          <p:cNvPr id="10" name="TextBox 9"/>
          <p:cNvSpPr txBox="1"/>
          <p:nvPr/>
        </p:nvSpPr>
        <p:spPr>
          <a:xfrm>
            <a:off x="978408" y="3081528"/>
            <a:ext cx="4786884" cy="2743200"/>
          </a:xfrm>
          <a:prstGeom prst="rect">
            <a:avLst/>
          </a:prstGeom>
          <a:noFill/>
        </p:spPr>
        <p:txBody>
          <a:bodyPr wrap="square">
            <a:spAutoFit/>
          </a:bodyPr>
          <a:lstStyle/>
          <a:p>
            <a:pPr>
              <a:spcAft>
                <a:spcPts val="700"/>
              </a:spcAft>
            </a:pPr>
            <a:r>
              <a:rPr sz="1200">
                <a:solidFill>
                  <a:srgbClr val="161B26"/>
                </a:solidFill>
                <a:latin typeface="Arial"/>
              </a:rPr>
              <a:t>•  Always present, random, predictable range.</a:t>
            </a:r>
          </a:p>
          <a:p>
            <a:pPr>
              <a:spcAft>
                <a:spcPts val="700"/>
              </a:spcAft>
            </a:pPr>
            <a:r>
              <a:rPr sz="1200">
                <a:solidFill>
                  <a:srgbClr val="161B26"/>
                </a:solidFill>
                <a:latin typeface="Arial"/>
              </a:rPr>
              <a:t>•  The process is stable but imperfect.</a:t>
            </a:r>
          </a:p>
          <a:p>
            <a:pPr>
              <a:spcAft>
                <a:spcPts val="700"/>
              </a:spcAft>
            </a:pPr>
            <a:r>
              <a:rPr sz="1200">
                <a:solidFill>
                  <a:srgbClr val="161B26"/>
                </a:solidFill>
                <a:latin typeface="Arial"/>
              </a:rPr>
              <a:t>•  Response: change the PROCESS.</a:t>
            </a:r>
          </a:p>
          <a:p>
            <a:pPr>
              <a:spcAft>
                <a:spcPts val="700"/>
              </a:spcAft>
            </a:pPr>
            <a:r>
              <a:rPr sz="1200">
                <a:solidFill>
                  <a:srgbClr val="161B26"/>
                </a:solidFill>
                <a:latin typeface="Arial"/>
              </a:rPr>
              <a:t>•  Reacting to individual points makes it worse.</a:t>
            </a:r>
          </a:p>
        </p:txBody>
      </p:sp>
      <p:sp>
        <p:nvSpPr>
          <p:cNvPr id="11" name="Rectangle 10"/>
          <p:cNvSpPr/>
          <p:nvPr/>
        </p:nvSpPr>
        <p:spPr>
          <a:xfrm>
            <a:off x="6222492" y="1783080"/>
            <a:ext cx="51892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22492" y="1783080"/>
            <a:ext cx="5189220"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23660" y="2039112"/>
            <a:ext cx="4786884" cy="457200"/>
          </a:xfrm>
          <a:prstGeom prst="rect">
            <a:avLst/>
          </a:prstGeom>
          <a:noFill/>
        </p:spPr>
        <p:txBody>
          <a:bodyPr wrap="square" anchor="t">
            <a:spAutoFit/>
          </a:bodyPr>
          <a:lstStyle/>
          <a:p>
            <a:pPr algn="l">
              <a:spcAft>
                <a:spcPts val="400"/>
              </a:spcAft>
            </a:pPr>
            <a:r>
              <a:rPr sz="1800" b="1">
                <a:solidFill>
                  <a:srgbClr val="10B981"/>
                </a:solidFill>
                <a:latin typeface="Arial"/>
              </a:rPr>
              <a:t>Special cause</a:t>
            </a:r>
          </a:p>
        </p:txBody>
      </p:sp>
      <p:sp>
        <p:nvSpPr>
          <p:cNvPr id="14" name="TextBox 13"/>
          <p:cNvSpPr txBox="1"/>
          <p:nvPr/>
        </p:nvSpPr>
        <p:spPr>
          <a:xfrm>
            <a:off x="6423660" y="2532888"/>
            <a:ext cx="4786884" cy="457200"/>
          </a:xfrm>
          <a:prstGeom prst="rect">
            <a:avLst/>
          </a:prstGeom>
          <a:noFill/>
        </p:spPr>
        <p:txBody>
          <a:bodyPr wrap="square" anchor="t">
            <a:spAutoFit/>
          </a:bodyPr>
          <a:lstStyle/>
          <a:p>
            <a:pPr algn="l">
              <a:spcAft>
                <a:spcPts val="400"/>
              </a:spcAft>
            </a:pPr>
            <a:r>
              <a:rPr sz="1200" b="0">
                <a:solidFill>
                  <a:srgbClr val="5B6372"/>
                </a:solidFill>
                <a:latin typeface="Arial"/>
              </a:rPr>
              <a:t>An external, assignable signal</a:t>
            </a:r>
          </a:p>
        </p:txBody>
      </p:sp>
      <p:sp>
        <p:nvSpPr>
          <p:cNvPr id="15" name="TextBox 14"/>
          <p:cNvSpPr txBox="1"/>
          <p:nvPr/>
        </p:nvSpPr>
        <p:spPr>
          <a:xfrm>
            <a:off x="6423660" y="3081528"/>
            <a:ext cx="4786884" cy="2743200"/>
          </a:xfrm>
          <a:prstGeom prst="rect">
            <a:avLst/>
          </a:prstGeom>
          <a:noFill/>
        </p:spPr>
        <p:txBody>
          <a:bodyPr wrap="square">
            <a:spAutoFit/>
          </a:bodyPr>
          <a:lstStyle/>
          <a:p>
            <a:pPr>
              <a:spcAft>
                <a:spcPts val="700"/>
              </a:spcAft>
            </a:pPr>
            <a:r>
              <a:rPr sz="1200">
                <a:solidFill>
                  <a:srgbClr val="161B26"/>
                </a:solidFill>
                <a:latin typeface="Arial"/>
              </a:rPr>
              <a:t>•  Unusual, traceable to a specific event.</a:t>
            </a:r>
          </a:p>
          <a:p>
            <a:pPr>
              <a:spcAft>
                <a:spcPts val="700"/>
              </a:spcAft>
            </a:pPr>
            <a:r>
              <a:rPr sz="1200">
                <a:solidFill>
                  <a:srgbClr val="161B26"/>
                </a:solidFill>
                <a:latin typeface="Arial"/>
              </a:rPr>
              <a:t>•  Something changed that should not have.</a:t>
            </a:r>
          </a:p>
          <a:p>
            <a:pPr>
              <a:spcAft>
                <a:spcPts val="700"/>
              </a:spcAft>
            </a:pPr>
            <a:r>
              <a:rPr sz="1200">
                <a:solidFill>
                  <a:srgbClr val="161B26"/>
                </a:solidFill>
                <a:latin typeface="Arial"/>
              </a:rPr>
              <a:t>•  Response: investigate THAT event.</a:t>
            </a:r>
          </a:p>
          <a:p>
            <a:pPr>
              <a:spcAft>
                <a:spcPts val="700"/>
              </a:spcAft>
            </a:pPr>
            <a:r>
              <a:rPr sz="1200">
                <a:solidFill>
                  <a:srgbClr val="161B26"/>
                </a:solidFill>
                <a:latin typeface="Arial"/>
              </a:rPr>
              <a:t>•  Fix the cause, then remove it for good.</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THE MOST COMMON ANALYSIS MISTAKE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Do not react to a single data point.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Treating common-cause variation as if it were special cause — called tampering — reliably makes the process worse, not better.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ANALYZE · PARETO</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The Pareto Principle — the 80/20 rule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Roughly 80% of the effects come from 20% of the causes. Find that 20% and you get most of the improvement for a fraction of the effort.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WORKED EXAMPLE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Chart — Causes of Delayed Ticket Assignment</a:t>
            </a:r>
          </a:p>
        </p:txBody>
      </p:sp>
      <p:cxnSp>
        <p:nvCxnSpPr>
          <p:cNvPr id="6" name="Connector 5"/>
          <p:cNvCxnSpPr/>
          <p:nvPr/>
        </p:nvCxnSpPr>
        <p:spPr>
          <a:xfrm>
            <a:off x="1234440" y="4983480"/>
            <a:ext cx="905256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234440" y="2148840"/>
            <a:ext cx="0" cy="28346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sp>
        <p:nvSpPr>
          <p:cNvPr id="8" name="Rectangle 7"/>
          <p:cNvSpPr/>
          <p:nvPr/>
        </p:nvSpPr>
        <p:spPr>
          <a:xfrm>
            <a:off x="1536192" y="2432304"/>
            <a:ext cx="905256" cy="255117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234440" y="2139696"/>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210</a:t>
            </a:r>
          </a:p>
        </p:txBody>
      </p:sp>
      <p:sp>
        <p:nvSpPr>
          <p:cNvPr id="10" name="TextBox 9"/>
          <p:cNvSpPr txBox="1"/>
          <p:nvPr/>
        </p:nvSpPr>
        <p:spPr>
          <a:xfrm>
            <a:off x="11430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Unclear</a:t>
            </a:r>
          </a:p>
          <a:p>
            <a:pPr algn="ctr">
              <a:spcAft>
                <a:spcPts val="400"/>
              </a:spcAft>
            </a:pPr>
            <a:r>
              <a:rPr sz="1000" b="0">
                <a:solidFill>
                  <a:srgbClr val="5B6372"/>
                </a:solidFill>
                <a:latin typeface="Arial"/>
              </a:rPr>
              <a:t>triage rules</a:t>
            </a:r>
          </a:p>
        </p:txBody>
      </p:sp>
      <p:sp>
        <p:nvSpPr>
          <p:cNvPr id="11" name="Rectangle 10"/>
          <p:cNvSpPr/>
          <p:nvPr/>
        </p:nvSpPr>
        <p:spPr>
          <a:xfrm>
            <a:off x="3044952" y="3100470"/>
            <a:ext cx="905256" cy="188301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2743200" y="2807862"/>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155</a:t>
            </a:r>
          </a:p>
        </p:txBody>
      </p:sp>
      <p:sp>
        <p:nvSpPr>
          <p:cNvPr id="13" name="TextBox 12"/>
          <p:cNvSpPr txBox="1"/>
          <p:nvPr/>
        </p:nvSpPr>
        <p:spPr>
          <a:xfrm>
            <a:off x="265176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Peak-hour</a:t>
            </a:r>
          </a:p>
          <a:p>
            <a:pPr algn="ctr">
              <a:spcAft>
                <a:spcPts val="400"/>
              </a:spcAft>
            </a:pPr>
            <a:r>
              <a:rPr sz="1000" b="0">
                <a:solidFill>
                  <a:srgbClr val="5B6372"/>
                </a:solidFill>
                <a:latin typeface="Arial"/>
              </a:rPr>
              <a:t>understaffing</a:t>
            </a:r>
          </a:p>
        </p:txBody>
      </p:sp>
      <p:sp>
        <p:nvSpPr>
          <p:cNvPr id="14" name="Rectangle 13"/>
          <p:cNvSpPr/>
          <p:nvPr/>
        </p:nvSpPr>
        <p:spPr>
          <a:xfrm>
            <a:off x="4553712" y="3829377"/>
            <a:ext cx="905256" cy="115410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251960" y="353676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95</a:t>
            </a:r>
          </a:p>
        </p:txBody>
      </p:sp>
      <p:sp>
        <p:nvSpPr>
          <p:cNvPr id="16" name="TextBox 15"/>
          <p:cNvSpPr txBox="1"/>
          <p:nvPr/>
        </p:nvSpPr>
        <p:spPr>
          <a:xfrm>
            <a:off x="416052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Incomplete</a:t>
            </a:r>
          </a:p>
          <a:p>
            <a:pPr algn="ctr">
              <a:spcAft>
                <a:spcPts val="400"/>
              </a:spcAft>
            </a:pPr>
            <a:r>
              <a:rPr sz="1000" b="0">
                <a:solidFill>
                  <a:srgbClr val="5B6372"/>
                </a:solidFill>
                <a:latin typeface="Arial"/>
              </a:rPr>
              <a:t>ticket info</a:t>
            </a:r>
          </a:p>
        </p:txBody>
      </p:sp>
      <p:sp>
        <p:nvSpPr>
          <p:cNvPr id="17" name="Rectangle 16"/>
          <p:cNvSpPr/>
          <p:nvPr/>
        </p:nvSpPr>
        <p:spPr>
          <a:xfrm>
            <a:off x="6062472" y="4400355"/>
            <a:ext cx="905256" cy="583125"/>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760720" y="4107747"/>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48</a:t>
            </a:r>
          </a:p>
        </p:txBody>
      </p:sp>
      <p:sp>
        <p:nvSpPr>
          <p:cNvPr id="19" name="TextBox 18"/>
          <p:cNvSpPr txBox="1"/>
          <p:nvPr/>
        </p:nvSpPr>
        <p:spPr>
          <a:xfrm>
            <a:off x="566928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System</a:t>
            </a:r>
          </a:p>
          <a:p>
            <a:pPr algn="ctr">
              <a:spcAft>
                <a:spcPts val="400"/>
              </a:spcAft>
            </a:pPr>
            <a:r>
              <a:rPr sz="1000" b="0">
                <a:solidFill>
                  <a:srgbClr val="5B6372"/>
                </a:solidFill>
                <a:latin typeface="Arial"/>
              </a:rPr>
              <a:t>slowness</a:t>
            </a:r>
          </a:p>
        </p:txBody>
      </p:sp>
      <p:sp>
        <p:nvSpPr>
          <p:cNvPr id="20" name="Rectangle 19"/>
          <p:cNvSpPr/>
          <p:nvPr/>
        </p:nvSpPr>
        <p:spPr>
          <a:xfrm>
            <a:off x="7571232" y="4619027"/>
            <a:ext cx="905256" cy="364453"/>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269480" y="4326419"/>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30</a:t>
            </a:r>
          </a:p>
        </p:txBody>
      </p:sp>
      <p:sp>
        <p:nvSpPr>
          <p:cNvPr id="22" name="TextBox 21"/>
          <p:cNvSpPr txBox="1"/>
          <p:nvPr/>
        </p:nvSpPr>
        <p:spPr>
          <a:xfrm>
            <a:off x="717804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Wrong</a:t>
            </a:r>
          </a:p>
          <a:p>
            <a:pPr algn="ctr">
              <a:spcAft>
                <a:spcPts val="400"/>
              </a:spcAft>
            </a:pPr>
            <a:r>
              <a:rPr sz="1000" b="0">
                <a:solidFill>
                  <a:srgbClr val="5B6372"/>
                </a:solidFill>
                <a:latin typeface="Arial"/>
              </a:rPr>
              <a:t>category</a:t>
            </a:r>
          </a:p>
        </p:txBody>
      </p:sp>
      <p:sp>
        <p:nvSpPr>
          <p:cNvPr id="23" name="Rectangle 22"/>
          <p:cNvSpPr/>
          <p:nvPr/>
        </p:nvSpPr>
        <p:spPr>
          <a:xfrm>
            <a:off x="9079992" y="4837699"/>
            <a:ext cx="905256" cy="14578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778240" y="4545091"/>
            <a:ext cx="1508760" cy="274320"/>
          </a:xfrm>
          <a:prstGeom prst="rect">
            <a:avLst/>
          </a:prstGeom>
          <a:noFill/>
        </p:spPr>
        <p:txBody>
          <a:bodyPr wrap="square" anchor="t">
            <a:spAutoFit/>
          </a:bodyPr>
          <a:lstStyle/>
          <a:p>
            <a:pPr algn="ctr">
              <a:spcAft>
                <a:spcPts val="400"/>
              </a:spcAft>
            </a:pPr>
            <a:r>
              <a:rPr sz="1100" b="1">
                <a:solidFill>
                  <a:srgbClr val="161B26"/>
                </a:solidFill>
                <a:latin typeface="Arial"/>
              </a:rPr>
              <a:t>12</a:t>
            </a:r>
          </a:p>
        </p:txBody>
      </p:sp>
      <p:sp>
        <p:nvSpPr>
          <p:cNvPr id="25" name="TextBox 24"/>
          <p:cNvSpPr txBox="1"/>
          <p:nvPr/>
        </p:nvSpPr>
        <p:spPr>
          <a:xfrm>
            <a:off x="8686800" y="5093208"/>
            <a:ext cx="1691640" cy="658368"/>
          </a:xfrm>
          <a:prstGeom prst="rect">
            <a:avLst/>
          </a:prstGeom>
          <a:noFill/>
        </p:spPr>
        <p:txBody>
          <a:bodyPr wrap="square" anchor="t">
            <a:spAutoFit/>
          </a:bodyPr>
          <a:lstStyle/>
          <a:p>
            <a:pPr algn="ctr">
              <a:spcAft>
                <a:spcPts val="400"/>
              </a:spcAft>
            </a:pPr>
            <a:r>
              <a:rPr sz="1000" b="0">
                <a:solidFill>
                  <a:srgbClr val="5B6372"/>
                </a:solidFill>
                <a:latin typeface="Arial"/>
              </a:rPr>
              <a:t>Other</a:t>
            </a:r>
          </a:p>
        </p:txBody>
      </p:sp>
      <p:cxnSp>
        <p:nvCxnSpPr>
          <p:cNvPr id="26" name="Connector 25"/>
          <p:cNvCxnSpPr/>
          <p:nvPr/>
        </p:nvCxnSpPr>
        <p:spPr>
          <a:xfrm flipV="1">
            <a:off x="1988820" y="3290426"/>
            <a:ext cx="1508760" cy="71896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97580" y="2849769"/>
            <a:ext cx="1508760" cy="440657"/>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5006340" y="2627121"/>
            <a:ext cx="1508760" cy="222648"/>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6515100" y="2487966"/>
            <a:ext cx="1508760" cy="139155"/>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23860" y="2432304"/>
            <a:ext cx="1508760" cy="55662"/>
          </a:xfrm>
          <a:prstGeom prst="line">
            <a:avLst/>
          </a:prstGeom>
          <a:ln w="25400">
            <a:solidFill>
              <a:srgbClr val="DC2C2C"/>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924812" y="394538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1028700" y="387223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38%</a:t>
            </a:r>
          </a:p>
        </p:txBody>
      </p:sp>
      <p:sp>
        <p:nvSpPr>
          <p:cNvPr id="33" name="Oval 32"/>
          <p:cNvSpPr/>
          <p:nvPr/>
        </p:nvSpPr>
        <p:spPr>
          <a:xfrm>
            <a:off x="3433572" y="322641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2537460" y="3153266"/>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66%</a:t>
            </a:r>
          </a:p>
        </p:txBody>
      </p:sp>
      <p:sp>
        <p:nvSpPr>
          <p:cNvPr id="35" name="Oval 34"/>
          <p:cNvSpPr/>
          <p:nvPr/>
        </p:nvSpPr>
        <p:spPr>
          <a:xfrm>
            <a:off x="4942332" y="2785761"/>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4594860" y="2410857"/>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84%</a:t>
            </a:r>
          </a:p>
        </p:txBody>
      </p:sp>
      <p:sp>
        <p:nvSpPr>
          <p:cNvPr id="37" name="Oval 36"/>
          <p:cNvSpPr/>
          <p:nvPr/>
        </p:nvSpPr>
        <p:spPr>
          <a:xfrm>
            <a:off x="6451092" y="2563113"/>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103620" y="2188209"/>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92%</a:t>
            </a:r>
          </a:p>
        </p:txBody>
      </p:sp>
      <p:sp>
        <p:nvSpPr>
          <p:cNvPr id="39" name="Oval 38"/>
          <p:cNvSpPr/>
          <p:nvPr/>
        </p:nvSpPr>
        <p:spPr>
          <a:xfrm>
            <a:off x="7959852" y="2423958"/>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612380" y="2049054"/>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98%</a:t>
            </a:r>
          </a:p>
        </p:txBody>
      </p:sp>
      <p:sp>
        <p:nvSpPr>
          <p:cNvPr id="41" name="Oval 40"/>
          <p:cNvSpPr/>
          <p:nvPr/>
        </p:nvSpPr>
        <p:spPr>
          <a:xfrm>
            <a:off x="9468612" y="2368296"/>
            <a:ext cx="128016" cy="128016"/>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9121140" y="1993392"/>
            <a:ext cx="822960" cy="274320"/>
          </a:xfrm>
          <a:prstGeom prst="rect">
            <a:avLst/>
          </a:prstGeom>
          <a:noFill/>
        </p:spPr>
        <p:txBody>
          <a:bodyPr wrap="square" anchor="t">
            <a:spAutoFit/>
          </a:bodyPr>
          <a:lstStyle/>
          <a:p>
            <a:pPr algn="ctr">
              <a:spcAft>
                <a:spcPts val="400"/>
              </a:spcAft>
            </a:pPr>
            <a:r>
              <a:rPr sz="1000" b="1">
                <a:solidFill>
                  <a:srgbClr val="DC2C2C"/>
                </a:solidFill>
                <a:latin typeface="Arial"/>
              </a:rPr>
              <a:t>100%</a:t>
            </a:r>
          </a:p>
        </p:txBody>
      </p:sp>
      <p:cxnSp>
        <p:nvCxnSpPr>
          <p:cNvPr id="43" name="Connector 42"/>
          <p:cNvCxnSpPr/>
          <p:nvPr/>
        </p:nvCxnSpPr>
        <p:spPr>
          <a:xfrm>
            <a:off x="1234440" y="2942539"/>
            <a:ext cx="9052560" cy="0"/>
          </a:xfrm>
          <a:prstGeom prst="line">
            <a:avLst/>
          </a:prstGeom>
          <a:ln w="12700">
            <a:solidFill>
              <a:srgbClr val="5B6372"/>
            </a:solidFill>
            <a:prstDash val="dash"/>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0341864" y="2796235"/>
            <a:ext cx="822960" cy="274320"/>
          </a:xfrm>
          <a:prstGeom prst="rect">
            <a:avLst/>
          </a:prstGeom>
          <a:noFill/>
        </p:spPr>
        <p:txBody>
          <a:bodyPr wrap="square" anchor="t">
            <a:spAutoFit/>
          </a:bodyPr>
          <a:lstStyle/>
          <a:p>
            <a:pPr algn="l">
              <a:spcAft>
                <a:spcPts val="400"/>
              </a:spcAft>
            </a:pPr>
            <a:r>
              <a:rPr sz="1000" b="1">
                <a:solidFill>
                  <a:srgbClr val="5B6372"/>
                </a:solidFill>
                <a:latin typeface="Arial"/>
              </a:rPr>
              <a:t>80%</a:t>
            </a:r>
          </a:p>
        </p:txBody>
      </p:sp>
      <p:sp>
        <p:nvSpPr>
          <p:cNvPr id="45" name="TextBox 44"/>
          <p:cNvSpPr txBox="1"/>
          <p:nvPr/>
        </p:nvSpPr>
        <p:spPr>
          <a:xfrm>
            <a:off x="777240" y="58978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Two categories — unclear triage rules and peak-hour understaffing — account for about 66% of all delays. Start there.</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PARETO ·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How to Build a Pareto Chart</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Agree the categories and make them mutually exclusive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Count the occurrences in each category</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Sort the categories in descending order</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Calculate the cumulative percentage</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Plot bars plus the cumulative line and read off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SEEING BEHAVIOUR OVER TIME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Run Chart — Average Ticket Assignment Time by Day</a:t>
            </a:r>
          </a:p>
        </p:txBody>
      </p:sp>
      <p:cxnSp>
        <p:nvCxnSpPr>
          <p:cNvPr id="6" name="Connector 5"/>
          <p:cNvCxnSpPr/>
          <p:nvPr/>
        </p:nvCxnSpPr>
        <p:spPr>
          <a:xfrm>
            <a:off x="1188720" y="5257800"/>
            <a:ext cx="9418320" cy="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88720" y="1965960"/>
            <a:ext cx="0" cy="3291840"/>
          </a:xfrm>
          <a:prstGeom prst="line">
            <a:avLst/>
          </a:prstGeom>
          <a:ln w="19050">
            <a:solidFill>
              <a:srgbClr val="5B637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88720" y="3883185"/>
            <a:ext cx="9418320" cy="0"/>
          </a:xfrm>
          <a:prstGeom prst="line">
            <a:avLst/>
          </a:prstGeom>
          <a:ln w="20320">
            <a:solidFill>
              <a:srgbClr val="F59E0B"/>
            </a:solidFill>
            <a:prstDash val="dash"/>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0643616" y="3718593"/>
            <a:ext cx="1280160" cy="329184"/>
          </a:xfrm>
          <a:prstGeom prst="rect">
            <a:avLst/>
          </a:prstGeom>
          <a:noFill/>
        </p:spPr>
        <p:txBody>
          <a:bodyPr wrap="square" anchor="t">
            <a:spAutoFit/>
          </a:bodyPr>
          <a:lstStyle/>
          <a:p>
            <a:pPr algn="l">
              <a:spcAft>
                <a:spcPts val="400"/>
              </a:spcAft>
            </a:pPr>
            <a:r>
              <a:rPr sz="1000" b="1">
                <a:solidFill>
                  <a:srgbClr val="F59E0B"/>
                </a:solidFill>
                <a:latin typeface="Arial"/>
              </a:rPr>
              <a:t>Median 9.5</a:t>
            </a:r>
          </a:p>
        </p:txBody>
      </p:sp>
      <p:cxnSp>
        <p:nvCxnSpPr>
          <p:cNvPr id="10" name="Connector 9"/>
          <p:cNvCxnSpPr/>
          <p:nvPr/>
        </p:nvCxnSpPr>
        <p:spPr>
          <a:xfrm>
            <a:off x="1188720" y="4154490"/>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2235200" y="3792750"/>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3281680" y="3069269"/>
            <a:ext cx="1046480" cy="72348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4328160" y="3069269"/>
            <a:ext cx="1046480" cy="452175"/>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374640" y="3521444"/>
            <a:ext cx="1046480" cy="1356528"/>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6421120" y="4244926"/>
            <a:ext cx="1046480" cy="633046"/>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7467600" y="2345787"/>
            <a:ext cx="1046480" cy="1899139"/>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14080" y="2345787"/>
            <a:ext cx="1046480" cy="361741"/>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560560" y="2707528"/>
            <a:ext cx="1046480" cy="126609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120140" y="408591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a:t>
            </a:r>
          </a:p>
        </p:txBody>
      </p:sp>
      <p:sp>
        <p:nvSpPr>
          <p:cNvPr id="21" name="Oval 20"/>
          <p:cNvSpPr/>
          <p:nvPr/>
        </p:nvSpPr>
        <p:spPr>
          <a:xfrm>
            <a:off x="2166620" y="4447651"/>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8694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D2</a:t>
            </a:r>
          </a:p>
        </p:txBody>
      </p:sp>
      <p:sp>
        <p:nvSpPr>
          <p:cNvPr id="23" name="Oval 22"/>
          <p:cNvSpPr/>
          <p:nvPr/>
        </p:nvSpPr>
        <p:spPr>
          <a:xfrm>
            <a:off x="3213100" y="372417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9159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D3</a:t>
            </a:r>
          </a:p>
        </p:txBody>
      </p:sp>
      <p:sp>
        <p:nvSpPr>
          <p:cNvPr id="25" name="Oval 24"/>
          <p:cNvSpPr/>
          <p:nvPr/>
        </p:nvSpPr>
        <p:spPr>
          <a:xfrm>
            <a:off x="4259580" y="3000689"/>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39624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D4</a:t>
            </a:r>
          </a:p>
        </p:txBody>
      </p:sp>
      <p:sp>
        <p:nvSpPr>
          <p:cNvPr id="27" name="Oval 26"/>
          <p:cNvSpPr/>
          <p:nvPr/>
        </p:nvSpPr>
        <p:spPr>
          <a:xfrm>
            <a:off x="5306060" y="3452864"/>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0088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D5</a:t>
            </a:r>
          </a:p>
        </p:txBody>
      </p:sp>
      <p:sp>
        <p:nvSpPr>
          <p:cNvPr id="29" name="Oval 28"/>
          <p:cNvSpPr/>
          <p:nvPr/>
        </p:nvSpPr>
        <p:spPr>
          <a:xfrm>
            <a:off x="6352540" y="4809392"/>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05536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D6</a:t>
            </a:r>
          </a:p>
        </p:txBody>
      </p:sp>
      <p:sp>
        <p:nvSpPr>
          <p:cNvPr id="31" name="Oval 30"/>
          <p:cNvSpPr/>
          <p:nvPr/>
        </p:nvSpPr>
        <p:spPr>
          <a:xfrm>
            <a:off x="7399020" y="4176346"/>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0184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D7</a:t>
            </a:r>
          </a:p>
        </p:txBody>
      </p:sp>
      <p:sp>
        <p:nvSpPr>
          <p:cNvPr id="33" name="Oval 32"/>
          <p:cNvSpPr/>
          <p:nvPr/>
        </p:nvSpPr>
        <p:spPr>
          <a:xfrm>
            <a:off x="8445500" y="2277207"/>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14832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D8</a:t>
            </a:r>
          </a:p>
        </p:txBody>
      </p:sp>
      <p:sp>
        <p:nvSpPr>
          <p:cNvPr id="35" name="Oval 34"/>
          <p:cNvSpPr/>
          <p:nvPr/>
        </p:nvSpPr>
        <p:spPr>
          <a:xfrm>
            <a:off x="9491980" y="2638948"/>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19480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D9</a:t>
            </a:r>
          </a:p>
        </p:txBody>
      </p:sp>
      <p:sp>
        <p:nvSpPr>
          <p:cNvPr id="37" name="Oval 36"/>
          <p:cNvSpPr/>
          <p:nvPr/>
        </p:nvSpPr>
        <p:spPr>
          <a:xfrm>
            <a:off x="10538460" y="3905040"/>
            <a:ext cx="137160" cy="137160"/>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10241280" y="5349240"/>
            <a:ext cx="731520" cy="365760"/>
          </a:xfrm>
          <a:prstGeom prst="rect">
            <a:avLst/>
          </a:prstGeom>
          <a:noFill/>
        </p:spPr>
        <p:txBody>
          <a:bodyPr wrap="square" anchor="t">
            <a:spAutoFit/>
          </a:bodyPr>
          <a:lstStyle/>
          <a:p>
            <a:pPr algn="ctr">
              <a:spcAft>
                <a:spcPts val="400"/>
              </a:spcAft>
            </a:pPr>
            <a:r>
              <a:rPr sz="900" b="0">
                <a:solidFill>
                  <a:srgbClr val="5B6372"/>
                </a:solidFill>
                <a:latin typeface="Arial"/>
              </a:rPr>
              <a:t>D10</a:t>
            </a:r>
          </a:p>
        </p:txBody>
      </p:sp>
      <p:sp>
        <p:nvSpPr>
          <p:cNvPr id="39" name="TextBox 38"/>
          <p:cNvSpPr txBox="1"/>
          <p:nvPr/>
        </p:nvSpPr>
        <p:spPr>
          <a:xfrm>
            <a:off x="777240" y="5669280"/>
            <a:ext cx="10607040" cy="457200"/>
          </a:xfrm>
          <a:prstGeom prst="rect">
            <a:avLst/>
          </a:prstGeom>
          <a:noFill/>
        </p:spPr>
        <p:txBody>
          <a:bodyPr wrap="square" anchor="t">
            <a:spAutoFit/>
          </a:bodyPr>
          <a:lstStyle/>
          <a:p>
            <a:pPr algn="ctr">
              <a:spcAft>
                <a:spcPts val="400"/>
              </a:spcAft>
            </a:pPr>
            <a:r>
              <a:rPr sz="1300" b="0">
                <a:solidFill>
                  <a:srgbClr val="5B6372"/>
                </a:solidFill>
                <a:latin typeface="Arial"/>
              </a:rPr>
              <a:t>A single point above the median is normal variation. A run of 7+ points on one side signals a real shift.</a:t>
            </a:r>
          </a:p>
        </p:txBody>
      </p:sp>
      <p:sp>
        <p:nvSpPr>
          <p:cNvPr id="40" name="TextBox 3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41" name="TextBox 4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2" name="TextBox 4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RUN CHART RULES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Reading a Run Chart — Five Patterns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Trend</a:t>
            </a:r>
          </a:p>
          <a:p>
            <a:pPr algn="l">
              <a:spcAft>
                <a:spcPts val="300"/>
              </a:spcAft>
            </a:pPr>
            <a:r>
              <a:rPr sz="1000" b="0">
                <a:solidFill>
                  <a:srgbClr val="5B6372"/>
                </a:solidFill>
                <a:latin typeface="Arial"/>
              </a:rPr>
              <a:t>7 or more consecutive points rising or falling — the process is drifting.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Shift</a:t>
            </a:r>
          </a:p>
          <a:p>
            <a:pPr algn="l">
              <a:spcAft>
                <a:spcPts val="300"/>
              </a:spcAft>
            </a:pPr>
            <a:r>
              <a:rPr sz="1000" b="0">
                <a:solidFill>
                  <a:srgbClr val="5B6372"/>
                </a:solidFill>
                <a:latin typeface="Arial"/>
              </a:rPr>
              <a:t>8 or more consecutive points on one side of the median — something changed.</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Cluster</a:t>
            </a:r>
          </a:p>
          <a:p>
            <a:pPr algn="l">
              <a:spcAft>
                <a:spcPts val="300"/>
              </a:spcAft>
            </a:pPr>
            <a:r>
              <a:rPr sz="1000" b="0">
                <a:solidFill>
                  <a:srgbClr val="5B6372"/>
                </a:solidFill>
                <a:latin typeface="Arial"/>
              </a:rPr>
              <a:t>Points grouped together — suggests a periodic or batch effect.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Oscillation</a:t>
            </a:r>
          </a:p>
          <a:p>
            <a:pPr algn="l">
              <a:spcAft>
                <a:spcPts val="300"/>
              </a:spcAft>
            </a:pPr>
            <a:r>
              <a:rPr sz="1000" b="0">
                <a:solidFill>
                  <a:srgbClr val="5B6372"/>
                </a:solidFill>
                <a:latin typeface="Arial"/>
              </a:rPr>
              <a:t>Rapid up-down swings — the process is unstable, often from over-adjustment.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Mixture</a:t>
            </a:r>
          </a:p>
          <a:p>
            <a:pPr algn="l">
              <a:spcAft>
                <a:spcPts val="300"/>
              </a:spcAft>
            </a:pPr>
            <a:r>
              <a:rPr sz="1000" b="0">
                <a:solidFill>
                  <a:srgbClr val="5B6372"/>
                </a:solidFill>
                <a:latin typeface="Arial"/>
              </a:rPr>
              <a:t>Points avoiding the centre line — often two different processes combined.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 pattern</a:t>
            </a:r>
          </a:p>
          <a:p>
            <a:pPr algn="l">
              <a:spcAft>
                <a:spcPts val="300"/>
              </a:spcAft>
            </a:pPr>
            <a:r>
              <a:rPr sz="1000" b="0">
                <a:solidFill>
                  <a:srgbClr val="5B6372"/>
                </a:solidFill>
                <a:latin typeface="Arial"/>
              </a:rPr>
              <a:t>Random scatter around the median — stable, common-cause variation only.</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ANALYZE · ROOT CAUSE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a root cause?</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deepest cause in the chain that you can actually act on — remove it, and the problem does not come back.</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WHY EVIDENCE MATTERS</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Fixing the wrong cause wastes the whole project.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If the analysis stops at the first plausible explanation, the team implements a change, the metric does not move, and confidence in the method is lost.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5 Whys Technique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Start with the problem</a:t>
            </a:r>
          </a:p>
          <a:p>
            <a:pPr algn="l">
              <a:spcAft>
                <a:spcPts val="300"/>
              </a:spcAft>
            </a:pPr>
            <a:r>
              <a:rPr sz="1100" b="0">
                <a:solidFill>
                  <a:srgbClr val="5B6372"/>
                </a:solidFill>
                <a:latin typeface="Arial"/>
              </a:rPr>
              <a:t>State the effect precisely, using the data you measured.</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Ask why — and answer with evidence</a:t>
            </a:r>
          </a:p>
          <a:p>
            <a:pPr algn="l">
              <a:spcAft>
                <a:spcPts val="300"/>
              </a:spcAft>
            </a:pPr>
            <a:r>
              <a:rPr sz="1100" b="0">
                <a:solidFill>
                  <a:srgbClr val="5B6372"/>
                </a:solidFill>
                <a:latin typeface="Arial"/>
              </a:rPr>
              <a:t>Each answer must be something you can point to, not a guess.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Repeat about five times</a:t>
            </a:r>
          </a:p>
          <a:p>
            <a:pPr algn="l">
              <a:spcAft>
                <a:spcPts val="300"/>
              </a:spcAft>
            </a:pPr>
            <a:r>
              <a:rPr sz="1100" b="0">
                <a:solidFill>
                  <a:srgbClr val="5B6372"/>
                </a:solidFill>
                <a:latin typeface="Arial"/>
              </a:rPr>
              <a:t>Five is a guide, not a rule — stop when you reach an actionable cause.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Watch for blame</a:t>
            </a:r>
          </a:p>
          <a:p>
            <a:pPr algn="l">
              <a:spcAft>
                <a:spcPts val="300"/>
              </a:spcAft>
            </a:pPr>
            <a:r>
              <a:rPr sz="1100" b="0">
                <a:solidFill>
                  <a:srgbClr val="5B6372"/>
                </a:solidFill>
                <a:latin typeface="Arial"/>
              </a:rPr>
              <a:t>If an answer names a person rather than a process, ask why again.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Stop at actionable</a:t>
            </a:r>
          </a:p>
          <a:p>
            <a:pPr algn="l">
              <a:spcAft>
                <a:spcPts val="300"/>
              </a:spcAft>
            </a:pPr>
            <a:r>
              <a:rPr sz="1100" b="0">
                <a:solidFill>
                  <a:srgbClr val="5B6372"/>
                </a:solidFill>
                <a:latin typeface="Arial"/>
              </a:rPr>
              <a:t>The root cause must be something within the team's power to change.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Test the final cause against the evidence before acting on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5 WHYS IN ACTION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 Whys — Worked Example: Ticket Assignment Delay</a:t>
            </a:r>
          </a:p>
        </p:txBody>
      </p:sp>
      <p:sp>
        <p:nvSpPr>
          <p:cNvPr id="6" name="Rectangle 5"/>
          <p:cNvSpPr/>
          <p:nvPr/>
        </p:nvSpPr>
        <p:spPr>
          <a:xfrm>
            <a:off x="777240"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PROBLEM: Tickets take 9.4 hours to assign vs a 4-hour target</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2" name="Rectangle 11"/>
          <p:cNvSpPr/>
          <p:nvPr/>
        </p:nvSpPr>
        <p:spPr>
          <a:xfrm>
            <a:off x="2966313"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Tickets wait in the triage queue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18" name="Rectangle 17"/>
          <p:cNvSpPr/>
          <p:nvPr/>
        </p:nvSpPr>
        <p:spPr>
          <a:xfrm>
            <a:off x="5155386"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Only one agent triages, and only in the morning</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24" name="Rectangle 23"/>
          <p:cNvSpPr/>
          <p:nvPr/>
        </p:nvSpPr>
        <p:spPr>
          <a:xfrm>
            <a:off x="7344459"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WHY? Triage is not in anyone's core role definition</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7C3AED"/>
                </a:solidFill>
                <a:latin typeface="Arial"/>
              </a:rPr>
              <a:t>▶</a:t>
            </a:r>
          </a:p>
        </p:txBody>
      </p:sp>
      <p:sp>
        <p:nvSpPr>
          <p:cNvPr id="30" name="Rectangle 29"/>
          <p:cNvSpPr/>
          <p:nvPr/>
        </p:nvSpPr>
        <p:spPr>
          <a:xfrm>
            <a:off x="9533532" y="2404872"/>
            <a:ext cx="1878177" cy="2734056"/>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404872"/>
            <a:ext cx="1878177"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788920"/>
            <a:ext cx="731520" cy="731520"/>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788920"/>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703320"/>
            <a:ext cx="1622145" cy="1325880"/>
          </a:xfrm>
          <a:prstGeom prst="rect">
            <a:avLst/>
          </a:prstGeom>
          <a:noFill/>
        </p:spPr>
        <p:txBody>
          <a:bodyPr wrap="square" anchor="t">
            <a:spAutoFit/>
          </a:bodyPr>
          <a:lstStyle/>
          <a:p>
            <a:pPr algn="ctr">
              <a:spcAft>
                <a:spcPts val="400"/>
              </a:spcAft>
            </a:pPr>
            <a:r>
              <a:rPr sz="1300" b="0">
                <a:solidFill>
                  <a:srgbClr val="161B26"/>
                </a:solidFill>
                <a:latin typeface="Arial"/>
              </a:rPr>
              <a:t>ROOT CAUSE: Triage ownership was never assigned when the process changed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CAUSE AND EFFECT · THE 5Ms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Fishbone (Ishikawa) — Ticket Assignment Is Delayed</a:t>
            </a:r>
          </a:p>
        </p:txBody>
      </p:sp>
      <p:cxnSp>
        <p:nvCxnSpPr>
          <p:cNvPr id="6" name="Connector 5"/>
          <p:cNvCxnSpPr/>
          <p:nvPr/>
        </p:nvCxnSpPr>
        <p:spPr>
          <a:xfrm>
            <a:off x="777240" y="3950208"/>
            <a:ext cx="7863840" cy="0"/>
          </a:xfrm>
          <a:prstGeom prst="line">
            <a:avLst/>
          </a:prstGeom>
          <a:ln w="31750">
            <a:solidFill>
              <a:srgbClr val="161B26"/>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8641080" y="3310128"/>
            <a:ext cx="2148840" cy="128016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41080" y="3310128"/>
            <a:ext cx="2148840" cy="1280160"/>
          </a:xfrm>
          <a:prstGeom prst="rect">
            <a:avLst/>
          </a:prstGeom>
          <a:noFill/>
        </p:spPr>
        <p:txBody>
          <a:bodyPr wrap="square" anchor="ctr">
            <a:spAutoFit/>
          </a:bodyPr>
          <a:lstStyle/>
          <a:p>
            <a:pPr algn="ctr">
              <a:spcAft>
                <a:spcPts val="400"/>
              </a:spcAft>
            </a:pPr>
            <a:r>
              <a:rPr sz="1300" b="1">
                <a:solidFill>
                  <a:srgbClr val="FFFFFF"/>
                </a:solidFill>
                <a:latin typeface="Arial"/>
              </a:rPr>
              <a:t>Ticket</a:t>
            </a:r>
          </a:p>
          <a:p>
            <a:pPr algn="ctr">
              <a:spcAft>
                <a:spcPts val="400"/>
              </a:spcAft>
            </a:pPr>
            <a:r>
              <a:rPr sz="1300" b="1">
                <a:solidFill>
                  <a:srgbClr val="FFFFFF"/>
                </a:solidFill>
                <a:latin typeface="Arial"/>
              </a:rPr>
              <a:t>assignment</a:t>
            </a:r>
          </a:p>
          <a:p>
            <a:pPr algn="ctr">
              <a:spcAft>
                <a:spcPts val="400"/>
              </a:spcAft>
            </a:pPr>
            <a:r>
              <a:rPr sz="1300" b="1">
                <a:solidFill>
                  <a:srgbClr val="FFFFFF"/>
                </a:solidFill>
                <a:latin typeface="Arial"/>
              </a:rPr>
              <a:t>is delayed</a:t>
            </a:r>
          </a:p>
        </p:txBody>
      </p:sp>
      <p:cxnSp>
        <p:nvCxnSpPr>
          <p:cNvPr id="9" name="Connector 8"/>
          <p:cNvCxnSpPr/>
          <p:nvPr/>
        </p:nvCxnSpPr>
        <p:spPr>
          <a:xfrm>
            <a:off x="233172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53162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53162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Manpower</a:t>
            </a:r>
          </a:p>
        </p:txBody>
      </p:sp>
      <p:sp>
        <p:nvSpPr>
          <p:cNvPr id="12" name="TextBox 11"/>
          <p:cNvSpPr txBox="1"/>
          <p:nvPr/>
        </p:nvSpPr>
        <p:spPr>
          <a:xfrm>
            <a:off x="1371600" y="1865377"/>
            <a:ext cx="2148840" cy="868680"/>
          </a:xfrm>
          <a:prstGeom prst="rect">
            <a:avLst/>
          </a:prstGeom>
          <a:noFill/>
        </p:spPr>
        <p:txBody>
          <a:bodyPr wrap="square">
            <a:spAutoFit/>
          </a:bodyPr>
          <a:lstStyle/>
          <a:p>
            <a:pPr>
              <a:spcAft>
                <a:spcPts val="100"/>
              </a:spcAft>
            </a:pPr>
            <a:r>
              <a:rPr sz="1000">
                <a:solidFill>
                  <a:srgbClr val="161B26"/>
                </a:solidFill>
                <a:latin typeface="Arial"/>
              </a:rPr>
              <a:t>•  One triage agent only</a:t>
            </a:r>
          </a:p>
          <a:p>
            <a:pPr>
              <a:spcAft>
                <a:spcPts val="100"/>
              </a:spcAft>
            </a:pPr>
            <a:r>
              <a:rPr sz="1000">
                <a:solidFill>
                  <a:srgbClr val="161B26"/>
                </a:solidFill>
                <a:latin typeface="Arial"/>
              </a:rPr>
              <a:t>•  No cover at peak</a:t>
            </a:r>
          </a:p>
          <a:p>
            <a:pPr>
              <a:spcAft>
                <a:spcPts val="100"/>
              </a:spcAft>
            </a:pPr>
            <a:r>
              <a:rPr sz="1000">
                <a:solidFill>
                  <a:srgbClr val="161B26"/>
                </a:solidFill>
                <a:latin typeface="Arial"/>
              </a:rPr>
              <a:t>•  Unclear ownership</a:t>
            </a:r>
          </a:p>
        </p:txBody>
      </p:sp>
      <p:cxnSp>
        <p:nvCxnSpPr>
          <p:cNvPr id="13" name="Connector 12"/>
          <p:cNvCxnSpPr/>
          <p:nvPr/>
        </p:nvCxnSpPr>
        <p:spPr>
          <a:xfrm>
            <a:off x="4937760" y="3145536"/>
            <a:ext cx="640080" cy="804672"/>
          </a:xfrm>
          <a:prstGeom prst="line">
            <a:avLst/>
          </a:prstGeom>
          <a:ln w="25400">
            <a:solidFill>
              <a:srgbClr val="7C3AED"/>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4137660" y="2779776"/>
            <a:ext cx="1600200" cy="36576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13766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Machine</a:t>
            </a:r>
          </a:p>
        </p:txBody>
      </p:sp>
      <p:sp>
        <p:nvSpPr>
          <p:cNvPr id="16" name="TextBox 15"/>
          <p:cNvSpPr txBox="1"/>
          <p:nvPr/>
        </p:nvSpPr>
        <p:spPr>
          <a:xfrm>
            <a:off x="3977640" y="1865377"/>
            <a:ext cx="2148840" cy="868680"/>
          </a:xfrm>
          <a:prstGeom prst="rect">
            <a:avLst/>
          </a:prstGeom>
          <a:noFill/>
        </p:spPr>
        <p:txBody>
          <a:bodyPr wrap="square">
            <a:spAutoFit/>
          </a:bodyPr>
          <a:lstStyle/>
          <a:p>
            <a:pPr>
              <a:spcAft>
                <a:spcPts val="100"/>
              </a:spcAft>
            </a:pPr>
            <a:r>
              <a:rPr sz="1000">
                <a:solidFill>
                  <a:srgbClr val="161B26"/>
                </a:solidFill>
                <a:latin typeface="Arial"/>
              </a:rPr>
              <a:t>•  Ticket tool slow</a:t>
            </a:r>
          </a:p>
          <a:p>
            <a:pPr>
              <a:spcAft>
                <a:spcPts val="100"/>
              </a:spcAft>
            </a:pPr>
            <a:r>
              <a:rPr sz="1000">
                <a:solidFill>
                  <a:srgbClr val="161B26"/>
                </a:solidFill>
                <a:latin typeface="Arial"/>
              </a:rPr>
              <a:t>•  No auto-assignment</a:t>
            </a:r>
          </a:p>
          <a:p>
            <a:pPr>
              <a:spcAft>
                <a:spcPts val="100"/>
              </a:spcAft>
            </a:pPr>
            <a:r>
              <a:rPr sz="1000">
                <a:solidFill>
                  <a:srgbClr val="161B26"/>
                </a:solidFill>
                <a:latin typeface="Arial"/>
              </a:rPr>
              <a:t>•  Four systems to check</a:t>
            </a:r>
          </a:p>
        </p:txBody>
      </p:sp>
      <p:cxnSp>
        <p:nvCxnSpPr>
          <p:cNvPr id="17" name="Connector 16"/>
          <p:cNvCxnSpPr/>
          <p:nvPr/>
        </p:nvCxnSpPr>
        <p:spPr>
          <a:xfrm>
            <a:off x="7543800" y="3145536"/>
            <a:ext cx="640080" cy="804672"/>
          </a:xfrm>
          <a:prstGeom prst="line">
            <a:avLst/>
          </a:prstGeom>
          <a:ln w="25400">
            <a:solidFill>
              <a:srgbClr val="1F6FEB"/>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6743700" y="2779776"/>
            <a:ext cx="1600200" cy="36576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743700" y="2779776"/>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Measurement</a:t>
            </a:r>
          </a:p>
        </p:txBody>
      </p:sp>
      <p:sp>
        <p:nvSpPr>
          <p:cNvPr id="20" name="TextBox 19"/>
          <p:cNvSpPr txBox="1"/>
          <p:nvPr/>
        </p:nvSpPr>
        <p:spPr>
          <a:xfrm>
            <a:off x="6583680" y="1865377"/>
            <a:ext cx="2148840" cy="868680"/>
          </a:xfrm>
          <a:prstGeom prst="rect">
            <a:avLst/>
          </a:prstGeom>
          <a:noFill/>
        </p:spPr>
        <p:txBody>
          <a:bodyPr wrap="square">
            <a:spAutoFit/>
          </a:bodyPr>
          <a:lstStyle/>
          <a:p>
            <a:pPr>
              <a:spcAft>
                <a:spcPts val="100"/>
              </a:spcAft>
            </a:pPr>
            <a:r>
              <a:rPr sz="1000">
                <a:solidFill>
                  <a:srgbClr val="161B26"/>
                </a:solidFill>
                <a:latin typeface="Arial"/>
              </a:rPr>
              <a:t>•  No SLA clock on triage</a:t>
            </a:r>
          </a:p>
          <a:p>
            <a:pPr>
              <a:spcAft>
                <a:spcPts val="100"/>
              </a:spcAft>
            </a:pPr>
            <a:r>
              <a:rPr sz="1000">
                <a:solidFill>
                  <a:srgbClr val="161B26"/>
                </a:solidFill>
                <a:latin typeface="Arial"/>
              </a:rPr>
              <a:t>•  Assignment time not tracked</a:t>
            </a:r>
          </a:p>
          <a:p>
            <a:pPr>
              <a:spcAft>
                <a:spcPts val="100"/>
              </a:spcAft>
            </a:pPr>
            <a:r>
              <a:rPr sz="1000">
                <a:solidFill>
                  <a:srgbClr val="161B26"/>
                </a:solidFill>
                <a:latin typeface="Arial"/>
              </a:rPr>
              <a:t>•  No baseline agreed</a:t>
            </a:r>
          </a:p>
        </p:txBody>
      </p:sp>
      <p:cxnSp>
        <p:nvCxnSpPr>
          <p:cNvPr id="21" name="Connector 20"/>
          <p:cNvCxnSpPr/>
          <p:nvPr/>
        </p:nvCxnSpPr>
        <p:spPr>
          <a:xfrm flipV="1">
            <a:off x="2331720" y="3950208"/>
            <a:ext cx="640080" cy="804672"/>
          </a:xfrm>
          <a:prstGeom prst="line">
            <a:avLst/>
          </a:prstGeom>
          <a:ln w="25400">
            <a:solidFill>
              <a:srgbClr val="10B981"/>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1531620" y="4754880"/>
            <a:ext cx="1600200" cy="36576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53162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Method</a:t>
            </a:r>
          </a:p>
        </p:txBody>
      </p:sp>
      <p:sp>
        <p:nvSpPr>
          <p:cNvPr id="24" name="TextBox 23"/>
          <p:cNvSpPr txBox="1"/>
          <p:nvPr/>
        </p:nvSpPr>
        <p:spPr>
          <a:xfrm>
            <a:off x="1371600" y="5175504"/>
            <a:ext cx="2148840" cy="868680"/>
          </a:xfrm>
          <a:prstGeom prst="rect">
            <a:avLst/>
          </a:prstGeom>
          <a:noFill/>
        </p:spPr>
        <p:txBody>
          <a:bodyPr wrap="square">
            <a:spAutoFit/>
          </a:bodyPr>
          <a:lstStyle/>
          <a:p>
            <a:pPr>
              <a:spcAft>
                <a:spcPts val="100"/>
              </a:spcAft>
            </a:pPr>
            <a:r>
              <a:rPr sz="1000">
                <a:solidFill>
                  <a:srgbClr val="161B26"/>
                </a:solidFill>
                <a:latin typeface="Arial"/>
              </a:rPr>
              <a:t>•  Triage rules ambiguous</a:t>
            </a:r>
          </a:p>
          <a:p>
            <a:pPr>
              <a:spcAft>
                <a:spcPts val="100"/>
              </a:spcAft>
            </a:pPr>
            <a:r>
              <a:rPr sz="1000">
                <a:solidFill>
                  <a:srgbClr val="161B26"/>
                </a:solidFill>
                <a:latin typeface="Arial"/>
              </a:rPr>
              <a:t>•  No priority definition</a:t>
            </a:r>
          </a:p>
          <a:p>
            <a:pPr>
              <a:spcAft>
                <a:spcPts val="100"/>
              </a:spcAft>
            </a:pPr>
            <a:r>
              <a:rPr sz="1000">
                <a:solidFill>
                  <a:srgbClr val="161B26"/>
                </a:solidFill>
                <a:latin typeface="Arial"/>
              </a:rPr>
              <a:t>•  Manual routing</a:t>
            </a:r>
          </a:p>
        </p:txBody>
      </p:sp>
      <p:cxnSp>
        <p:nvCxnSpPr>
          <p:cNvPr id="25" name="Connector 24"/>
          <p:cNvCxnSpPr/>
          <p:nvPr/>
        </p:nvCxnSpPr>
        <p:spPr>
          <a:xfrm flipV="1">
            <a:off x="4937760" y="3950208"/>
            <a:ext cx="640080" cy="804672"/>
          </a:xfrm>
          <a:prstGeom prst="line">
            <a:avLst/>
          </a:prstGeom>
          <a:ln w="25400">
            <a:solidFill>
              <a:srgbClr val="F59E0B"/>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4137660" y="4754880"/>
            <a:ext cx="1600200" cy="36576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4137660" y="4754880"/>
            <a:ext cx="1600200" cy="365760"/>
          </a:xfrm>
          <a:prstGeom prst="rect">
            <a:avLst/>
          </a:prstGeom>
          <a:noFill/>
        </p:spPr>
        <p:txBody>
          <a:bodyPr wrap="square" anchor="ctr">
            <a:spAutoFit/>
          </a:bodyPr>
          <a:lstStyle/>
          <a:p>
            <a:pPr algn="ctr">
              <a:spcAft>
                <a:spcPts val="400"/>
              </a:spcAft>
            </a:pPr>
            <a:r>
              <a:rPr sz="1200" b="1">
                <a:solidFill>
                  <a:srgbClr val="FFFFFF"/>
                </a:solidFill>
                <a:latin typeface="Arial"/>
              </a:rPr>
              <a:t>Material</a:t>
            </a:r>
          </a:p>
        </p:txBody>
      </p:sp>
      <p:sp>
        <p:nvSpPr>
          <p:cNvPr id="28" name="TextBox 27"/>
          <p:cNvSpPr txBox="1"/>
          <p:nvPr/>
        </p:nvSpPr>
        <p:spPr>
          <a:xfrm>
            <a:off x="3977640" y="5175504"/>
            <a:ext cx="2148840" cy="868680"/>
          </a:xfrm>
          <a:prstGeom prst="rect">
            <a:avLst/>
          </a:prstGeom>
          <a:noFill/>
        </p:spPr>
        <p:txBody>
          <a:bodyPr wrap="square">
            <a:spAutoFit/>
          </a:bodyPr>
          <a:lstStyle/>
          <a:p>
            <a:pPr>
              <a:spcAft>
                <a:spcPts val="100"/>
              </a:spcAft>
            </a:pPr>
            <a:r>
              <a:rPr sz="1000">
                <a:solidFill>
                  <a:srgbClr val="161B26"/>
                </a:solidFill>
                <a:latin typeface="Arial"/>
              </a:rPr>
              <a:t>•  Incomplete ticket info</a:t>
            </a:r>
          </a:p>
          <a:p>
            <a:pPr>
              <a:spcAft>
                <a:spcPts val="100"/>
              </a:spcAft>
            </a:pPr>
            <a:r>
              <a:rPr sz="1000">
                <a:solidFill>
                  <a:srgbClr val="161B26"/>
                </a:solidFill>
                <a:latin typeface="Arial"/>
              </a:rPr>
              <a:t>•  Wrong category chosen</a:t>
            </a:r>
          </a:p>
          <a:p>
            <a:pPr>
              <a:spcAft>
                <a:spcPts val="100"/>
              </a:spcAft>
            </a:pPr>
            <a:r>
              <a:rPr sz="1000">
                <a:solidFill>
                  <a:srgbClr val="161B26"/>
                </a:solidFill>
                <a:latin typeface="Arial"/>
              </a:rPr>
              <a:t>•  No template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ANALYZE · FISHBONE METHOD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Building a Fishbone Diagram</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Write the effect</a:t>
            </a:r>
          </a:p>
          <a:p>
            <a:pPr algn="l">
              <a:spcAft>
                <a:spcPts val="300"/>
              </a:spcAft>
            </a:pPr>
            <a:r>
              <a:rPr sz="1100" b="0">
                <a:solidFill>
                  <a:srgbClr val="5B6372"/>
                </a:solidFill>
                <a:latin typeface="Arial"/>
              </a:rPr>
              <a:t>Put the measured problem in the head of the fish — be specific.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Choose the categories</a:t>
            </a:r>
          </a:p>
          <a:p>
            <a:pPr algn="l">
              <a:spcAft>
                <a:spcPts val="300"/>
              </a:spcAft>
            </a:pPr>
            <a:r>
              <a:rPr sz="1100" b="0">
                <a:solidFill>
                  <a:srgbClr val="5B6372"/>
                </a:solidFill>
                <a:latin typeface="Arial"/>
              </a:rPr>
              <a:t>5M: Manpower, Method, Machine, Material, Measurement. Service teams often use 4P.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Brainstorm into each bone</a:t>
            </a:r>
          </a:p>
          <a:p>
            <a:pPr algn="l">
              <a:spcAft>
                <a:spcPts val="300"/>
              </a:spcAft>
            </a:pPr>
            <a:r>
              <a:rPr sz="1100" b="0">
                <a:solidFill>
                  <a:srgbClr val="5B6372"/>
                </a:solidFill>
                <a:latin typeface="Arial"/>
              </a:rPr>
              <a:t>Generate freely — no evaluation or debate during generation.</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 three levels deep</a:t>
            </a:r>
          </a:p>
          <a:p>
            <a:pPr algn="l">
              <a:spcAft>
                <a:spcPts val="300"/>
              </a:spcAft>
            </a:pPr>
            <a:r>
              <a:rPr sz="1100" b="0">
                <a:solidFill>
                  <a:srgbClr val="5B6372"/>
                </a:solidFill>
                <a:latin typeface="Arial"/>
              </a:rPr>
              <a:t>Ask 'why does that happen?' on each cause to reach the real driver.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Shortlist with multi-voting</a:t>
            </a:r>
          </a:p>
          <a:p>
            <a:pPr algn="l">
              <a:spcAft>
                <a:spcPts val="300"/>
              </a:spcAft>
            </a:pPr>
            <a:r>
              <a:rPr sz="1100" b="0">
                <a:solidFill>
                  <a:srgbClr val="5B6372"/>
                </a:solidFill>
                <a:latin typeface="Arial"/>
              </a:rPr>
              <a:t>Each team member votes; the causes with most votes go forward.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Verify with data</a:t>
            </a:r>
          </a:p>
          <a:p>
            <a:pPr algn="l">
              <a:spcAft>
                <a:spcPts val="300"/>
              </a:spcAft>
            </a:pPr>
            <a:r>
              <a:rPr sz="1100" b="0">
                <a:solidFill>
                  <a:srgbClr val="5B6372"/>
                </a:solidFill>
                <a:latin typeface="Arial"/>
              </a:rPr>
              <a:t>A cause on the diagram is a HYPOTHESIS until the data supports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ANALYZE · BRAINSTORMING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Brainstorming — Getting Good Causes Out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Quantity first</a:t>
            </a:r>
          </a:p>
          <a:p>
            <a:pPr algn="l">
              <a:spcAft>
                <a:spcPts val="300"/>
              </a:spcAft>
            </a:pPr>
            <a:r>
              <a:rPr sz="1200" b="0">
                <a:solidFill>
                  <a:srgbClr val="5B6372"/>
                </a:solidFill>
                <a:latin typeface="Arial"/>
              </a:rPr>
              <a:t>Generate a long list before evaluating anything.</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No criticism</a:t>
            </a:r>
          </a:p>
          <a:p>
            <a:pPr algn="l">
              <a:spcAft>
                <a:spcPts val="300"/>
              </a:spcAft>
            </a:pPr>
            <a:r>
              <a:rPr sz="1200" b="0">
                <a:solidFill>
                  <a:srgbClr val="5B6372"/>
                </a:solidFill>
                <a:latin typeface="Arial"/>
              </a:rPr>
              <a:t>Judging ideas during generation stops people contributing.</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Build on ideas</a:t>
            </a:r>
          </a:p>
          <a:p>
            <a:pPr algn="l">
              <a:spcAft>
                <a:spcPts val="300"/>
              </a:spcAft>
            </a:pPr>
            <a:r>
              <a:rPr sz="1200" b="0">
                <a:solidFill>
                  <a:srgbClr val="5B6372"/>
                </a:solidFill>
                <a:latin typeface="Arial"/>
              </a:rPr>
              <a:t>One person's half-idea is often another's breakthrough.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Everyone contributes</a:t>
            </a:r>
          </a:p>
          <a:p>
            <a:pPr algn="l">
              <a:spcAft>
                <a:spcPts val="300"/>
              </a:spcAft>
            </a:pPr>
            <a:r>
              <a:rPr sz="1200" b="0">
                <a:solidFill>
                  <a:srgbClr val="5B6372"/>
                </a:solidFill>
                <a:latin typeface="Arial"/>
              </a:rPr>
              <a:t>Use round-robin or brainwriting so the loudest voice does not dominate.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ANALYZE · MULTI-VOTING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Multi-Voting — Narrowing the List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use it</a:t>
            </a:r>
          </a:p>
          <a:p>
            <a:pPr algn="l">
              <a:spcAft>
                <a:spcPts val="300"/>
              </a:spcAft>
            </a:pPr>
            <a:r>
              <a:rPr sz="1200" b="0">
                <a:solidFill>
                  <a:srgbClr val="5B6372"/>
                </a:solidFill>
                <a:latin typeface="Arial"/>
              </a:rPr>
              <a:t>A long cause list needs to become a short, agreed shortlist.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How it works</a:t>
            </a:r>
          </a:p>
          <a:p>
            <a:pPr algn="l">
              <a:spcAft>
                <a:spcPts val="300"/>
              </a:spcAft>
            </a:pPr>
            <a:r>
              <a:rPr sz="1200" b="0">
                <a:solidFill>
                  <a:srgbClr val="5B6372"/>
                </a:solidFill>
                <a:latin typeface="Arial"/>
              </a:rPr>
              <a:t>Each member gets N votes (about a third of the number of items).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Vote independently</a:t>
            </a:r>
          </a:p>
          <a:p>
            <a:pPr algn="l">
              <a:spcAft>
                <a:spcPts val="300"/>
              </a:spcAft>
            </a:pPr>
            <a:r>
              <a:rPr sz="1200" b="0">
                <a:solidFill>
                  <a:srgbClr val="5B6372"/>
                </a:solidFill>
                <a:latin typeface="Arial"/>
              </a:rPr>
              <a:t>Vote privately first so nobody anchors on the manager's choice.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Then verify</a:t>
            </a:r>
          </a:p>
          <a:p>
            <a:pPr algn="l">
              <a:spcAft>
                <a:spcPts val="300"/>
              </a:spcAft>
            </a:pPr>
            <a:r>
              <a:rPr sz="1200" b="0">
                <a:solidFill>
                  <a:srgbClr val="5B6372"/>
                </a:solidFill>
                <a:latin typeface="Arial"/>
              </a:rPr>
              <a:t>The top-voted causes still have to be tested against the data.</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ONLINE TOOLKIT · USED ACROSS DMAIC</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Complete Online Toolkit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SIPOC &amp; Process Map</a:t>
            </a:r>
          </a:p>
          <a:p>
            <a:pPr algn="l">
              <a:spcAft>
                <a:spcPts val="300"/>
              </a:spcAft>
            </a:pPr>
            <a:r>
              <a:rPr sz="1000" b="0">
                <a:solidFill>
                  <a:srgbClr val="5B6372"/>
                </a:solidFill>
                <a:latin typeface="Arial"/>
              </a:rPr>
              <a:t>Define — guided SIPOC, swimlane and handoffs — alfredang.github.io/sipoc/</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5 Whys</a:t>
            </a:r>
          </a:p>
          <a:p>
            <a:pPr algn="l">
              <a:spcAft>
                <a:spcPts val="300"/>
              </a:spcAft>
            </a:pPr>
            <a:r>
              <a:rPr sz="1000" b="0">
                <a:solidFill>
                  <a:srgbClr val="5B6372"/>
                </a:solidFill>
                <a:latin typeface="Arial"/>
              </a:rPr>
              <a:t>Analyze — build and share the 5 Whys chain — alfredang.github.io/5whys/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Fishbone Diagram</a:t>
            </a:r>
          </a:p>
          <a:p>
            <a:pPr algn="l">
              <a:spcAft>
                <a:spcPts val="300"/>
              </a:spcAft>
            </a:pPr>
            <a:r>
              <a:rPr sz="1000" b="0">
                <a:solidFill>
                  <a:srgbClr val="5B6372"/>
                </a:solidFill>
                <a:latin typeface="Arial"/>
              </a:rPr>
              <a:t>Analyze — Ishikawa cause-and-effect builder — alfredang.github.io/fishbone/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Pareto Chart (collaborative)</a:t>
            </a:r>
          </a:p>
          <a:p>
            <a:pPr algn="l">
              <a:spcAft>
                <a:spcPts val="300"/>
              </a:spcAft>
            </a:pPr>
            <a:r>
              <a:rPr sz="1000" b="0">
                <a:solidFill>
                  <a:srgbClr val="5B6372"/>
                </a:solidFill>
                <a:latin typeface="Arial"/>
              </a:rPr>
              <a:t>Analyze — your team brainstorms and votes in one live session; the chart builds itself — alfredang.github.io/paretochart/</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NovaSPC</a:t>
            </a:r>
          </a:p>
          <a:p>
            <a:pPr algn="l">
              <a:spcAft>
                <a:spcPts val="300"/>
              </a:spcAft>
            </a:pPr>
            <a:r>
              <a:rPr sz="1000" b="0">
                <a:solidFill>
                  <a:srgbClr val="5B6372"/>
                </a:solidFill>
                <a:latin typeface="Arial"/>
              </a:rPr>
              <a:t>Measure &amp; Control — run charts, SPC charts and process capability from your CSV — alfredang.github.io/novaspc/</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400" b="1">
                <a:solidFill>
                  <a:srgbClr val="161B26"/>
                </a:solidFill>
                <a:latin typeface="Arial"/>
              </a:rPr>
              <a:t>All free</a:t>
            </a:r>
          </a:p>
          <a:p>
            <a:pPr algn="l">
              <a:spcAft>
                <a:spcPts val="300"/>
              </a:spcAft>
            </a:pPr>
            <a:r>
              <a:rPr sz="1000" b="0">
                <a:solidFill>
                  <a:srgbClr val="5B6372"/>
                </a:solidFill>
                <a:latin typeface="Arial"/>
              </a:rPr>
              <a:t>No install, no sign-up. Everything stays in your browser.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ANALYZE · TEAM ROOT CAUSE SESSION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Using the Collaborative Pareto Tool in Your Team</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Facilitator creates a session and shares the access code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Every team member joins with the code</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team brainstorms candidate causes into the session</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Each member votes on the causes that matter most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The live Pareto chart reveals the vital few</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Analyze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7 — Pareto, Run Charts, Variation, Yield, DPU,</a:t>
            </a:r>
          </a:p>
          <a:p>
            <a:pPr algn="l">
              <a:spcAft>
                <a:spcPts val="300"/>
              </a:spcAft>
            </a:pPr>
            <a:r>
              <a:rPr sz="1100" b="0">
                <a:solidFill>
                  <a:srgbClr val="5B6372"/>
                </a:solidFill>
                <a:latin typeface="Arial"/>
              </a:rPr>
              <a:t>A Pareto chart, a run chart and calculated yield, DPU, DPO, DPMO and s</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8 — Root Cause Analysis with 5 Whys, Fishbone,</a:t>
            </a:r>
          </a:p>
          <a:p>
            <a:pPr algn="l">
              <a:spcAft>
                <a:spcPts val="300"/>
              </a:spcAft>
            </a:pPr>
            <a:r>
              <a:rPr sz="1100" b="0">
                <a:solidFill>
                  <a:srgbClr val="5B6372"/>
                </a:solidFill>
                <a:latin typeface="Arial"/>
              </a:rPr>
              <a:t>A completed 5 Whys chain, a Fishbone diagram and an evidence-tested ca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7</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Turn collected data into decisions. Apply the Pareto principle to find the vital few categories, use a run chart to see behaviour over time, and calculate the standard Six Sigma process metrics.</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Pareto chart, a run chart and calculated yield, DPU, DPO, DPMO and sigma level.</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Pareto Chart tool (collaborative), NovaSPC, yield/DPU/DPO/DPMO, sigma level, variation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the Pareto table: category, count, percentage and cumulative percentage.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 your group, open the collaborative Pareto tool — one member creates the session and shares the code, then everyone joins, brainstorms and votes to produce the live Pareto chart.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https://alfredang.github.io/paretochart/</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169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Identify the vital few categories driving about 80% of the problem.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Export your assignment-time data as CSV and plot a run chart in NovaSPC.</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https://alfredang.github.io/novaspc/</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Interpret the run chart for trend, shift, cluster and oscillation patterns.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yield, DPU, DPO and DPMO from your defect data.</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Convert DPMO to a sigma level and interpret what it says about the process.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Pareto, Run Charts, Variation, Yield,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8</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8 OF 8</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common-cause from special-cause variation and why the response differs.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7 · activities/07 - Pareto, Run Charts, Variation,.../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7 — Your Data Files</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data/assignment-times.csv</a:t>
            </a:r>
          </a:p>
          <a:p>
            <a:pPr algn="l">
              <a:spcAft>
                <a:spcPts val="300"/>
              </a:spcAft>
            </a:pPr>
            <a:r>
              <a:rPr sz="1000" b="0">
                <a:solidFill>
                  <a:srgbClr val="5B6372"/>
                </a:solidFill>
                <a:latin typeface="Arial"/>
              </a:rPr>
              <a:t>400 rows · date, ticket_id, assignment_time_min</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60904"/>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data/daily-summary.csv</a:t>
            </a:r>
          </a:p>
          <a:p>
            <a:pPr algn="l">
              <a:spcAft>
                <a:spcPts val="300"/>
              </a:spcAft>
            </a:pPr>
            <a:r>
              <a:rPr sz="1000" b="0">
                <a:solidFill>
                  <a:srgbClr val="5B6372"/>
                </a:solidFill>
                <a:latin typeface="Arial"/>
              </a:rPr>
              <a:t>10 rows · date, tickets, mean_assignment_min, median_assignment_min, +2 more</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data/defect-counts.csv</a:t>
            </a:r>
          </a:p>
          <a:p>
            <a:pPr algn="l">
              <a:spcAft>
                <a:spcPts val="300"/>
              </a:spcAft>
            </a:pPr>
            <a:r>
              <a:rPr sz="1000" b="0">
                <a:solidFill>
                  <a:srgbClr val="5B6372"/>
                </a:solidFill>
                <a:latin typeface="Arial"/>
              </a:rPr>
              <a:t>6 rows · defect_category, count</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data/service-desk-tickets.csv</a:t>
            </a:r>
          </a:p>
          <a:p>
            <a:pPr algn="l">
              <a:spcAft>
                <a:spcPts val="300"/>
              </a:spcAft>
            </a:pPr>
            <a:r>
              <a:rPr sz="1000" b="0">
                <a:solidFill>
                  <a:srgbClr val="5B6372"/>
                </a:solidFill>
                <a:latin typeface="Arial"/>
              </a:rPr>
              <a:t>400 rows · ticket_id, date, ticket_type, channel, assigned_queue, agent, +5 more</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templates/pareto-table.csv</a:t>
            </a:r>
          </a:p>
          <a:p>
            <a:pPr algn="l">
              <a:spcAft>
                <a:spcPts val="300"/>
              </a:spcAft>
            </a:pPr>
            <a:r>
              <a:rPr sz="1000" b="0">
                <a:solidFill>
                  <a:srgbClr val="5B6372"/>
                </a:solidFill>
                <a:latin typeface="Arial"/>
              </a:rPr>
              <a:t>Worksheet to complete · defect_category, count, percent, +1 more</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33288"/>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templates/process-metrics.csv</a:t>
            </a:r>
          </a:p>
          <a:p>
            <a:pPr algn="l">
              <a:spcAft>
                <a:spcPts val="300"/>
              </a:spcAft>
            </a:pPr>
            <a:r>
              <a:rPr sz="1000" b="0">
                <a:solidFill>
                  <a:srgbClr val="5B6372"/>
                </a:solidFill>
                <a:latin typeface="Arial"/>
              </a:rPr>
              <a:t>Worksheet to complete · metric, formula, your_calculation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7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Pareto, Run Charts, Variation, Yield, DPU, and DPMO</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cumulative percentage column reaches 100%, and you can state the sigma level with the DPMO it came from.</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ANALYZE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8</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Move from symptom to cause. Apply the 5 Whys to drill past the obvious, organise candidate causes on a Fishbone diagram, then test each candidate against the evidence you actually collected.</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completed 5 Whys chain, a Fishbone diagram and an evidence-tested cause shortlist.</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5 Whys tool, Fishbone tool, 5M categories, brainstorming, multi-voting</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problem statement precisely — the effect you are explaining.</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179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a 5 Whys chain with the online 5 Whys tool, continuing until you reach an actionable cause.</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https://alfredang.github.io/5whys/</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 Fishbone diagram with the online Fishbone tool using the 5M categories: Manpower, Method, Machine, Material, Measurement.</a:t>
            </a:r>
          </a:p>
        </p:txBody>
      </p:sp>
      <p:sp>
        <p:nvSpPr>
          <p:cNvPr id="10" name="Rectangle 9"/>
          <p:cNvSpPr/>
          <p:nvPr/>
        </p:nvSpPr>
        <p:spPr>
          <a:xfrm>
            <a:off x="2331720" y="3931920"/>
            <a:ext cx="9235440" cy="868680"/>
          </a:xfrm>
          <a:prstGeom prst="rect">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2560320" y="3931920"/>
            <a:ext cx="8869680" cy="868680"/>
          </a:xfrm>
          <a:prstGeom prst="rect">
            <a:avLst/>
          </a:prstGeom>
          <a:noFill/>
        </p:spPr>
        <p:txBody>
          <a:bodyPr wrap="square" anchor="ctr">
            <a:spAutoFit/>
          </a:bodyPr>
          <a:lstStyle/>
          <a:p>
            <a:pPr algn="l">
              <a:spcAft>
                <a:spcPts val="400"/>
              </a:spcAft>
            </a:pPr>
            <a:r>
              <a:rPr sz="1300" b="0">
                <a:solidFill>
                  <a:srgbClr val="9CDCFE"/>
                </a:solidFill>
                <a:latin typeface="Arial"/>
              </a:rPr>
              <a:t>https://alfredang.github.io/fishbone/</a:t>
            </a:r>
          </a:p>
        </p:txBody>
      </p:sp>
      <p:sp>
        <p:nvSpPr>
          <p:cNvPr id="12" name="TextBox 11"/>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3" name="TextBox 12"/>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4" name="TextBox 13"/>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Brainstorm candidate causes into each category — no evaluation during generation.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Use multi-voting to shortlist the most likely causes as a team.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Test each shortlisted cause against your Activity 7 data — does the evidence support it?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Root Cause Analysis with 5 Whys, Fishb</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State why the team must not jump straight to solutions.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8 · activities/08 - Root Cause Analysis with 5 Whys,.../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8 — Your Data Files</a:t>
            </a:r>
          </a:p>
        </p:txBody>
      </p:sp>
      <p:sp>
        <p:nvSpPr>
          <p:cNvPr id="6" name="Rectangle 5"/>
          <p:cNvSpPr/>
          <p:nvPr/>
        </p:nvSpPr>
        <p:spPr>
          <a:xfrm>
            <a:off x="777240" y="178308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78308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78308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data/daily-summary.csv</a:t>
            </a:r>
          </a:p>
          <a:p>
            <a:pPr algn="l">
              <a:spcAft>
                <a:spcPts val="300"/>
              </a:spcAft>
            </a:pPr>
            <a:r>
              <a:rPr sz="1000" b="0">
                <a:solidFill>
                  <a:srgbClr val="5B6372"/>
                </a:solidFill>
                <a:latin typeface="Arial"/>
              </a:rPr>
              <a:t>10 rows · date, tickets, mean_assignment_min, median_assignment_min, +2 more</a:t>
            </a:r>
          </a:p>
        </p:txBody>
      </p:sp>
      <p:sp>
        <p:nvSpPr>
          <p:cNvPr id="11" name="Rectangle 10"/>
          <p:cNvSpPr/>
          <p:nvPr/>
        </p:nvSpPr>
        <p:spPr>
          <a:xfrm>
            <a:off x="777240" y="2551176"/>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551176"/>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660904"/>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data/defect-counts.csv</a:t>
            </a:r>
          </a:p>
          <a:p>
            <a:pPr algn="l">
              <a:spcAft>
                <a:spcPts val="300"/>
              </a:spcAft>
            </a:pPr>
            <a:r>
              <a:rPr sz="1000" b="0">
                <a:solidFill>
                  <a:srgbClr val="5B6372"/>
                </a:solidFill>
                <a:latin typeface="Arial"/>
              </a:rPr>
              <a:t>6 rows · defect_category, count</a:t>
            </a:r>
          </a:p>
        </p:txBody>
      </p:sp>
      <p:sp>
        <p:nvSpPr>
          <p:cNvPr id="16" name="Rectangle 15"/>
          <p:cNvSpPr/>
          <p:nvPr/>
        </p:nvSpPr>
        <p:spPr>
          <a:xfrm>
            <a:off x="777240" y="3319272"/>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530352"/>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31927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31927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data/root-cause-evidence.csv</a:t>
            </a:r>
          </a:p>
          <a:p>
            <a:pPr algn="l">
              <a:spcAft>
                <a:spcPts val="300"/>
              </a:spcAft>
            </a:pPr>
            <a:r>
              <a:rPr sz="1000" b="0">
                <a:solidFill>
                  <a:srgbClr val="5B6372"/>
                </a:solidFill>
                <a:latin typeface="Arial"/>
              </a:rPr>
              <a:t>8 rows · evidence_id, observation, source, supports_cause</a:t>
            </a:r>
          </a:p>
        </p:txBody>
      </p:sp>
      <p:sp>
        <p:nvSpPr>
          <p:cNvPr id="21" name="Rectangle 20"/>
          <p:cNvSpPr/>
          <p:nvPr/>
        </p:nvSpPr>
        <p:spPr>
          <a:xfrm>
            <a:off x="777240" y="4087368"/>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087368"/>
            <a:ext cx="91440" cy="53035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08736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08736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197096"/>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templates/cause-evidence-test.csv</a:t>
            </a:r>
          </a:p>
          <a:p>
            <a:pPr algn="l">
              <a:spcAft>
                <a:spcPts val="300"/>
              </a:spcAft>
            </a:pPr>
            <a:r>
              <a:rPr sz="1000" b="0">
                <a:solidFill>
                  <a:srgbClr val="5B6372"/>
                </a:solidFill>
                <a:latin typeface="Arial"/>
              </a:rPr>
              <a:t>Worksheet to complete · candidate_cause, evidence_that_supports_it, +2 more</a:t>
            </a:r>
          </a:p>
        </p:txBody>
      </p:sp>
      <p:sp>
        <p:nvSpPr>
          <p:cNvPr id="26" name="Rectangle 25"/>
          <p:cNvSpPr/>
          <p:nvPr/>
        </p:nvSpPr>
        <p:spPr>
          <a:xfrm>
            <a:off x="777240" y="4855464"/>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530352"/>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8554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templates/fishbone-causes.csv</a:t>
            </a:r>
          </a:p>
          <a:p>
            <a:pPr algn="l">
              <a:spcAft>
                <a:spcPts val="300"/>
              </a:spcAft>
            </a:pPr>
            <a:r>
              <a:rPr sz="1000" b="0">
                <a:solidFill>
                  <a:srgbClr val="5B6372"/>
                </a:solidFill>
                <a:latin typeface="Arial"/>
              </a:rPr>
              <a:t>Worksheet to complete · category, possible_cause, supported_by_evidence</a:t>
            </a:r>
          </a:p>
        </p:txBody>
      </p:sp>
      <p:sp>
        <p:nvSpPr>
          <p:cNvPr id="31" name="Rectangle 30"/>
          <p:cNvSpPr/>
          <p:nvPr/>
        </p:nvSpPr>
        <p:spPr>
          <a:xfrm>
            <a:off x="777240" y="5623560"/>
            <a:ext cx="10634472" cy="53035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5623560"/>
            <a:ext cx="91440" cy="530352"/>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562356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562356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5733288"/>
            <a:ext cx="9482328" cy="365760"/>
          </a:xfrm>
          <a:prstGeom prst="rect">
            <a:avLst/>
          </a:prstGeom>
          <a:noFill/>
        </p:spPr>
        <p:txBody>
          <a:bodyPr wrap="square" anchor="ctr">
            <a:spAutoFit/>
          </a:bodyPr>
          <a:lstStyle/>
          <a:p>
            <a:pPr algn="l">
              <a:spcAft>
                <a:spcPts val="300"/>
              </a:spcAft>
            </a:pPr>
            <a:r>
              <a:rPr sz="1400" b="1">
                <a:solidFill>
                  <a:srgbClr val="161B26"/>
                </a:solidFill>
                <a:latin typeface="Arial"/>
              </a:rPr>
              <a:t>templates/five-whys.csv</a:t>
            </a:r>
          </a:p>
          <a:p>
            <a:pPr algn="l">
              <a:spcAft>
                <a:spcPts val="300"/>
              </a:spcAft>
            </a:pPr>
            <a:r>
              <a:rPr sz="1000" b="0">
                <a:solidFill>
                  <a:srgbClr val="5B6372"/>
                </a:solidFill>
                <a:latin typeface="Arial"/>
              </a:rPr>
              <a:t>Worksheet to complete · why_level, question, answer, evidence_needed, +1 more</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8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Root Cause Analysis with 5 Whys, Fishbone, and Evidence</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Each shortlisted root cause is supported by named evidence, and your 5 Whys chain ends at something you can act on.</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Analyze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Variation — Common cause is built into the process; special cause is an external, assignable signal.</a:t>
            </a:r>
          </a:p>
          <a:p>
            <a:pPr>
              <a:spcAft>
                <a:spcPts val="1000"/>
              </a:spcAft>
            </a:pPr>
            <a:r>
              <a:rPr sz="1500">
                <a:solidFill>
                  <a:srgbClr val="161B26"/>
                </a:solidFill>
                <a:latin typeface="Arial"/>
              </a:rPr>
              <a:t>•  Pareto analysis — The 80/20 rule separates the vital few causes from the trivial many.</a:t>
            </a:r>
          </a:p>
          <a:p>
            <a:pPr>
              <a:spcAft>
                <a:spcPts val="1000"/>
              </a:spcAft>
            </a:pPr>
            <a:r>
              <a:rPr sz="1500">
                <a:solidFill>
                  <a:srgbClr val="161B26"/>
                </a:solidFill>
                <a:latin typeface="Arial"/>
              </a:rPr>
              <a:t>•  Run charts — Plot the metric over time to reveal trend, shift, cluster and oscillation.</a:t>
            </a:r>
          </a:p>
          <a:p>
            <a:pPr>
              <a:spcAft>
                <a:spcPts val="1000"/>
              </a:spcAft>
            </a:pPr>
            <a:r>
              <a:rPr sz="1500">
                <a:solidFill>
                  <a:srgbClr val="161B26"/>
                </a:solidFill>
                <a:latin typeface="Arial"/>
              </a:rPr>
              <a:t>•  5 Whys — Ask why repeatedly to drill from the symptom down to an actionable cause.</a:t>
            </a:r>
          </a:p>
          <a:p>
            <a:pPr>
              <a:spcAft>
                <a:spcPts val="1000"/>
              </a:spcAft>
            </a:pPr>
            <a:r>
              <a:rPr sz="1500">
                <a:solidFill>
                  <a:srgbClr val="161B26"/>
                </a:solidFill>
                <a:latin typeface="Arial"/>
              </a:rPr>
              <a:t>•  Fishbone diagram — Organise candidate causes by category — Manpower, Method, Machine, Material, Measurement.</a:t>
            </a:r>
          </a:p>
          <a:p>
            <a:pPr>
              <a:spcAft>
                <a:spcPts val="1000"/>
              </a:spcAft>
            </a:pPr>
            <a:r>
              <a:rPr sz="1500">
                <a:solidFill>
                  <a:srgbClr val="161B26"/>
                </a:solidFill>
                <a:latin typeface="Arial"/>
              </a:rPr>
              <a:t>•  Evidence testing — A cause is only a root cause when the data you collected supports it.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IMPROVE</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Improve — Fix the Cause</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Countermeasures · 5S · Poka-Yoke · Standard work · Kaizen · Solution selection · Piloting</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I</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189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10%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Improve</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Generating solutions</a:t>
            </a:r>
          </a:p>
          <a:p>
            <a:pPr algn="l">
              <a:spcAft>
                <a:spcPts val="300"/>
              </a:spcAft>
            </a:pPr>
            <a:r>
              <a:rPr sz="1100" b="0">
                <a:solidFill>
                  <a:srgbClr val="5B6372"/>
                </a:solidFill>
                <a:latin typeface="Arial"/>
              </a:rPr>
              <a:t>Brainstorm widely against the proven root cause before evaluating anything.</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Solution selection</a:t>
            </a:r>
          </a:p>
          <a:p>
            <a:pPr algn="l">
              <a:spcAft>
                <a:spcPts val="300"/>
              </a:spcAft>
            </a:pPr>
            <a:r>
              <a:rPr sz="1100" b="0">
                <a:solidFill>
                  <a:srgbClr val="5B6372"/>
                </a:solidFill>
                <a:latin typeface="Arial"/>
              </a:rPr>
              <a:t>Score candidate solutions against weighted criteria before committing.</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5S</a:t>
            </a:r>
          </a:p>
          <a:p>
            <a:pPr algn="l">
              <a:spcAft>
                <a:spcPts val="300"/>
              </a:spcAft>
            </a:pPr>
            <a:r>
              <a:rPr sz="1100" b="0">
                <a:solidFill>
                  <a:srgbClr val="5B6372"/>
                </a:solidFill>
                <a:latin typeface="Arial"/>
              </a:rPr>
              <a:t>Sort, Set in order, Shine, Standardise, Sustain — for physical and digital work.</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Poka-Yoke</a:t>
            </a:r>
          </a:p>
          <a:p>
            <a:pPr algn="l">
              <a:spcAft>
                <a:spcPts val="300"/>
              </a:spcAft>
            </a:pPr>
            <a:r>
              <a:rPr sz="1100" b="0">
                <a:solidFill>
                  <a:srgbClr val="5B6372"/>
                </a:solidFill>
                <a:latin typeface="Arial"/>
              </a:rPr>
              <a:t>Mistake proofing makes the error difficult or impossible to make in the first place.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work</a:t>
            </a:r>
          </a:p>
          <a:p>
            <a:pPr algn="l">
              <a:spcAft>
                <a:spcPts val="300"/>
              </a:spcAft>
            </a:pPr>
            <a:r>
              <a:rPr sz="1100" b="0">
                <a:solidFill>
                  <a:srgbClr val="5B6372"/>
                </a:solidFill>
                <a:latin typeface="Arial"/>
              </a:rPr>
              <a:t>Document the improved method so anyone can repeat it the same way.</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Piloting</a:t>
            </a:r>
          </a:p>
          <a:p>
            <a:pPr algn="l">
              <a:spcAft>
                <a:spcPts val="300"/>
              </a:spcAft>
            </a:pPr>
            <a:r>
              <a:rPr sz="1100" b="0">
                <a:solidFill>
                  <a:srgbClr val="5B6372"/>
                </a:solidFill>
                <a:latin typeface="Arial"/>
              </a:rPr>
              <a:t>Test the change at small scale to expose issues before full rollout.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F59E0B"/>
                </a:solidFill>
                <a:latin typeface="Arial"/>
              </a:rPr>
              <a:t>DMAIC · I — IMPROVE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Improve — What change will actually fix it?</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The Improve phase generates, selects and pilots solutions that address the proven root cause.</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Improve Phase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Generate candidate solutions against the root cause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Select using weighted criteria</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Pilot the change at small scale</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Measure whether the metric actually moved</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F59E0B"/>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Standardise the new method</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IDEA GENERATION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Generating Solutions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Brainstorming</a:t>
            </a:r>
          </a:p>
          <a:p>
            <a:pPr algn="l">
              <a:spcAft>
                <a:spcPts val="300"/>
              </a:spcAft>
            </a:pPr>
            <a:r>
              <a:rPr sz="1200" b="0">
                <a:solidFill>
                  <a:srgbClr val="5B6372"/>
                </a:solidFill>
                <a:latin typeface="Arial"/>
              </a:rPr>
              <a:t>Free generation against the specific root cause — not the general problem.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Brainwriting</a:t>
            </a:r>
          </a:p>
          <a:p>
            <a:pPr algn="l">
              <a:spcAft>
                <a:spcPts val="300"/>
              </a:spcAft>
            </a:pPr>
            <a:r>
              <a:rPr sz="1200" b="0">
                <a:solidFill>
                  <a:srgbClr val="5B6372"/>
                </a:solidFill>
                <a:latin typeface="Arial"/>
              </a:rPr>
              <a:t>Written idea generation; avoids the loudest voice dominating the room.</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Benchmarking</a:t>
            </a:r>
          </a:p>
          <a:p>
            <a:pPr algn="l">
              <a:spcAft>
                <a:spcPts val="300"/>
              </a:spcAft>
            </a:pPr>
            <a:r>
              <a:rPr sz="1200" b="0">
                <a:solidFill>
                  <a:srgbClr val="5B6372"/>
                </a:solidFill>
                <a:latin typeface="Arial"/>
              </a:rPr>
              <a:t>Find who already does this well, internally or externally, and learn from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Anti-brainstorming</a:t>
            </a:r>
          </a:p>
          <a:p>
            <a:pPr algn="l">
              <a:spcAft>
                <a:spcPts val="300"/>
              </a:spcAft>
            </a:pPr>
            <a:r>
              <a:rPr sz="1200" b="0">
                <a:solidFill>
                  <a:srgbClr val="5B6372"/>
                </a:solidFill>
                <a:latin typeface="Arial"/>
              </a:rPr>
              <a:t>Ask how to make the problem worse, then invert every answer.</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PRIORITISATION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Prioritising Countermeasures — Impact vs Effort</a:t>
            </a:r>
          </a:p>
        </p:txBody>
      </p:sp>
      <p:sp>
        <p:nvSpPr>
          <p:cNvPr id="6" name="Rectangle 5"/>
          <p:cNvSpPr/>
          <p:nvPr/>
        </p:nvSpPr>
        <p:spPr>
          <a:xfrm>
            <a:off x="228600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2286000" y="1828800"/>
            <a:ext cx="73152" cy="1874519"/>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542032" y="2048256"/>
            <a:ext cx="3328416" cy="457200"/>
          </a:xfrm>
          <a:prstGeom prst="rect">
            <a:avLst/>
          </a:prstGeom>
          <a:noFill/>
        </p:spPr>
        <p:txBody>
          <a:bodyPr wrap="square" anchor="t">
            <a:spAutoFit/>
          </a:bodyPr>
          <a:lstStyle/>
          <a:p>
            <a:pPr algn="l">
              <a:spcAft>
                <a:spcPts val="400"/>
              </a:spcAft>
            </a:pPr>
            <a:r>
              <a:rPr sz="1600" b="1">
                <a:solidFill>
                  <a:srgbClr val="10B981"/>
                </a:solidFill>
                <a:latin typeface="Arial"/>
              </a:rPr>
              <a:t>Quick wins</a:t>
            </a:r>
          </a:p>
        </p:txBody>
      </p:sp>
      <p:sp>
        <p:nvSpPr>
          <p:cNvPr id="9" name="TextBox 8"/>
          <p:cNvSpPr txBox="1"/>
          <p:nvPr/>
        </p:nvSpPr>
        <p:spPr>
          <a:xfrm>
            <a:off x="254203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low effort. Do these first — they build momentum and credibility.</a:t>
            </a:r>
          </a:p>
        </p:txBody>
      </p:sp>
      <p:sp>
        <p:nvSpPr>
          <p:cNvPr id="10" name="Rectangle 9"/>
          <p:cNvSpPr/>
          <p:nvPr/>
        </p:nvSpPr>
        <p:spPr>
          <a:xfrm>
            <a:off x="6126480" y="1828800"/>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6126480" y="1828800"/>
            <a:ext cx="73152" cy="1874519"/>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382512" y="2048256"/>
            <a:ext cx="3328416" cy="457200"/>
          </a:xfrm>
          <a:prstGeom prst="rect">
            <a:avLst/>
          </a:prstGeom>
          <a:noFill/>
        </p:spPr>
        <p:txBody>
          <a:bodyPr wrap="square" anchor="t">
            <a:spAutoFit/>
          </a:bodyPr>
          <a:lstStyle/>
          <a:p>
            <a:pPr algn="l">
              <a:spcAft>
                <a:spcPts val="400"/>
              </a:spcAft>
            </a:pPr>
            <a:r>
              <a:rPr sz="1600" b="1">
                <a:solidFill>
                  <a:srgbClr val="1F6FEB"/>
                </a:solidFill>
                <a:latin typeface="Arial"/>
              </a:rPr>
              <a:t>Major projects</a:t>
            </a:r>
          </a:p>
        </p:txBody>
      </p:sp>
      <p:sp>
        <p:nvSpPr>
          <p:cNvPr id="13" name="TextBox 12"/>
          <p:cNvSpPr txBox="1"/>
          <p:nvPr/>
        </p:nvSpPr>
        <p:spPr>
          <a:xfrm>
            <a:off x="6382512" y="2542032"/>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High impact, high effort. Worth doing, but plan and resource them properly.</a:t>
            </a:r>
          </a:p>
        </p:txBody>
      </p:sp>
      <p:sp>
        <p:nvSpPr>
          <p:cNvPr id="14" name="Rectangle 13"/>
          <p:cNvSpPr/>
          <p:nvPr/>
        </p:nvSpPr>
        <p:spPr>
          <a:xfrm>
            <a:off x="228600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286000" y="3703319"/>
            <a:ext cx="73152" cy="1874519"/>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542032" y="3922775"/>
            <a:ext cx="3328416" cy="457200"/>
          </a:xfrm>
          <a:prstGeom prst="rect">
            <a:avLst/>
          </a:prstGeom>
          <a:noFill/>
        </p:spPr>
        <p:txBody>
          <a:bodyPr wrap="square" anchor="t">
            <a:spAutoFit/>
          </a:bodyPr>
          <a:lstStyle/>
          <a:p>
            <a:pPr algn="l">
              <a:spcAft>
                <a:spcPts val="400"/>
              </a:spcAft>
            </a:pPr>
            <a:r>
              <a:rPr sz="1600" b="1">
                <a:solidFill>
                  <a:srgbClr val="F59E0B"/>
                </a:solidFill>
                <a:latin typeface="Arial"/>
              </a:rPr>
              <a:t>Fill-ins</a:t>
            </a:r>
          </a:p>
        </p:txBody>
      </p:sp>
      <p:sp>
        <p:nvSpPr>
          <p:cNvPr id="17" name="TextBox 16"/>
          <p:cNvSpPr txBox="1"/>
          <p:nvPr/>
        </p:nvSpPr>
        <p:spPr>
          <a:xfrm>
            <a:off x="254203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low effort. Do them if there is spare capacity.</a:t>
            </a:r>
          </a:p>
        </p:txBody>
      </p:sp>
      <p:sp>
        <p:nvSpPr>
          <p:cNvPr id="18" name="Rectangle 17"/>
          <p:cNvSpPr/>
          <p:nvPr/>
        </p:nvSpPr>
        <p:spPr>
          <a:xfrm>
            <a:off x="6126480" y="3703319"/>
            <a:ext cx="3840480" cy="1874519"/>
          </a:xfrm>
          <a:prstGeom prst="rect">
            <a:avLst/>
          </a:prstGeom>
          <a:solidFill>
            <a:srgbClr val="F5F8FC"/>
          </a:solid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126480" y="3703319"/>
            <a:ext cx="73152" cy="1874519"/>
          </a:xfrm>
          <a:prstGeom prst="rect">
            <a:avLst/>
          </a:prstGeom>
          <a:solidFill>
            <a:srgbClr val="5B63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382512" y="3922775"/>
            <a:ext cx="3328416" cy="457200"/>
          </a:xfrm>
          <a:prstGeom prst="rect">
            <a:avLst/>
          </a:prstGeom>
          <a:noFill/>
        </p:spPr>
        <p:txBody>
          <a:bodyPr wrap="square" anchor="t">
            <a:spAutoFit/>
          </a:bodyPr>
          <a:lstStyle/>
          <a:p>
            <a:pPr algn="l">
              <a:spcAft>
                <a:spcPts val="400"/>
              </a:spcAft>
            </a:pPr>
            <a:r>
              <a:rPr sz="1600" b="1">
                <a:solidFill>
                  <a:srgbClr val="5B6372"/>
                </a:solidFill>
                <a:latin typeface="Arial"/>
              </a:rPr>
              <a:t>Thankless tasks</a:t>
            </a:r>
          </a:p>
        </p:txBody>
      </p:sp>
      <p:sp>
        <p:nvSpPr>
          <p:cNvPr id="21" name="TextBox 20"/>
          <p:cNvSpPr txBox="1"/>
          <p:nvPr/>
        </p:nvSpPr>
        <p:spPr>
          <a:xfrm>
            <a:off x="6382512" y="4416551"/>
            <a:ext cx="3328416" cy="960119"/>
          </a:xfrm>
          <a:prstGeom prst="rect">
            <a:avLst/>
          </a:prstGeom>
          <a:noFill/>
        </p:spPr>
        <p:txBody>
          <a:bodyPr wrap="square" anchor="t">
            <a:spAutoFit/>
          </a:bodyPr>
          <a:lstStyle/>
          <a:p>
            <a:pPr algn="l">
              <a:spcAft>
                <a:spcPts val="400"/>
              </a:spcAft>
            </a:pPr>
            <a:r>
              <a:rPr sz="1200" b="0">
                <a:solidFill>
                  <a:srgbClr val="5B6372"/>
                </a:solidFill>
                <a:latin typeface="Arial"/>
              </a:rPr>
              <a:t>Low impact, high effort. Avoid these entirely.</a:t>
            </a:r>
          </a:p>
        </p:txBody>
      </p:sp>
      <p:sp>
        <p:nvSpPr>
          <p:cNvPr id="22" name="TextBox 21"/>
          <p:cNvSpPr txBox="1"/>
          <p:nvPr/>
        </p:nvSpPr>
        <p:spPr>
          <a:xfrm>
            <a:off x="2286000" y="5687567"/>
            <a:ext cx="7680960" cy="365760"/>
          </a:xfrm>
          <a:prstGeom prst="rect">
            <a:avLst/>
          </a:prstGeom>
          <a:noFill/>
        </p:spPr>
        <p:txBody>
          <a:bodyPr wrap="square" anchor="t">
            <a:spAutoFit/>
          </a:bodyPr>
          <a:lstStyle/>
          <a:p>
            <a:pPr algn="ctr">
              <a:spcAft>
                <a:spcPts val="400"/>
              </a:spcAft>
            </a:pPr>
            <a:r>
              <a:rPr sz="1300" b="1">
                <a:solidFill>
                  <a:srgbClr val="161B26"/>
                </a:solidFill>
                <a:latin typeface="Arial"/>
              </a:rPr>
              <a:t>EFFORT REQUIRED  →</a:t>
            </a:r>
          </a:p>
        </p:txBody>
      </p:sp>
      <p:sp>
        <p:nvSpPr>
          <p:cNvPr id="23" name="TextBox 22"/>
          <p:cNvSpPr txBox="1"/>
          <p:nvPr/>
        </p:nvSpPr>
        <p:spPr>
          <a:xfrm>
            <a:off x="548640" y="3520439"/>
            <a:ext cx="1645920" cy="365760"/>
          </a:xfrm>
          <a:prstGeom prst="rect">
            <a:avLst/>
          </a:prstGeom>
          <a:noFill/>
        </p:spPr>
        <p:txBody>
          <a:bodyPr wrap="square" anchor="t">
            <a:spAutoFit/>
          </a:bodyPr>
          <a:lstStyle/>
          <a:p>
            <a:pPr algn="ctr">
              <a:spcAft>
                <a:spcPts val="400"/>
              </a:spcAft>
            </a:pPr>
            <a:r>
              <a:rPr sz="1300" b="1">
                <a:solidFill>
                  <a:srgbClr val="161B26"/>
                </a:solidFill>
                <a:latin typeface="Arial"/>
              </a:rPr>
              <a:t>IMPACT  →</a:t>
            </a:r>
          </a:p>
        </p:txBody>
      </p:sp>
      <p:sp>
        <p:nvSpPr>
          <p:cNvPr id="24" name="TextBox 2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5" name="TextBox 2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6" name="TextBox 2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CHOOSING OBJECTIVELY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Solution Selection Matrix</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List the criteria</a:t>
            </a:r>
          </a:p>
          <a:p>
            <a:pPr algn="l">
              <a:spcAft>
                <a:spcPts val="300"/>
              </a:spcAft>
            </a:pPr>
            <a:r>
              <a:rPr sz="1200" b="0">
                <a:solidFill>
                  <a:srgbClr val="5B6372"/>
                </a:solidFill>
                <a:latin typeface="Arial"/>
              </a:rPr>
              <a:t>Effectiveness, cost, time to implement, risk, ease of adoption.</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Weight each criterion</a:t>
            </a:r>
          </a:p>
          <a:p>
            <a:pPr algn="l">
              <a:spcAft>
                <a:spcPts val="300"/>
              </a:spcAft>
            </a:pPr>
            <a:r>
              <a:rPr sz="1200" b="0">
                <a:solidFill>
                  <a:srgbClr val="5B6372"/>
                </a:solidFill>
                <a:latin typeface="Arial"/>
              </a:rPr>
              <a:t>Not all criteria matter equally — agree the weights first.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Score each solution</a:t>
            </a:r>
          </a:p>
          <a:p>
            <a:pPr algn="l">
              <a:spcAft>
                <a:spcPts val="300"/>
              </a:spcAft>
            </a:pPr>
            <a:r>
              <a:rPr sz="1200" b="0">
                <a:solidFill>
                  <a:srgbClr val="5B6372"/>
                </a:solidFill>
                <a:latin typeface="Arial"/>
              </a:rPr>
              <a:t>Score every candidate against each criterion on a consistent scale.</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Rank by weighted total</a:t>
            </a:r>
          </a:p>
          <a:p>
            <a:pPr algn="l">
              <a:spcAft>
                <a:spcPts val="300"/>
              </a:spcAft>
            </a:pPr>
            <a:r>
              <a:rPr sz="1200" b="0">
                <a:solidFill>
                  <a:srgbClr val="5B6372"/>
                </a:solidFill>
                <a:latin typeface="Arial"/>
              </a:rPr>
              <a:t>Multiply score by weight, sum, and rank — the decision becomes defensible.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 Organising the Workplace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SORT — remove what is not needed</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IN ORDER — a place for everything</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SHINE — clean and inspect regularly</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STANDARDISE — make the first 3S the norm</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SUSTAIN — audit and keep the discipline</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IMPROVE · 5S IN A SERVICE TEAM</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5S Applied to Digital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Sort</a:t>
            </a:r>
          </a:p>
          <a:p>
            <a:pPr algn="l">
              <a:spcAft>
                <a:spcPts val="300"/>
              </a:spcAft>
            </a:pPr>
            <a:r>
              <a:rPr sz="1100" b="0">
                <a:solidFill>
                  <a:srgbClr val="5B6372"/>
                </a:solidFill>
                <a:latin typeface="Arial"/>
              </a:rPr>
              <a:t>Archive the ticket queues, folders and dashboards nobody uses.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Set in order</a:t>
            </a:r>
          </a:p>
          <a:p>
            <a:pPr algn="l">
              <a:spcAft>
                <a:spcPts val="300"/>
              </a:spcAft>
            </a:pPr>
            <a:r>
              <a:rPr sz="1100" b="0">
                <a:solidFill>
                  <a:srgbClr val="5B6372"/>
                </a:solidFill>
                <a:latin typeface="Arial"/>
              </a:rPr>
              <a:t>One agreed place for templates, runbooks and knowledge articles.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Shine</a:t>
            </a:r>
          </a:p>
          <a:p>
            <a:pPr algn="l">
              <a:spcAft>
                <a:spcPts val="300"/>
              </a:spcAft>
            </a:pPr>
            <a:r>
              <a:rPr sz="1100" b="0">
                <a:solidFill>
                  <a:srgbClr val="5B6372"/>
                </a:solidFill>
                <a:latin typeface="Arial"/>
              </a:rPr>
              <a:t>Regularly review and retire out-of-date knowledge base entries.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Standardise</a:t>
            </a:r>
          </a:p>
          <a:p>
            <a:pPr algn="l">
              <a:spcAft>
                <a:spcPts val="300"/>
              </a:spcAft>
            </a:pPr>
            <a:r>
              <a:rPr sz="1100" b="0">
                <a:solidFill>
                  <a:srgbClr val="5B6372"/>
                </a:solidFill>
                <a:latin typeface="Arial"/>
              </a:rPr>
              <a:t>Agreed naming conventions and ticket templates for everyone.</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Sustain</a:t>
            </a:r>
          </a:p>
          <a:p>
            <a:pPr algn="l">
              <a:spcAft>
                <a:spcPts val="300"/>
              </a:spcAft>
            </a:pPr>
            <a:r>
              <a:rPr sz="1100" b="0">
                <a:solidFill>
                  <a:srgbClr val="5B6372"/>
                </a:solidFill>
                <a:latin typeface="Arial"/>
              </a:rPr>
              <a:t>A short monthly review to check the standard is still being followed.</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works</a:t>
            </a:r>
          </a:p>
          <a:p>
            <a:pPr algn="l">
              <a:spcAft>
                <a:spcPts val="300"/>
              </a:spcAft>
            </a:pPr>
            <a:r>
              <a:rPr sz="1100" b="0">
                <a:solidFill>
                  <a:srgbClr val="5B6372"/>
                </a:solidFill>
                <a:latin typeface="Arial"/>
              </a:rPr>
              <a:t>Less searching, fewer mistakes, faster onboarding for new agents.</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IMPROVE · POKA-YOKE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Poka-Yoke — mistake proofing</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Design the process so the error is difficult or impossible to make — rather than relying on people to be careful.</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IMPROVE · POKA-YOKE LEVELS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Three Levels of Mistake Proofing</a:t>
            </a:r>
          </a:p>
        </p:txBody>
      </p:sp>
      <p:sp>
        <p:nvSpPr>
          <p:cNvPr id="6" name="Rectangle 5"/>
          <p:cNvSpPr/>
          <p:nvPr/>
        </p:nvSpPr>
        <p:spPr>
          <a:xfrm>
            <a:off x="777240"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3374136"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78408" y="2039112"/>
            <a:ext cx="2971800" cy="457200"/>
          </a:xfrm>
          <a:prstGeom prst="rect">
            <a:avLst/>
          </a:prstGeom>
          <a:noFill/>
        </p:spPr>
        <p:txBody>
          <a:bodyPr wrap="square" anchor="t">
            <a:spAutoFit/>
          </a:bodyPr>
          <a:lstStyle/>
          <a:p>
            <a:pPr algn="l">
              <a:spcAft>
                <a:spcPts val="400"/>
              </a:spcAft>
            </a:pPr>
            <a:r>
              <a:rPr sz="1800" b="1">
                <a:solidFill>
                  <a:srgbClr val="1F6FEB"/>
                </a:solidFill>
                <a:latin typeface="Arial"/>
              </a:rPr>
              <a:t>Prevention</a:t>
            </a:r>
          </a:p>
        </p:txBody>
      </p:sp>
      <p:sp>
        <p:nvSpPr>
          <p:cNvPr id="9" name="TextBox 8"/>
          <p:cNvSpPr txBox="1"/>
          <p:nvPr/>
        </p:nvSpPr>
        <p:spPr>
          <a:xfrm>
            <a:off x="978408"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cannot happen</a:t>
            </a:r>
          </a:p>
        </p:txBody>
      </p:sp>
      <p:sp>
        <p:nvSpPr>
          <p:cNvPr id="10" name="TextBox 9"/>
          <p:cNvSpPr txBox="1"/>
          <p:nvPr/>
        </p:nvSpPr>
        <p:spPr>
          <a:xfrm>
            <a:off x="978408" y="3081528"/>
            <a:ext cx="2971800" cy="2743200"/>
          </a:xfrm>
          <a:prstGeom prst="rect">
            <a:avLst/>
          </a:prstGeom>
          <a:noFill/>
        </p:spPr>
        <p:txBody>
          <a:bodyPr wrap="square">
            <a:spAutoFit/>
          </a:bodyPr>
          <a:lstStyle/>
          <a:p>
            <a:pPr>
              <a:spcAft>
                <a:spcPts val="700"/>
              </a:spcAft>
            </a:pPr>
            <a:r>
              <a:rPr sz="1200">
                <a:solidFill>
                  <a:srgbClr val="161B26"/>
                </a:solidFill>
                <a:latin typeface="Arial"/>
              </a:rPr>
              <a:t>•  Strongest form — design it out.</a:t>
            </a:r>
          </a:p>
          <a:p>
            <a:pPr>
              <a:spcAft>
                <a:spcPts val="700"/>
              </a:spcAft>
            </a:pPr>
            <a:r>
              <a:rPr sz="1200">
                <a:solidFill>
                  <a:srgbClr val="161B26"/>
                </a:solidFill>
                <a:latin typeface="Arial"/>
              </a:rPr>
              <a:t>•  A required field blocks submission.</a:t>
            </a:r>
          </a:p>
          <a:p>
            <a:pPr>
              <a:spcAft>
                <a:spcPts val="700"/>
              </a:spcAft>
            </a:pPr>
            <a:r>
              <a:rPr sz="1200">
                <a:solidFill>
                  <a:srgbClr val="161B26"/>
                </a:solidFill>
                <a:latin typeface="Arial"/>
              </a:rPr>
              <a:t>•  A connector only fits one way.</a:t>
            </a:r>
          </a:p>
        </p:txBody>
      </p:sp>
      <p:sp>
        <p:nvSpPr>
          <p:cNvPr id="11" name="Rectangle 10"/>
          <p:cNvSpPr/>
          <p:nvPr/>
        </p:nvSpPr>
        <p:spPr>
          <a:xfrm>
            <a:off x="4407408"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4407408" y="1783080"/>
            <a:ext cx="337413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608576" y="2039112"/>
            <a:ext cx="2971800" cy="457200"/>
          </a:xfrm>
          <a:prstGeom prst="rect">
            <a:avLst/>
          </a:prstGeom>
          <a:noFill/>
        </p:spPr>
        <p:txBody>
          <a:bodyPr wrap="square" anchor="t">
            <a:spAutoFit/>
          </a:bodyPr>
          <a:lstStyle/>
          <a:p>
            <a:pPr algn="l">
              <a:spcAft>
                <a:spcPts val="400"/>
              </a:spcAft>
            </a:pPr>
            <a:r>
              <a:rPr sz="1800" b="1">
                <a:solidFill>
                  <a:srgbClr val="10B981"/>
                </a:solidFill>
                <a:latin typeface="Arial"/>
              </a:rPr>
              <a:t>Detection</a:t>
            </a:r>
          </a:p>
        </p:txBody>
      </p:sp>
      <p:sp>
        <p:nvSpPr>
          <p:cNvPr id="14" name="TextBox 13"/>
          <p:cNvSpPr txBox="1"/>
          <p:nvPr/>
        </p:nvSpPr>
        <p:spPr>
          <a:xfrm>
            <a:off x="4608576"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error is caught immediately</a:t>
            </a:r>
          </a:p>
        </p:txBody>
      </p:sp>
      <p:sp>
        <p:nvSpPr>
          <p:cNvPr id="15" name="TextBox 14"/>
          <p:cNvSpPr txBox="1"/>
          <p:nvPr/>
        </p:nvSpPr>
        <p:spPr>
          <a:xfrm>
            <a:off x="4608576"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but is flagged at once.</a:t>
            </a:r>
          </a:p>
          <a:p>
            <a:pPr>
              <a:spcAft>
                <a:spcPts val="700"/>
              </a:spcAft>
            </a:pPr>
            <a:r>
              <a:rPr sz="1200">
                <a:solidFill>
                  <a:srgbClr val="161B26"/>
                </a:solidFill>
                <a:latin typeface="Arial"/>
              </a:rPr>
              <a:t>•  Validation warns on an invalid category.</a:t>
            </a:r>
          </a:p>
          <a:p>
            <a:pPr>
              <a:spcAft>
                <a:spcPts val="700"/>
              </a:spcAft>
            </a:pPr>
            <a:r>
              <a:rPr sz="1200">
                <a:solidFill>
                  <a:srgbClr val="161B26"/>
                </a:solidFill>
                <a:latin typeface="Arial"/>
              </a:rPr>
              <a:t>•  Weaker, but often easier to add.</a:t>
            </a:r>
          </a:p>
        </p:txBody>
      </p:sp>
      <p:sp>
        <p:nvSpPr>
          <p:cNvPr id="16" name="Rectangle 15"/>
          <p:cNvSpPr/>
          <p:nvPr/>
        </p:nvSpPr>
        <p:spPr>
          <a:xfrm>
            <a:off x="8037576" y="1783080"/>
            <a:ext cx="3374136"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037576" y="1783080"/>
            <a:ext cx="3374136" cy="9144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38744" y="2039112"/>
            <a:ext cx="2971800" cy="457200"/>
          </a:xfrm>
          <a:prstGeom prst="rect">
            <a:avLst/>
          </a:prstGeom>
          <a:noFill/>
        </p:spPr>
        <p:txBody>
          <a:bodyPr wrap="square" anchor="t">
            <a:spAutoFit/>
          </a:bodyPr>
          <a:lstStyle/>
          <a:p>
            <a:pPr algn="l">
              <a:spcAft>
                <a:spcPts val="400"/>
              </a:spcAft>
            </a:pPr>
            <a:r>
              <a:rPr sz="1800" b="1">
                <a:solidFill>
                  <a:srgbClr val="7C3AED"/>
                </a:solidFill>
                <a:latin typeface="Arial"/>
              </a:rPr>
              <a:t>Mitigation</a:t>
            </a:r>
          </a:p>
        </p:txBody>
      </p:sp>
      <p:sp>
        <p:nvSpPr>
          <p:cNvPr id="19" name="TextBox 18"/>
          <p:cNvSpPr txBox="1"/>
          <p:nvPr/>
        </p:nvSpPr>
        <p:spPr>
          <a:xfrm>
            <a:off x="8238744" y="2532888"/>
            <a:ext cx="2971800" cy="457200"/>
          </a:xfrm>
          <a:prstGeom prst="rect">
            <a:avLst/>
          </a:prstGeom>
          <a:noFill/>
        </p:spPr>
        <p:txBody>
          <a:bodyPr wrap="square" anchor="t">
            <a:spAutoFit/>
          </a:bodyPr>
          <a:lstStyle/>
          <a:p>
            <a:pPr algn="l">
              <a:spcAft>
                <a:spcPts val="400"/>
              </a:spcAft>
            </a:pPr>
            <a:r>
              <a:rPr sz="1200" b="0">
                <a:solidFill>
                  <a:srgbClr val="5B6372"/>
                </a:solidFill>
                <a:latin typeface="Arial"/>
              </a:rPr>
              <a:t>The impact is reduced</a:t>
            </a:r>
          </a:p>
        </p:txBody>
      </p:sp>
      <p:sp>
        <p:nvSpPr>
          <p:cNvPr id="20" name="TextBox 19"/>
          <p:cNvSpPr txBox="1"/>
          <p:nvPr/>
        </p:nvSpPr>
        <p:spPr>
          <a:xfrm>
            <a:off x="8238744" y="3081528"/>
            <a:ext cx="2971800" cy="2743200"/>
          </a:xfrm>
          <a:prstGeom prst="rect">
            <a:avLst/>
          </a:prstGeom>
          <a:noFill/>
        </p:spPr>
        <p:txBody>
          <a:bodyPr wrap="square">
            <a:spAutoFit/>
          </a:bodyPr>
          <a:lstStyle/>
          <a:p>
            <a:pPr>
              <a:spcAft>
                <a:spcPts val="700"/>
              </a:spcAft>
            </a:pPr>
            <a:r>
              <a:rPr sz="1200">
                <a:solidFill>
                  <a:srgbClr val="161B26"/>
                </a:solidFill>
                <a:latin typeface="Arial"/>
              </a:rPr>
              <a:t>•  The error happens and is not caught.</a:t>
            </a:r>
          </a:p>
          <a:p>
            <a:pPr>
              <a:spcAft>
                <a:spcPts val="700"/>
              </a:spcAft>
            </a:pPr>
            <a:r>
              <a:rPr sz="1200">
                <a:solidFill>
                  <a:srgbClr val="161B26"/>
                </a:solidFill>
                <a:latin typeface="Arial"/>
              </a:rPr>
              <a:t>•  But its consequence is limited.</a:t>
            </a:r>
          </a:p>
          <a:p>
            <a:pPr>
              <a:spcAft>
                <a:spcPts val="700"/>
              </a:spcAft>
            </a:pPr>
            <a:r>
              <a:rPr sz="1200">
                <a:solidFill>
                  <a:srgbClr val="161B26"/>
                </a:solidFill>
                <a:latin typeface="Arial"/>
              </a:rPr>
              <a:t>•  Weakest — use only when the others cannot apply.</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199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STANDARD WORK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Work</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is</a:t>
            </a:r>
          </a:p>
          <a:p>
            <a:pPr algn="l">
              <a:spcAft>
                <a:spcPts val="300"/>
              </a:spcAft>
            </a:pPr>
            <a:r>
              <a:rPr sz="1100" b="0">
                <a:solidFill>
                  <a:srgbClr val="5B6372"/>
                </a:solidFill>
                <a:latin typeface="Arial"/>
              </a:rPr>
              <a:t>The documented, current best-known way to perform the task.</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it matters</a:t>
            </a:r>
          </a:p>
          <a:p>
            <a:pPr algn="l">
              <a:spcAft>
                <a:spcPts val="300"/>
              </a:spcAft>
            </a:pPr>
            <a:r>
              <a:rPr sz="1100" b="0">
                <a:solidFill>
                  <a:srgbClr val="5B6372"/>
                </a:solidFill>
                <a:latin typeface="Arial"/>
              </a:rPr>
              <a:t>You cannot improve a process that everyone performs differently.</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What it contains</a:t>
            </a:r>
          </a:p>
          <a:p>
            <a:pPr algn="l">
              <a:spcAft>
                <a:spcPts val="300"/>
              </a:spcAft>
            </a:pPr>
            <a:r>
              <a:rPr sz="1100" b="0">
                <a:solidFill>
                  <a:srgbClr val="5B6372"/>
                </a:solidFill>
                <a:latin typeface="Arial"/>
              </a:rPr>
              <a:t>The sequence, the time each step takes and the quality checks.</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Who writes it</a:t>
            </a:r>
          </a:p>
          <a:p>
            <a:pPr algn="l">
              <a:spcAft>
                <a:spcPts val="300"/>
              </a:spcAft>
            </a:pPr>
            <a:r>
              <a:rPr sz="1100" b="0">
                <a:solidFill>
                  <a:srgbClr val="5B6372"/>
                </a:solidFill>
                <a:latin typeface="Arial"/>
              </a:rPr>
              <a:t>The people who do the work — not a manager writing in isolation.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living</a:t>
            </a:r>
          </a:p>
          <a:p>
            <a:pPr algn="l">
              <a:spcAft>
                <a:spcPts val="300"/>
              </a:spcAft>
            </a:pPr>
            <a:r>
              <a:rPr sz="1100" b="0">
                <a:solidFill>
                  <a:srgbClr val="5B6372"/>
                </a:solidFill>
                <a:latin typeface="Arial"/>
              </a:rPr>
              <a:t>Update it every time a better method is proven.</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 Lean insight</a:t>
            </a:r>
          </a:p>
          <a:p>
            <a:pPr algn="l">
              <a:spcAft>
                <a:spcPts val="300"/>
              </a:spcAft>
            </a:pPr>
            <a:r>
              <a:rPr sz="1100" b="0">
                <a:solidFill>
                  <a:srgbClr val="5B6372"/>
                </a:solidFill>
                <a:latin typeface="Arial"/>
              </a:rPr>
              <a:t>Standard work is the baseline for the NEXT improvement, not a straitjacket.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IMPROVE · KAIZEN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Kaizen — Continuous Small Improvement</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principle</a:t>
            </a:r>
          </a:p>
          <a:p>
            <a:pPr algn="l">
              <a:spcAft>
                <a:spcPts val="300"/>
              </a:spcAft>
            </a:pPr>
            <a:r>
              <a:rPr sz="1200" b="0">
                <a:solidFill>
                  <a:srgbClr val="5B6372"/>
                </a:solidFill>
                <a:latin typeface="Arial"/>
              </a:rPr>
              <a:t>Many small improvements beat waiting for one perfect large one.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Who does it</a:t>
            </a:r>
          </a:p>
          <a:p>
            <a:pPr algn="l">
              <a:spcAft>
                <a:spcPts val="300"/>
              </a:spcAft>
            </a:pPr>
            <a:r>
              <a:rPr sz="1200" b="0">
                <a:solidFill>
                  <a:srgbClr val="5B6372"/>
                </a:solidFill>
                <a:latin typeface="Arial"/>
              </a:rPr>
              <a:t>Everyone — Kaizen is explicitly not reserved for specialists.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Kaizen event</a:t>
            </a:r>
          </a:p>
          <a:p>
            <a:pPr algn="l">
              <a:spcAft>
                <a:spcPts val="300"/>
              </a:spcAft>
            </a:pPr>
            <a:r>
              <a:rPr sz="1200" b="0">
                <a:solidFill>
                  <a:srgbClr val="5B6372"/>
                </a:solidFill>
                <a:latin typeface="Arial"/>
              </a:rPr>
              <a:t>A focused 3-5 day workshop to fix one process end to end.</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fit</a:t>
            </a:r>
          </a:p>
          <a:p>
            <a:pPr algn="l">
              <a:spcAft>
                <a:spcPts val="300"/>
              </a:spcAft>
            </a:pPr>
            <a:r>
              <a:rPr sz="1200" b="0">
                <a:solidFill>
                  <a:srgbClr val="5B6372"/>
                </a:solidFill>
                <a:latin typeface="Arial"/>
              </a:rPr>
              <a:t>This is exactly the scale of improvement a Yellow Belt leads.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IMPROVE · PILOTING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Piloting Before Full Rollout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Why pilot</a:t>
            </a:r>
          </a:p>
          <a:p>
            <a:pPr algn="l">
              <a:spcAft>
                <a:spcPts val="300"/>
              </a:spcAft>
            </a:pPr>
            <a:r>
              <a:rPr sz="1100" b="0">
                <a:solidFill>
                  <a:srgbClr val="5B6372"/>
                </a:solidFill>
                <a:latin typeface="Arial"/>
              </a:rPr>
              <a:t>Exposes practical issues cheaply, before they affect every customer.</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small</a:t>
            </a:r>
          </a:p>
          <a:p>
            <a:pPr algn="l">
              <a:spcAft>
                <a:spcPts val="300"/>
              </a:spcAft>
            </a:pPr>
            <a:r>
              <a:rPr sz="1100" b="0">
                <a:solidFill>
                  <a:srgbClr val="5B6372"/>
                </a:solidFill>
                <a:latin typeface="Arial"/>
              </a:rPr>
              <a:t>One team, one shift or one ticket category is usually enough.</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Measure the same way</a:t>
            </a:r>
          </a:p>
          <a:p>
            <a:pPr algn="l">
              <a:spcAft>
                <a:spcPts val="300"/>
              </a:spcAft>
            </a:pPr>
            <a:r>
              <a:rPr sz="1100" b="0">
                <a:solidFill>
                  <a:srgbClr val="5B6372"/>
                </a:solidFill>
                <a:latin typeface="Arial"/>
              </a:rPr>
              <a:t>Use the identical operational definition as your baseline, or you cannot compare.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Run it long enough</a:t>
            </a:r>
          </a:p>
          <a:p>
            <a:pPr algn="l">
              <a:spcAft>
                <a:spcPts val="300"/>
              </a:spcAft>
            </a:pPr>
            <a:r>
              <a:rPr sz="1100" b="0">
                <a:solidFill>
                  <a:srgbClr val="5B6372"/>
                </a:solidFill>
                <a:latin typeface="Arial"/>
              </a:rPr>
              <a:t>Cover a full business cycle so you see normal variation.</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Decide honestly</a:t>
            </a:r>
          </a:p>
          <a:p>
            <a:pPr algn="l">
              <a:spcAft>
                <a:spcPts val="300"/>
              </a:spcAft>
            </a:pPr>
            <a:r>
              <a:rPr sz="1100" b="0">
                <a:solidFill>
                  <a:srgbClr val="5B6372"/>
                </a:solidFill>
                <a:latin typeface="Arial"/>
              </a:rPr>
              <a:t>Adopt, adapt or abandon — a failed pilot that saves a bad rollout is a success.</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Then standardise</a:t>
            </a:r>
          </a:p>
          <a:p>
            <a:pPr algn="l">
              <a:spcAft>
                <a:spcPts val="300"/>
              </a:spcAft>
            </a:pPr>
            <a:r>
              <a:rPr sz="1100" b="0">
                <a:solidFill>
                  <a:srgbClr val="5B6372"/>
                </a:solidFill>
                <a:latin typeface="Arial"/>
              </a:rPr>
              <a:t>Only after the pilot proves the gain do you write it into standard work.</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Improve</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9 — Countermeasures, 5S, Mistake Proofing, Sta</a:t>
            </a:r>
          </a:p>
          <a:p>
            <a:pPr algn="l">
              <a:spcAft>
                <a:spcPts val="300"/>
              </a:spcAft>
            </a:pPr>
            <a:r>
              <a:rPr sz="1100" b="0">
                <a:solidFill>
                  <a:srgbClr val="5B6372"/>
                </a:solidFill>
                <a:latin typeface="Arial"/>
              </a:rPr>
              <a:t>A prioritised countermeasure set with a 5S plan, a poka-yoke design an</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13 (elective) — Solution Selection Matrix, Benchmarking,</a:t>
            </a:r>
          </a:p>
          <a:p>
            <a:pPr algn="l">
              <a:spcAft>
                <a:spcPts val="300"/>
              </a:spcAft>
            </a:pPr>
            <a:r>
              <a:rPr sz="1100" b="0">
                <a:solidFill>
                  <a:srgbClr val="5B6372"/>
                </a:solidFill>
                <a:latin typeface="Arial"/>
              </a:rPr>
              <a:t>A scored solution selection matrix, a benchmarking summary and an FMEA</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9</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Generate and select countermeasures that attack the root cause you proved — not the symptom. Apply the core Lean improvement tools: 5S, poka-yoke, visual management, standard work and Kaizen.</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prioritised countermeasure set with a 5S plan, a poka-yoke design and standard work.</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Brainstorming, 5S, poka-yoke, visual management, standard work, Kaizen</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Generate countermeasures for each proven root cause — quantity before quality.</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Prioritise using an impact vs effort matrix to find the quick wins.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Apply 5S thinking — Sort, Set in order, Shine, Standardise, Sustain — including to digital work.</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Design one poka-yoke that makes the error difficult or impossible to make.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Draft standard work so the improved method is repeatable by anyone.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209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Plan a Kaizen event or pilot to test the countermeasure at small scale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Countermeasures, 5S, Mistake Proofing,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7</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7 OF 7</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Distinguish a containment countermeasure from a permanent solution.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9 · activities/09 - Countermeasures, 5S, Mistake.../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9 — Your Data Files</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400" b="1">
                <a:solidFill>
                  <a:srgbClr val="161B26"/>
                </a:solidFill>
                <a:latin typeface="Arial"/>
              </a:rPr>
              <a:t>templates/5s-plan.csv</a:t>
            </a:r>
          </a:p>
          <a:p>
            <a:pPr algn="l">
              <a:spcAft>
                <a:spcPts val="300"/>
              </a:spcAft>
            </a:pPr>
            <a:r>
              <a:rPr sz="1000" b="0">
                <a:solidFill>
                  <a:srgbClr val="5B6372"/>
                </a:solidFill>
                <a:latin typeface="Arial"/>
              </a:rPr>
              <a:t>Worksheet to complete · S, what_it_means_here, action, owner</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400" b="1">
                <a:solidFill>
                  <a:srgbClr val="161B26"/>
                </a:solidFill>
                <a:latin typeface="Arial"/>
              </a:rPr>
              <a:t>templates/countermeasures.csv</a:t>
            </a:r>
          </a:p>
          <a:p>
            <a:pPr algn="l">
              <a:spcAft>
                <a:spcPts val="300"/>
              </a:spcAft>
            </a:pPr>
            <a:r>
              <a:rPr sz="1000" b="0">
                <a:solidFill>
                  <a:srgbClr val="5B6372"/>
                </a:solidFill>
                <a:latin typeface="Arial"/>
              </a:rPr>
              <a:t>Worksheet to complete · root_cause, countermeasure, +4 more</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9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Countermeasures, 5S, Mistake Proofing, Standard Work, and Kaizen</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countermeasure traces back to a proven root cause, and your poka-yoke prevents rather than detects the error.</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IMPROVE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13</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Three Improve-phase tools from the original course. Score solutions against weighted criteria, benchmark against outstanding practice, and use FMEA to find how a proposed change could fail before it does.</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scored solution selection matrix, a benchmarking summary and an FMEA with RPN.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Solution selection matrix, benchmarking, FMEA, RPN scoring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Agree the selection criteria and weight each by importance.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Score every candidate solution against the weighted criteria and rank the results.</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Benchmark your process against an internal or external reference and note the gap.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Build an FMEA: failure mode, effect, cause, then score Severity, Occurrence and Detection.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Elective — Solution Selection Matrix,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5</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Calculate RPN = S x O x D and address the highest-RPN failure modes first.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219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13 · activities/13 - Solution Selection Matrix,.../</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13 — Your Data Files</a:t>
            </a:r>
          </a:p>
        </p:txBody>
      </p:sp>
      <p:sp>
        <p:nvSpPr>
          <p:cNvPr id="6" name="Rectangle 5"/>
          <p:cNvSpPr/>
          <p:nvPr/>
        </p:nvSpPr>
        <p:spPr>
          <a:xfrm>
            <a:off x="777240" y="1783080"/>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data/candidate-solutions.csv</a:t>
            </a:r>
          </a:p>
          <a:p>
            <a:pPr algn="l">
              <a:spcAft>
                <a:spcPts val="300"/>
              </a:spcAft>
            </a:pPr>
            <a:r>
              <a:rPr sz="1000" b="0">
                <a:solidFill>
                  <a:srgbClr val="5B6372"/>
                </a:solidFill>
                <a:latin typeface="Arial"/>
              </a:rPr>
              <a:t>5 rows · solution_id, candidate_solution, est_cost, est_effort_days</a:t>
            </a:r>
          </a:p>
        </p:txBody>
      </p:sp>
      <p:sp>
        <p:nvSpPr>
          <p:cNvPr id="11" name="Rectangle 10"/>
          <p:cNvSpPr/>
          <p:nvPr/>
        </p:nvSpPr>
        <p:spPr>
          <a:xfrm>
            <a:off x="777240" y="3319272"/>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3319272"/>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703320"/>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429000"/>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templates/fmea.csv</a:t>
            </a:r>
          </a:p>
          <a:p>
            <a:pPr algn="l">
              <a:spcAft>
                <a:spcPts val="300"/>
              </a:spcAft>
            </a:pPr>
            <a:r>
              <a:rPr sz="1000" b="0">
                <a:solidFill>
                  <a:srgbClr val="5B6372"/>
                </a:solidFill>
                <a:latin typeface="Arial"/>
              </a:rPr>
              <a:t>Worksheet to complete · process_step, failure_mode, effect, cause, +5 more</a:t>
            </a:r>
          </a:p>
        </p:txBody>
      </p:sp>
      <p:sp>
        <p:nvSpPr>
          <p:cNvPr id="16" name="Rectangle 15"/>
          <p:cNvSpPr/>
          <p:nvPr/>
        </p:nvSpPr>
        <p:spPr>
          <a:xfrm>
            <a:off x="777240" y="4855464"/>
            <a:ext cx="10634472"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855464"/>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523951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965192"/>
            <a:ext cx="9482328" cy="1133856"/>
          </a:xfrm>
          <a:prstGeom prst="rect">
            <a:avLst/>
          </a:prstGeom>
          <a:noFill/>
        </p:spPr>
        <p:txBody>
          <a:bodyPr wrap="square" anchor="ctr">
            <a:spAutoFit/>
          </a:bodyPr>
          <a:lstStyle/>
          <a:p>
            <a:pPr algn="l">
              <a:spcAft>
                <a:spcPts val="300"/>
              </a:spcAft>
            </a:pPr>
            <a:r>
              <a:rPr sz="1400" b="1">
                <a:solidFill>
                  <a:srgbClr val="161B26"/>
                </a:solidFill>
                <a:latin typeface="Arial"/>
              </a:rPr>
              <a:t>templates/solution-selection-matrix.csv</a:t>
            </a:r>
          </a:p>
          <a:p>
            <a:pPr algn="l">
              <a:spcAft>
                <a:spcPts val="300"/>
              </a:spcAft>
            </a:pPr>
            <a:r>
              <a:rPr sz="1000" b="0">
                <a:solidFill>
                  <a:srgbClr val="5B6372"/>
                </a:solidFill>
                <a:latin typeface="Arial"/>
              </a:rPr>
              <a:t>Worksheet to complete · solution, impact_w5, cost_w3, ease_w2, +2 more</a:t>
            </a:r>
          </a:p>
        </p:txBody>
      </p:sp>
      <p:sp>
        <p:nvSpPr>
          <p:cNvPr id="21" name="TextBox 2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2" name="TextBox 2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3" name="TextBox 2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13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Solution Selection Matrix, Benchmarking, and FMEA</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Your matrix ranks solutions by weighted score, and every FMEA row has an RPN and an action for the highest scores.</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Improve</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Generating solutions — Brainstorm widely against the proven root cause before evaluating anything.</a:t>
            </a:r>
          </a:p>
          <a:p>
            <a:pPr>
              <a:spcAft>
                <a:spcPts val="1000"/>
              </a:spcAft>
            </a:pPr>
            <a:r>
              <a:rPr sz="1500">
                <a:solidFill>
                  <a:srgbClr val="161B26"/>
                </a:solidFill>
                <a:latin typeface="Arial"/>
              </a:rPr>
              <a:t>•  Solution selection — Score candidate solutions against weighted criteria before committing.</a:t>
            </a:r>
          </a:p>
          <a:p>
            <a:pPr>
              <a:spcAft>
                <a:spcPts val="1000"/>
              </a:spcAft>
            </a:pPr>
            <a:r>
              <a:rPr sz="1500">
                <a:solidFill>
                  <a:srgbClr val="161B26"/>
                </a:solidFill>
                <a:latin typeface="Arial"/>
              </a:rPr>
              <a:t>•  5S — Sort, Set in order, Shine, Standardise, Sustain — for physical and digital work.</a:t>
            </a:r>
          </a:p>
          <a:p>
            <a:pPr>
              <a:spcAft>
                <a:spcPts val="1000"/>
              </a:spcAft>
            </a:pPr>
            <a:r>
              <a:rPr sz="1500">
                <a:solidFill>
                  <a:srgbClr val="161B26"/>
                </a:solidFill>
                <a:latin typeface="Arial"/>
              </a:rPr>
              <a:t>•  Poka-Yoke — Mistake proofing makes the error difficult or impossible to make in the first place.</a:t>
            </a:r>
          </a:p>
          <a:p>
            <a:pPr>
              <a:spcAft>
                <a:spcPts val="1000"/>
              </a:spcAft>
            </a:pPr>
            <a:r>
              <a:rPr sz="1500">
                <a:solidFill>
                  <a:srgbClr val="161B26"/>
                </a:solidFill>
                <a:latin typeface="Arial"/>
              </a:rPr>
              <a:t>•  Standard work — Document the improved method so anyone can repeat it the same way.</a:t>
            </a:r>
          </a:p>
          <a:p>
            <a:pPr>
              <a:spcAft>
                <a:spcPts val="1000"/>
              </a:spcAft>
            </a:pPr>
            <a:r>
              <a:rPr sz="1500">
                <a:solidFill>
                  <a:srgbClr val="161B26"/>
                </a:solidFill>
                <a:latin typeface="Arial"/>
              </a:rPr>
              <a:t>•  Piloting — Test the change at small scale to expose issues before full rollout.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DMAIC · CONTROL</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Control — Hold the Gain</a:t>
            </a:r>
          </a:p>
        </p:txBody>
      </p:sp>
      <p:sp>
        <p:nvSpPr>
          <p:cNvPr id="7" name="TextBox 6"/>
          <p:cNvSpPr txBox="1"/>
          <p:nvPr/>
        </p:nvSpPr>
        <p:spPr>
          <a:xfrm>
            <a:off x="1161288" y="4160520"/>
            <a:ext cx="10058400" cy="822960"/>
          </a:xfrm>
          <a:prstGeom prst="rect">
            <a:avLst/>
          </a:prstGeom>
          <a:noFill/>
        </p:spPr>
        <p:txBody>
          <a:bodyPr wrap="square" anchor="t">
            <a:spAutoFit/>
          </a:bodyPr>
          <a:lstStyle/>
          <a:p>
            <a:pPr algn="l">
              <a:spcAft>
                <a:spcPts val="400"/>
              </a:spcAft>
            </a:pPr>
            <a:r>
              <a:rPr sz="1600" b="0">
                <a:solidFill>
                  <a:srgbClr val="5B6372"/>
                </a:solidFill>
                <a:latin typeface="Arial"/>
              </a:rPr>
              <a:t>Control plan · Visual management · SOPs · Huddles · A3 · Handover · Certification</a:t>
            </a:r>
          </a:p>
        </p:txBody>
      </p:sp>
      <p:sp>
        <p:nvSpPr>
          <p:cNvPr id="8" name="TextBox 7"/>
          <p:cNvSpPr txBox="1"/>
          <p:nvPr/>
        </p:nvSpPr>
        <p:spPr>
          <a:xfrm>
            <a:off x="9144000" y="640080"/>
            <a:ext cx="2560320" cy="1463040"/>
          </a:xfrm>
          <a:prstGeom prst="rect">
            <a:avLst/>
          </a:prstGeom>
          <a:noFill/>
        </p:spPr>
        <p:txBody>
          <a:bodyPr wrap="square" anchor="t">
            <a:spAutoFit/>
          </a:bodyPr>
          <a:lstStyle/>
          <a:p>
            <a:pPr algn="r">
              <a:spcAft>
                <a:spcPts val="400"/>
              </a:spcAft>
            </a:pPr>
            <a:r>
              <a:rPr sz="7200" b="1">
                <a:solidFill>
                  <a:srgbClr val="E2E8F0"/>
                </a:solidFill>
                <a:latin typeface="Arial"/>
              </a:rPr>
              <a:t>C</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5% OF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Key Concepts — Control</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Control plan</a:t>
            </a:r>
          </a:p>
          <a:p>
            <a:pPr algn="l">
              <a:spcAft>
                <a:spcPts val="300"/>
              </a:spcAft>
            </a:pPr>
            <a:r>
              <a:rPr sz="1100" b="0">
                <a:solidFill>
                  <a:srgbClr val="5B6372"/>
                </a:solidFill>
                <a:latin typeface="Arial"/>
              </a:rPr>
              <a:t>Metric, target, monitoring method, frequency, owner and reaction plan.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Process control</a:t>
            </a:r>
          </a:p>
          <a:p>
            <a:pPr algn="l">
              <a:spcAft>
                <a:spcPts val="300"/>
              </a:spcAft>
            </a:pPr>
            <a:r>
              <a:rPr sz="1100" b="0">
                <a:solidFill>
                  <a:srgbClr val="5B6372"/>
                </a:solidFill>
                <a:latin typeface="Arial"/>
              </a:rPr>
              <a:t>A process is in control when it varies consistently within expected limits.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management</a:t>
            </a:r>
          </a:p>
          <a:p>
            <a:pPr algn="l">
              <a:spcAft>
                <a:spcPts val="300"/>
              </a:spcAft>
            </a:pPr>
            <a:r>
              <a:rPr sz="1100" b="0">
                <a:solidFill>
                  <a:srgbClr val="5B6372"/>
                </a:solidFill>
                <a:latin typeface="Arial"/>
              </a:rPr>
              <a:t>Boards and dashboards keep the improved performance visible to everyone.</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Standard operating procedures</a:t>
            </a:r>
          </a:p>
          <a:p>
            <a:pPr algn="l">
              <a:spcAft>
                <a:spcPts val="300"/>
              </a:spcAft>
            </a:pPr>
            <a:r>
              <a:rPr sz="1100" b="0">
                <a:solidFill>
                  <a:srgbClr val="5B6372"/>
                </a:solidFill>
                <a:latin typeface="Arial"/>
              </a:rPr>
              <a:t>Written instructions that lock in the improved method.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Short, regular stand-ups that surface problems while they are still small.</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A3 and handover</a:t>
            </a:r>
          </a:p>
          <a:p>
            <a:pPr algn="l">
              <a:spcAft>
                <a:spcPts val="300"/>
              </a:spcAft>
            </a:pPr>
            <a:r>
              <a:rPr sz="1100" b="0">
                <a:solidFill>
                  <a:srgbClr val="5B6372"/>
                </a:solidFill>
                <a:latin typeface="Arial"/>
              </a:rPr>
              <a:t>One-page storytelling to summarise, hand over and sustain the improvement.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DMAIC · C —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Control — How do we make the gain stick?</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Without the Control phase, processes drift back to the old way within months and the whole project is wasted.</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ROADMAP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Steps in the Control Phase</a:t>
            </a:r>
          </a:p>
        </p:txBody>
      </p:sp>
      <p:sp>
        <p:nvSpPr>
          <p:cNvPr id="6" name="Rectangle 5"/>
          <p:cNvSpPr/>
          <p:nvPr/>
        </p:nvSpPr>
        <p:spPr>
          <a:xfrm>
            <a:off x="777240"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Build the control plan</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Set up monitoring and visual management</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Document the SOP and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Hand over to the process owner</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642616"/>
            <a:ext cx="1878177"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642616"/>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3026664"/>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941064"/>
            <a:ext cx="1622145" cy="850392"/>
          </a:xfrm>
          <a:prstGeom prst="rect">
            <a:avLst/>
          </a:prstGeom>
          <a:noFill/>
        </p:spPr>
        <p:txBody>
          <a:bodyPr wrap="square" anchor="t">
            <a:spAutoFit/>
          </a:bodyPr>
          <a:lstStyle/>
          <a:p>
            <a:pPr algn="ctr">
              <a:spcAft>
                <a:spcPts val="400"/>
              </a:spcAft>
            </a:pPr>
            <a:r>
              <a:rPr sz="1300" b="0">
                <a:solidFill>
                  <a:srgbClr val="161B26"/>
                </a:solidFill>
                <a:latin typeface="Arial"/>
              </a:rPr>
              <a:t>Close the project and share the learning</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CONTROL PLAN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Control Plan — Six Required Columns</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Metric</a:t>
            </a:r>
          </a:p>
          <a:p>
            <a:pPr algn="l">
              <a:spcAft>
                <a:spcPts val="300"/>
              </a:spcAft>
            </a:pPr>
            <a:r>
              <a:rPr sz="1100" b="0">
                <a:solidFill>
                  <a:srgbClr val="5B6372"/>
                </a:solidFill>
                <a:latin typeface="Arial"/>
              </a:rPr>
              <a:t>What is being monitored — the same operational definition as the baseline.</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Target</a:t>
            </a:r>
          </a:p>
          <a:p>
            <a:pPr algn="l">
              <a:spcAft>
                <a:spcPts val="300"/>
              </a:spcAft>
            </a:pPr>
            <a:r>
              <a:rPr sz="1100" b="0">
                <a:solidFill>
                  <a:srgbClr val="5B6372"/>
                </a:solidFill>
                <a:latin typeface="Arial"/>
              </a:rPr>
              <a:t>The agreed acceptable value or range.</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Method</a:t>
            </a:r>
          </a:p>
          <a:p>
            <a:pPr algn="l">
              <a:spcAft>
                <a:spcPts val="300"/>
              </a:spcAft>
            </a:pPr>
            <a:r>
              <a:rPr sz="1100" b="0">
                <a:solidFill>
                  <a:srgbClr val="5B6372"/>
                </a:solidFill>
                <a:latin typeface="Arial"/>
              </a:rPr>
              <a:t>How the measurement is taken — report, dashboard, sample or audit.</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Frequency</a:t>
            </a:r>
          </a:p>
          <a:p>
            <a:pPr algn="l">
              <a:spcAft>
                <a:spcPts val="300"/>
              </a:spcAft>
            </a:pPr>
            <a:r>
              <a:rPr sz="1100" b="0">
                <a:solidFill>
                  <a:srgbClr val="5B6372"/>
                </a:solidFill>
                <a:latin typeface="Arial"/>
              </a:rPr>
              <a:t>How often it is checked: per shift, daily, weekly.</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Owner</a:t>
            </a:r>
          </a:p>
          <a:p>
            <a:pPr algn="l">
              <a:spcAft>
                <a:spcPts val="300"/>
              </a:spcAft>
            </a:pPr>
            <a:r>
              <a:rPr sz="1100" b="0">
                <a:solidFill>
                  <a:srgbClr val="5B6372"/>
                </a:solidFill>
                <a:latin typeface="Arial"/>
              </a:rPr>
              <a:t>The named person accountable — a role, never 'the team'.</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Reaction plan</a:t>
            </a:r>
          </a:p>
          <a:p>
            <a:pPr algn="l">
              <a:spcAft>
                <a:spcPts val="300"/>
              </a:spcAft>
            </a:pPr>
            <a:r>
              <a:rPr sz="1100" b="0">
                <a:solidFill>
                  <a:srgbClr val="5B6372"/>
                </a:solidFill>
                <a:latin typeface="Arial"/>
              </a:rPr>
              <a:t>Exactly what happens when the metric falls outside target.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DC2C2C"/>
                </a:solidFill>
                <a:latin typeface="Arial"/>
              </a:rPr>
              <a:t>CONTROL · ACCOUNTABILITY</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A control plan without a named owner is a wish.</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Every row needs a person accountable and a specific action to take when the number goes wrong — otherwise nothing happens.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7C3AED"/>
                </a:solidFill>
                <a:latin typeface="Arial"/>
              </a:rPr>
              <a:t>CONTROL · PROCESS CONTROL</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What is process control?</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A process is 'in control' when it varies consistently within expected limits over time — predictable, even if not yet perfect.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229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A CRITICAL DISTINCTION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Control Limits vs Specification Limits</a:t>
            </a:r>
          </a:p>
        </p:txBody>
      </p:sp>
      <p:sp>
        <p:nvSpPr>
          <p:cNvPr id="6" name="Rectangle 5"/>
          <p:cNvSpPr/>
          <p:nvPr/>
        </p:nvSpPr>
        <p:spPr>
          <a:xfrm>
            <a:off x="777240" y="1783080"/>
            <a:ext cx="521208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6355080" y="1783080"/>
            <a:ext cx="5074920" cy="429768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777240" y="1783080"/>
            <a:ext cx="5212080"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6355080" y="1783080"/>
            <a:ext cx="5074920" cy="9144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2011680"/>
            <a:ext cx="4754880" cy="365760"/>
          </a:xfrm>
          <a:prstGeom prst="rect">
            <a:avLst/>
          </a:prstGeom>
          <a:noFill/>
        </p:spPr>
        <p:txBody>
          <a:bodyPr wrap="square" anchor="t">
            <a:spAutoFit/>
          </a:bodyPr>
          <a:lstStyle/>
          <a:p>
            <a:pPr algn="l">
              <a:spcAft>
                <a:spcPts val="400"/>
              </a:spcAft>
            </a:pPr>
            <a:r>
              <a:rPr sz="1600" b="1">
                <a:solidFill>
                  <a:srgbClr val="DC2C2C"/>
                </a:solidFill>
                <a:latin typeface="Arial"/>
              </a:rPr>
              <a:t>Set by the customer</a:t>
            </a:r>
          </a:p>
        </p:txBody>
      </p:sp>
      <p:sp>
        <p:nvSpPr>
          <p:cNvPr id="11" name="TextBox 10"/>
          <p:cNvSpPr txBox="1"/>
          <p:nvPr/>
        </p:nvSpPr>
        <p:spPr>
          <a:xfrm>
            <a:off x="6583680" y="2011680"/>
            <a:ext cx="4572000" cy="365760"/>
          </a:xfrm>
          <a:prstGeom prst="rect">
            <a:avLst/>
          </a:prstGeom>
          <a:noFill/>
        </p:spPr>
        <p:txBody>
          <a:bodyPr wrap="square" anchor="t">
            <a:spAutoFit/>
          </a:bodyPr>
          <a:lstStyle/>
          <a:p>
            <a:pPr algn="l">
              <a:spcAft>
                <a:spcPts val="400"/>
              </a:spcAft>
            </a:pPr>
            <a:r>
              <a:rPr sz="1600" b="1">
                <a:solidFill>
                  <a:srgbClr val="1F6FEB"/>
                </a:solidFill>
                <a:latin typeface="Arial"/>
              </a:rPr>
              <a:t>Set by the process</a:t>
            </a:r>
          </a:p>
        </p:txBody>
      </p:sp>
      <p:sp>
        <p:nvSpPr>
          <p:cNvPr id="12" name="TextBox 11"/>
          <p:cNvSpPr txBox="1"/>
          <p:nvPr/>
        </p:nvSpPr>
        <p:spPr>
          <a:xfrm>
            <a:off x="1005840" y="2514600"/>
            <a:ext cx="4754880" cy="3429000"/>
          </a:xfrm>
          <a:prstGeom prst="rect">
            <a:avLst/>
          </a:prstGeom>
          <a:noFill/>
        </p:spPr>
        <p:txBody>
          <a:bodyPr wrap="square">
            <a:spAutoFit/>
          </a:bodyPr>
          <a:lstStyle/>
          <a:p>
            <a:pPr>
              <a:spcAft>
                <a:spcPts val="1000"/>
              </a:spcAft>
            </a:pPr>
            <a:r>
              <a:rPr sz="1500">
                <a:solidFill>
                  <a:srgbClr val="161B26"/>
                </a:solidFill>
                <a:latin typeface="Arial"/>
              </a:rPr>
              <a:t>•  Specification limits (LSL / USL)</a:t>
            </a:r>
          </a:p>
          <a:p>
            <a:pPr>
              <a:spcAft>
                <a:spcPts val="1000"/>
              </a:spcAft>
            </a:pPr>
            <a:r>
              <a:rPr sz="1300">
                <a:solidFill>
                  <a:srgbClr val="5B6372"/>
                </a:solidFill>
                <a:latin typeface="Arial"/>
              </a:rPr>
              <a:t>–  Given by the CUSTOMER</a:t>
            </a:r>
          </a:p>
          <a:p>
            <a:pPr>
              <a:spcAft>
                <a:spcPts val="1000"/>
              </a:spcAft>
            </a:pPr>
            <a:r>
              <a:rPr sz="1300">
                <a:solidFill>
                  <a:srgbClr val="5B6372"/>
                </a:solidFill>
                <a:latin typeface="Arial"/>
              </a:rPr>
              <a:t>–  Define what counts as a defect</a:t>
            </a:r>
          </a:p>
          <a:p>
            <a:pPr>
              <a:spcAft>
                <a:spcPts val="1000"/>
              </a:spcAft>
            </a:pPr>
            <a:r>
              <a:rPr sz="1300">
                <a:solidFill>
                  <a:srgbClr val="5B6372"/>
                </a:solidFill>
                <a:latin typeface="Arial"/>
              </a:rPr>
              <a:t>–  Do not change when the process changes</a:t>
            </a:r>
          </a:p>
          <a:p>
            <a:pPr>
              <a:spcAft>
                <a:spcPts val="1000"/>
              </a:spcAft>
            </a:pPr>
            <a:r>
              <a:rPr sz="1300">
                <a:solidFill>
                  <a:srgbClr val="5B6372"/>
                </a:solidFill>
                <a:latin typeface="Arial"/>
              </a:rPr>
              <a:t>–  Outside them = a defect</a:t>
            </a:r>
          </a:p>
        </p:txBody>
      </p:sp>
      <p:sp>
        <p:nvSpPr>
          <p:cNvPr id="13" name="TextBox 12"/>
          <p:cNvSpPr txBox="1"/>
          <p:nvPr/>
        </p:nvSpPr>
        <p:spPr>
          <a:xfrm>
            <a:off x="6583680" y="2514600"/>
            <a:ext cx="4617720" cy="3429000"/>
          </a:xfrm>
          <a:prstGeom prst="rect">
            <a:avLst/>
          </a:prstGeom>
          <a:noFill/>
        </p:spPr>
        <p:txBody>
          <a:bodyPr wrap="square">
            <a:spAutoFit/>
          </a:bodyPr>
          <a:lstStyle/>
          <a:p>
            <a:pPr>
              <a:spcAft>
                <a:spcPts val="1000"/>
              </a:spcAft>
            </a:pPr>
            <a:r>
              <a:rPr sz="1500">
                <a:solidFill>
                  <a:srgbClr val="161B26"/>
                </a:solidFill>
                <a:latin typeface="Arial"/>
              </a:rPr>
              <a:t>•  Control limits (LCL / UCL)</a:t>
            </a:r>
          </a:p>
          <a:p>
            <a:pPr>
              <a:spcAft>
                <a:spcPts val="1000"/>
              </a:spcAft>
            </a:pPr>
            <a:r>
              <a:rPr sz="1300">
                <a:solidFill>
                  <a:srgbClr val="5B6372"/>
                </a:solidFill>
                <a:latin typeface="Arial"/>
              </a:rPr>
              <a:t>–  Calculated from the PROCESS itself</a:t>
            </a:r>
          </a:p>
          <a:p>
            <a:pPr>
              <a:spcAft>
                <a:spcPts val="1000"/>
              </a:spcAft>
            </a:pPr>
            <a:r>
              <a:rPr sz="1300">
                <a:solidFill>
                  <a:srgbClr val="5B6372"/>
                </a:solidFill>
                <a:latin typeface="Arial"/>
              </a:rPr>
              <a:t>–  Typically the mean ± 3 standard deviations</a:t>
            </a:r>
          </a:p>
          <a:p>
            <a:pPr>
              <a:spcAft>
                <a:spcPts val="1000"/>
              </a:spcAft>
            </a:pPr>
            <a:r>
              <a:rPr sz="1300">
                <a:solidFill>
                  <a:srgbClr val="5B6372"/>
                </a:solidFill>
                <a:latin typeface="Arial"/>
              </a:rPr>
              <a:t>–  Change when the process changes</a:t>
            </a:r>
          </a:p>
          <a:p>
            <a:pPr>
              <a:spcAft>
                <a:spcPts val="1000"/>
              </a:spcAft>
            </a:pPr>
            <a:r>
              <a:rPr sz="1300">
                <a:solidFill>
                  <a:srgbClr val="5B6372"/>
                </a:solidFill>
                <a:latin typeface="Arial"/>
              </a:rPr>
              <a:t>–  Outside them = a special cause to investigate</a:t>
            </a:r>
          </a:p>
        </p:txBody>
      </p:sp>
      <p:sp>
        <p:nvSpPr>
          <p:cNvPr id="14" name="TextBox 13"/>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5" name="TextBox 14"/>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6" name="TextBox 15"/>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7C3AED"/>
                </a:solidFill>
                <a:latin typeface="Arial"/>
              </a:rPr>
              <a:t>CONTROL · SPC AWARENESS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Statistical Process Control (SPC)</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What it is</a:t>
            </a:r>
          </a:p>
          <a:p>
            <a:pPr algn="l">
              <a:spcAft>
                <a:spcPts val="300"/>
              </a:spcAft>
            </a:pPr>
            <a:r>
              <a:rPr sz="1200" b="0">
                <a:solidFill>
                  <a:srgbClr val="5B6372"/>
                </a:solidFill>
                <a:latin typeface="Arial"/>
              </a:rPr>
              <a:t>Monitoring a process over time so problems are predicted, not discovered late.</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The core idea</a:t>
            </a:r>
          </a:p>
          <a:p>
            <a:pPr algn="l">
              <a:spcAft>
                <a:spcPts val="300"/>
              </a:spcAft>
            </a:pPr>
            <a:r>
              <a:rPr sz="1200" b="0">
                <a:solidFill>
                  <a:srgbClr val="5B6372"/>
                </a:solidFill>
                <a:latin typeface="Arial"/>
              </a:rPr>
              <a:t>Plot the metric against control limits and watch for non-random patterns.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saves money</a:t>
            </a:r>
          </a:p>
          <a:p>
            <a:pPr algn="l">
              <a:spcAft>
                <a:spcPts val="300"/>
              </a:spcAft>
            </a:pPr>
            <a:r>
              <a:rPr sz="1200" b="0">
                <a:solidFill>
                  <a:srgbClr val="5B6372"/>
                </a:solidFill>
                <a:latin typeface="Arial"/>
              </a:rPr>
              <a:t>Preventing defects always costs less than inspecting and reworking them.</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Yellow Belt level</a:t>
            </a:r>
          </a:p>
          <a:p>
            <a:pPr algn="l">
              <a:spcAft>
                <a:spcPts val="300"/>
              </a:spcAft>
            </a:pPr>
            <a:r>
              <a:rPr sz="1200" b="0">
                <a:solidFill>
                  <a:srgbClr val="5B6372"/>
                </a:solidFill>
                <a:latin typeface="Arial"/>
              </a:rPr>
              <a:t>You are expected to read and interpret a control chart, not to construct one.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CONTROL · MAKING IT VISIBLE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Visual Management</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Visual boards</a:t>
            </a:r>
          </a:p>
          <a:p>
            <a:pPr algn="l">
              <a:spcAft>
                <a:spcPts val="300"/>
              </a:spcAft>
            </a:pPr>
            <a:r>
              <a:rPr sz="1100" b="0">
                <a:solidFill>
                  <a:srgbClr val="5B6372"/>
                </a:solidFill>
                <a:latin typeface="Arial"/>
              </a:rPr>
              <a:t>Display the metric, the target and the current status where the team works.</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Make it obvious</a:t>
            </a:r>
          </a:p>
          <a:p>
            <a:pPr algn="l">
              <a:spcAft>
                <a:spcPts val="300"/>
              </a:spcAft>
            </a:pPr>
            <a:r>
              <a:rPr sz="1100" b="0">
                <a:solidFill>
                  <a:srgbClr val="5B6372"/>
                </a:solidFill>
                <a:latin typeface="Arial"/>
              </a:rPr>
              <a:t>Anyone should see whether performance is on target within a few seconds.</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Team huddles</a:t>
            </a:r>
          </a:p>
          <a:p>
            <a:pPr algn="l">
              <a:spcAft>
                <a:spcPts val="300"/>
              </a:spcAft>
            </a:pPr>
            <a:r>
              <a:rPr sz="1100" b="0">
                <a:solidFill>
                  <a:srgbClr val="5B6372"/>
                </a:solidFill>
                <a:latin typeface="Arial"/>
              </a:rPr>
              <a:t>A short daily stand-up at the board — 15 minutes maximum.</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Drives ownership</a:t>
            </a:r>
          </a:p>
          <a:p>
            <a:pPr algn="l">
              <a:spcAft>
                <a:spcPts val="300"/>
              </a:spcAft>
            </a:pPr>
            <a:r>
              <a:rPr sz="1100" b="0">
                <a:solidFill>
                  <a:srgbClr val="5B6372"/>
                </a:solidFill>
                <a:latin typeface="Arial"/>
              </a:rPr>
              <a:t>When performance is visible, the team owns it rather than the manager.</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Surfaces issues early</a:t>
            </a:r>
          </a:p>
          <a:p>
            <a:pPr algn="l">
              <a:spcAft>
                <a:spcPts val="300"/>
              </a:spcAft>
            </a:pPr>
            <a:r>
              <a:rPr sz="1100" b="0">
                <a:solidFill>
                  <a:srgbClr val="5B6372"/>
                </a:solidFill>
                <a:latin typeface="Arial"/>
              </a:rPr>
              <a:t>Problems are raised while they are still small and cheap to fix.</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Keep it current</a:t>
            </a:r>
          </a:p>
          <a:p>
            <a:pPr algn="l">
              <a:spcAft>
                <a:spcPts val="300"/>
              </a:spcAft>
            </a:pPr>
            <a:r>
              <a:rPr sz="1100" b="0">
                <a:solidFill>
                  <a:srgbClr val="5B6372"/>
                </a:solidFill>
                <a:latin typeface="Arial"/>
              </a:rPr>
              <a:t>An out-of-date board is worse than no board — it teaches people to ignore it.</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SOPs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Standard Operating Procedures (SOPs)</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Written instructions</a:t>
            </a:r>
          </a:p>
          <a:p>
            <a:pPr algn="l">
              <a:spcAft>
                <a:spcPts val="300"/>
              </a:spcAft>
            </a:pPr>
            <a:r>
              <a:rPr sz="1200" b="0">
                <a:solidFill>
                  <a:srgbClr val="5B6372"/>
                </a:solidFill>
                <a:latin typeface="Arial"/>
              </a:rPr>
              <a:t>Describe how to perform the task to achieve the required result.</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Include the measures</a:t>
            </a:r>
          </a:p>
          <a:p>
            <a:pPr algn="l">
              <a:spcAft>
                <a:spcPts val="300"/>
              </a:spcAft>
            </a:pPr>
            <a:r>
              <a:rPr sz="1200" b="0">
                <a:solidFill>
                  <a:srgbClr val="5B6372"/>
                </a:solidFill>
                <a:latin typeface="Arial"/>
              </a:rPr>
              <a:t>State the benchmarks and quality checks, not only the steps.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Centrally accessible</a:t>
            </a:r>
          </a:p>
          <a:p>
            <a:pPr algn="l">
              <a:spcAft>
                <a:spcPts val="300"/>
              </a:spcAft>
            </a:pPr>
            <a:r>
              <a:rPr sz="1200" b="0">
                <a:solidFill>
                  <a:srgbClr val="5B6372"/>
                </a:solidFill>
                <a:latin typeface="Arial"/>
              </a:rPr>
              <a:t>Held in one agreed place everyone can reach and search.</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Version controlled</a:t>
            </a:r>
          </a:p>
          <a:p>
            <a:pPr algn="l">
              <a:spcAft>
                <a:spcPts val="300"/>
              </a:spcAft>
            </a:pPr>
            <a:r>
              <a:rPr sz="1200" b="0">
                <a:solidFill>
                  <a:srgbClr val="5B6372"/>
                </a:solidFill>
                <a:latin typeface="Arial"/>
              </a:rPr>
              <a:t>It must be obvious which version is current.</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CONTROL · GO GEMBA</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Go to the Gemba</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Gemba means 'the real place'</a:t>
            </a:r>
          </a:p>
          <a:p>
            <a:pPr algn="l">
              <a:spcAft>
                <a:spcPts val="300"/>
              </a:spcAft>
            </a:pPr>
            <a:r>
              <a:rPr sz="1200" b="0">
                <a:solidFill>
                  <a:srgbClr val="5B6372"/>
                </a:solidFill>
                <a:latin typeface="Arial"/>
              </a:rPr>
              <a:t>Where the work actually happens — not the meeting room.</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Go and see</a:t>
            </a:r>
          </a:p>
          <a:p>
            <a:pPr algn="l">
              <a:spcAft>
                <a:spcPts val="300"/>
              </a:spcAft>
            </a:pPr>
            <a:r>
              <a:rPr sz="1200" b="0">
                <a:solidFill>
                  <a:srgbClr val="5B6372"/>
                </a:solidFill>
                <a:latin typeface="Arial"/>
              </a:rPr>
              <a:t>Observe the process directly rather than relying on reports about it.</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Ask, do not blame</a:t>
            </a:r>
          </a:p>
          <a:p>
            <a:pPr algn="l">
              <a:spcAft>
                <a:spcPts val="300"/>
              </a:spcAft>
            </a:pPr>
            <a:r>
              <a:rPr sz="1200" b="0">
                <a:solidFill>
                  <a:srgbClr val="5B6372"/>
                </a:solidFill>
                <a:latin typeface="Arial"/>
              </a:rPr>
              <a:t>The purpose is to understand the process, never to audit the person.</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Why it works</a:t>
            </a:r>
          </a:p>
          <a:p>
            <a:pPr algn="l">
              <a:spcAft>
                <a:spcPts val="300"/>
              </a:spcAft>
            </a:pPr>
            <a:r>
              <a:rPr sz="1200" b="0">
                <a:solidFill>
                  <a:srgbClr val="5B6372"/>
                </a:solidFill>
                <a:latin typeface="Arial"/>
              </a:rPr>
              <a:t>Reports show what was recorded; Gemba shows what actually happens.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CONTROL · THE A3 REPORT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The A3 — One Page That Tells the Whole Story</a:t>
            </a:r>
          </a:p>
        </p:txBody>
      </p:sp>
      <p:sp>
        <p:nvSpPr>
          <p:cNvPr id="6" name="Rectangle 5"/>
          <p:cNvSpPr/>
          <p:nvPr/>
        </p:nvSpPr>
        <p:spPr>
          <a:xfrm>
            <a:off x="777240"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167128"/>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Background</a:t>
            </a:r>
          </a:p>
          <a:p>
            <a:pPr algn="l">
              <a:spcAft>
                <a:spcPts val="300"/>
              </a:spcAft>
            </a:pPr>
            <a:r>
              <a:rPr sz="1100" b="0">
                <a:solidFill>
                  <a:srgbClr val="5B6372"/>
                </a:solidFill>
                <a:latin typeface="Arial"/>
              </a:rPr>
              <a:t>Why this problem was worth working on.</a:t>
            </a:r>
          </a:p>
        </p:txBody>
      </p:sp>
      <p:sp>
        <p:nvSpPr>
          <p:cNvPr id="11" name="Rectangle 10"/>
          <p:cNvSpPr/>
          <p:nvPr/>
        </p:nvSpPr>
        <p:spPr>
          <a:xfrm>
            <a:off x="6231636" y="1783080"/>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Current state</a:t>
            </a:r>
          </a:p>
          <a:p>
            <a:pPr algn="l">
              <a:spcAft>
                <a:spcPts val="300"/>
              </a:spcAft>
            </a:pPr>
            <a:r>
              <a:rPr sz="1100" b="0">
                <a:solidFill>
                  <a:srgbClr val="5B6372"/>
                </a:solidFill>
                <a:latin typeface="Arial"/>
              </a:rPr>
              <a:t>The baseline, with the data and process map.</a:t>
            </a:r>
          </a:p>
        </p:txBody>
      </p:sp>
      <p:sp>
        <p:nvSpPr>
          <p:cNvPr id="16" name="Rectangle 15"/>
          <p:cNvSpPr/>
          <p:nvPr/>
        </p:nvSpPr>
        <p:spPr>
          <a:xfrm>
            <a:off x="777240"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319272"/>
            <a:ext cx="91440" cy="1298448"/>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20"/>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Goal</a:t>
            </a:r>
          </a:p>
          <a:p>
            <a:pPr algn="l">
              <a:spcAft>
                <a:spcPts val="300"/>
              </a:spcAft>
            </a:pPr>
            <a:r>
              <a:rPr sz="1100" b="0">
                <a:solidFill>
                  <a:srgbClr val="5B6372"/>
                </a:solidFill>
                <a:latin typeface="Arial"/>
              </a:rPr>
              <a:t>The target condition, stated as a measurable number.</a:t>
            </a:r>
          </a:p>
        </p:txBody>
      </p:sp>
      <p:sp>
        <p:nvSpPr>
          <p:cNvPr id="21" name="Rectangle 20"/>
          <p:cNvSpPr/>
          <p:nvPr/>
        </p:nvSpPr>
        <p:spPr>
          <a:xfrm>
            <a:off x="6231636" y="3319272"/>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3319272"/>
            <a:ext cx="91440" cy="129844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703320"/>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429000"/>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Root cause analysis</a:t>
            </a:r>
          </a:p>
          <a:p>
            <a:pPr algn="l">
              <a:spcAft>
                <a:spcPts val="300"/>
              </a:spcAft>
            </a:pPr>
            <a:r>
              <a:rPr sz="1100" b="0">
                <a:solidFill>
                  <a:srgbClr val="5B6372"/>
                </a:solidFill>
                <a:latin typeface="Arial"/>
              </a:rPr>
              <a:t>What the 5 Whys and Fishbone actually proved.</a:t>
            </a:r>
          </a:p>
        </p:txBody>
      </p:sp>
      <p:sp>
        <p:nvSpPr>
          <p:cNvPr id="26" name="Rectangle 25"/>
          <p:cNvSpPr/>
          <p:nvPr/>
        </p:nvSpPr>
        <p:spPr>
          <a:xfrm>
            <a:off x="777240"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855464"/>
            <a:ext cx="91440" cy="1298448"/>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23951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Countermeasures</a:t>
            </a:r>
          </a:p>
          <a:p>
            <a:pPr algn="l">
              <a:spcAft>
                <a:spcPts val="300"/>
              </a:spcAft>
            </a:pPr>
            <a:r>
              <a:rPr sz="1100" b="0">
                <a:solidFill>
                  <a:srgbClr val="5B6372"/>
                </a:solidFill>
                <a:latin typeface="Arial"/>
              </a:rPr>
              <a:t>What was changed, and why that addresses the proven cause.</a:t>
            </a:r>
          </a:p>
        </p:txBody>
      </p:sp>
      <p:sp>
        <p:nvSpPr>
          <p:cNvPr id="31" name="Rectangle 30"/>
          <p:cNvSpPr/>
          <p:nvPr/>
        </p:nvSpPr>
        <p:spPr>
          <a:xfrm>
            <a:off x="6231636" y="4855464"/>
            <a:ext cx="5180076" cy="129844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855464"/>
            <a:ext cx="91440" cy="1298448"/>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523951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965192"/>
            <a:ext cx="4027932" cy="1133856"/>
          </a:xfrm>
          <a:prstGeom prst="rect">
            <a:avLst/>
          </a:prstGeom>
          <a:noFill/>
        </p:spPr>
        <p:txBody>
          <a:bodyPr wrap="square" anchor="ctr">
            <a:spAutoFit/>
          </a:bodyPr>
          <a:lstStyle/>
          <a:p>
            <a:pPr algn="l">
              <a:spcAft>
                <a:spcPts val="300"/>
              </a:spcAft>
            </a:pPr>
            <a:r>
              <a:rPr sz="1500" b="1">
                <a:solidFill>
                  <a:srgbClr val="161B26"/>
                </a:solidFill>
                <a:latin typeface="Arial"/>
              </a:rPr>
              <a:t>Results &amp; follow-up</a:t>
            </a:r>
          </a:p>
          <a:p>
            <a:pPr algn="l">
              <a:spcAft>
                <a:spcPts val="300"/>
              </a:spcAft>
            </a:pPr>
            <a:r>
              <a:rPr sz="1100" b="0">
                <a:solidFill>
                  <a:srgbClr val="5B6372"/>
                </a:solidFill>
                <a:latin typeface="Arial"/>
              </a:rPr>
              <a:t>Whether the metric moved, and who now owns the control plan.</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CONTROL · CLOSING THE PROJECT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Project Handover and Closure</a:t>
            </a:r>
          </a:p>
        </p:txBody>
      </p:sp>
      <p:sp>
        <p:nvSpPr>
          <p:cNvPr id="6" name="Rectangle 5"/>
          <p:cNvSpPr/>
          <p:nvPr/>
        </p:nvSpPr>
        <p:spPr>
          <a:xfrm>
            <a:off x="777240"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350568"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350568"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Confirm the improvement held for a full cycle</a:t>
            </a:r>
          </a:p>
        </p:txBody>
      </p:sp>
      <p:sp>
        <p:nvSpPr>
          <p:cNvPr id="11" name="TextBox 10"/>
          <p:cNvSpPr txBox="1"/>
          <p:nvPr/>
        </p:nvSpPr>
        <p:spPr>
          <a:xfrm>
            <a:off x="2618841"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2" name="Rectangle 11"/>
          <p:cNvSpPr/>
          <p:nvPr/>
        </p:nvSpPr>
        <p:spPr>
          <a:xfrm>
            <a:off x="2966313"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2966313"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3539641"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539641"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094329"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Hand the control plan to the named process owner</a:t>
            </a:r>
          </a:p>
        </p:txBody>
      </p:sp>
      <p:sp>
        <p:nvSpPr>
          <p:cNvPr id="17" name="TextBox 16"/>
          <p:cNvSpPr txBox="1"/>
          <p:nvPr/>
        </p:nvSpPr>
        <p:spPr>
          <a:xfrm>
            <a:off x="4807914"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18" name="Rectangle 17"/>
          <p:cNvSpPr/>
          <p:nvPr/>
        </p:nvSpPr>
        <p:spPr>
          <a:xfrm>
            <a:off x="5155386"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155386"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5728714"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5728714"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5283402"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Train everyone on the new standard work</a:t>
            </a:r>
          </a:p>
        </p:txBody>
      </p:sp>
      <p:sp>
        <p:nvSpPr>
          <p:cNvPr id="23" name="TextBox 22"/>
          <p:cNvSpPr txBox="1"/>
          <p:nvPr/>
        </p:nvSpPr>
        <p:spPr>
          <a:xfrm>
            <a:off x="6996987"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24" name="Rectangle 23"/>
          <p:cNvSpPr/>
          <p:nvPr/>
        </p:nvSpPr>
        <p:spPr>
          <a:xfrm>
            <a:off x="7344459"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44459"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917787"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917787"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7472475"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Document the financial or service benefit</a:t>
            </a:r>
          </a:p>
        </p:txBody>
      </p:sp>
      <p:sp>
        <p:nvSpPr>
          <p:cNvPr id="29" name="TextBox 28"/>
          <p:cNvSpPr txBox="1"/>
          <p:nvPr/>
        </p:nvSpPr>
        <p:spPr>
          <a:xfrm>
            <a:off x="9186060" y="3497580"/>
            <a:ext cx="384048" cy="548640"/>
          </a:xfrm>
          <a:prstGeom prst="rect">
            <a:avLst/>
          </a:prstGeom>
          <a:noFill/>
        </p:spPr>
        <p:txBody>
          <a:bodyPr wrap="square" anchor="ctr">
            <a:spAutoFit/>
          </a:bodyPr>
          <a:lstStyle/>
          <a:p>
            <a:pPr algn="ctr">
              <a:spcAft>
                <a:spcPts val="400"/>
              </a:spcAft>
            </a:pPr>
            <a:r>
              <a:rPr sz="1500" b="1">
                <a:solidFill>
                  <a:srgbClr val="DC2C2C"/>
                </a:solidFill>
                <a:latin typeface="Arial"/>
              </a:rPr>
              <a:t>▶</a:t>
            </a:r>
          </a:p>
        </p:txBody>
      </p:sp>
      <p:sp>
        <p:nvSpPr>
          <p:cNvPr id="30" name="Rectangle 29"/>
          <p:cNvSpPr/>
          <p:nvPr/>
        </p:nvSpPr>
        <p:spPr>
          <a:xfrm>
            <a:off x="9533532" y="2523744"/>
            <a:ext cx="1878177" cy="2496312"/>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9533532" y="2523744"/>
            <a:ext cx="1878177" cy="9144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106860" y="2907792"/>
            <a:ext cx="731520" cy="731520"/>
          </a:xfrm>
          <a:prstGeom prst="ellipse">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10106860" y="2907792"/>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5</a:t>
            </a:r>
          </a:p>
        </p:txBody>
      </p:sp>
      <p:sp>
        <p:nvSpPr>
          <p:cNvPr id="34" name="TextBox 33"/>
          <p:cNvSpPr txBox="1"/>
          <p:nvPr/>
        </p:nvSpPr>
        <p:spPr>
          <a:xfrm>
            <a:off x="9661548" y="3822192"/>
            <a:ext cx="1622145" cy="1088136"/>
          </a:xfrm>
          <a:prstGeom prst="rect">
            <a:avLst/>
          </a:prstGeom>
          <a:noFill/>
        </p:spPr>
        <p:txBody>
          <a:bodyPr wrap="square" anchor="t">
            <a:spAutoFit/>
          </a:bodyPr>
          <a:lstStyle/>
          <a:p>
            <a:pPr algn="ctr">
              <a:spcAft>
                <a:spcPts val="400"/>
              </a:spcAft>
            </a:pPr>
            <a:r>
              <a:rPr sz="1300" b="0">
                <a:solidFill>
                  <a:srgbClr val="161B26"/>
                </a:solidFill>
                <a:latin typeface="Arial"/>
              </a:rPr>
              <a:t>Share the learning so others can reuse it</a:t>
            </a:r>
          </a:p>
        </p:txBody>
      </p:sp>
      <p:sp>
        <p:nvSpPr>
          <p:cNvPr id="35" name="TextBox 3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6" name="TextBox 3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7" name="TextBox 3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DC2C2C"/>
                </a:solidFill>
                <a:latin typeface="Arial"/>
              </a:rPr>
              <a:t>WHAT YOU'LL DO</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Hands-On Activities — Control</a:t>
            </a:r>
          </a:p>
        </p:txBody>
      </p:sp>
      <p:sp>
        <p:nvSpPr>
          <p:cNvPr id="6" name="Rectangle 5"/>
          <p:cNvSpPr/>
          <p:nvPr/>
        </p:nvSpPr>
        <p:spPr>
          <a:xfrm>
            <a:off x="777240" y="1783080"/>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10 — Control Plan, A3 Summary, Handover, and Ce</a:t>
            </a:r>
          </a:p>
          <a:p>
            <a:pPr algn="l">
              <a:spcAft>
                <a:spcPts val="300"/>
              </a:spcAft>
            </a:pPr>
            <a:r>
              <a:rPr sz="1100" b="0">
                <a:solidFill>
                  <a:srgbClr val="5B6372"/>
                </a:solidFill>
                <a:latin typeface="Arial"/>
              </a:rPr>
              <a:t>A control plan, an A3 one-page summary, a handover checklist and a rea</a:t>
            </a:r>
          </a:p>
        </p:txBody>
      </p:sp>
      <p:sp>
        <p:nvSpPr>
          <p:cNvPr id="11" name="Rectangle 10"/>
          <p:cNvSpPr/>
          <p:nvPr/>
        </p:nvSpPr>
        <p:spPr>
          <a:xfrm>
            <a:off x="777240" y="4087368"/>
            <a:ext cx="10634472"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4087368"/>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485546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4197096"/>
            <a:ext cx="9482328" cy="1901952"/>
          </a:xfrm>
          <a:prstGeom prst="rect">
            <a:avLst/>
          </a:prstGeom>
          <a:noFill/>
        </p:spPr>
        <p:txBody>
          <a:bodyPr wrap="square" anchor="ctr">
            <a:spAutoFit/>
          </a:bodyPr>
          <a:lstStyle/>
          <a:p>
            <a:pPr algn="l">
              <a:spcAft>
                <a:spcPts val="300"/>
              </a:spcAft>
            </a:pPr>
            <a:r>
              <a:rPr sz="1500" b="1">
                <a:solidFill>
                  <a:srgbClr val="161B26"/>
                </a:solidFill>
                <a:latin typeface="Arial"/>
              </a:rPr>
              <a:t>Activity 14 (elective) — Descriptive Statistics and Implementatio</a:t>
            </a:r>
          </a:p>
          <a:p>
            <a:pPr algn="l">
              <a:spcAft>
                <a:spcPts val="300"/>
              </a:spcAft>
            </a:pPr>
            <a:r>
              <a:rPr sz="1100" b="0">
                <a:solidFill>
                  <a:srgbClr val="5B6372"/>
                </a:solidFill>
                <a:latin typeface="Arial"/>
              </a:rPr>
              <a:t>A descriptive statistics summary and a dated implementation plan.</a:t>
            </a:r>
          </a:p>
        </p:txBody>
      </p:sp>
      <p:sp>
        <p:nvSpPr>
          <p:cNvPr id="16" name="TextBox 1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7" name="TextBox 1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8" name="TextBox 1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10</a:t>
            </a:r>
          </a:p>
        </p:txBody>
      </p:sp>
      <p:sp>
        <p:nvSpPr>
          <p:cNvPr id="8" name="TextBox 7"/>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Hold the gain. Build a control plan that names the metric, the target, the monitoring frequency, the owner and the reaction plan — then tell the whole improvement story on a single A3 page and hand it over.</a:t>
            </a:r>
          </a:p>
        </p:txBody>
      </p:sp>
      <p:sp>
        <p:nvSpPr>
          <p:cNvPr id="9" name="Rectangle 8"/>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1" name="TextBox 10"/>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control plan, an A3 one-page summary, a handover checklist and a readiness plan.</a:t>
            </a:r>
          </a:p>
        </p:txBody>
      </p:sp>
      <p:sp>
        <p:nvSpPr>
          <p:cNvPr id="12" name="TextBox 11"/>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Control plan, SPC thinking, visual management, A3 report, handover</a:t>
            </a:r>
          </a:p>
        </p:txBody>
      </p:sp>
      <p:sp>
        <p:nvSpPr>
          <p:cNvPr id="13" name="TextBox 12"/>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4" name="TextBox 13"/>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5" name="TextBox 14"/>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Create the control plan: metric, target, monitoring method, frequency, owner, reaction plan.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239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Define the visual management approach — board, dashboard or huddle — that keeps it visible.</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Specify the reaction plan: exactly what happens when a metric falls outside target.</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A3 summary: background, current state, goal, analysis, countermeasures, results, follow-up.</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5</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5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Prepare the handover checklist so the process owner can sustain it without you.</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Control Plan, A3 Summary, Handover, an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6</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6 OF 6</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Complete your personal certification readiness plan — which topics need most review.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10 · activities/10 - Control Plan, A3 Summary,.../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10 — Your Data Files</a:t>
            </a:r>
          </a:p>
        </p:txBody>
      </p:sp>
      <p:sp>
        <p:nvSpPr>
          <p:cNvPr id="6" name="Rectangle 5"/>
          <p:cNvSpPr/>
          <p:nvPr/>
        </p:nvSpPr>
        <p:spPr>
          <a:xfrm>
            <a:off x="777240" y="1783080"/>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data/assignment-times.csv</a:t>
            </a:r>
          </a:p>
          <a:p>
            <a:pPr algn="l">
              <a:spcAft>
                <a:spcPts val="300"/>
              </a:spcAft>
            </a:pPr>
            <a:r>
              <a:rPr sz="1000" b="0">
                <a:solidFill>
                  <a:srgbClr val="5B6372"/>
                </a:solidFill>
                <a:latin typeface="Arial"/>
              </a:rPr>
              <a:t>400 rows · date, ticket_id, assignment_time_min</a:t>
            </a:r>
          </a:p>
        </p:txBody>
      </p:sp>
      <p:sp>
        <p:nvSpPr>
          <p:cNvPr id="11" name="Rectangle 10"/>
          <p:cNvSpPr/>
          <p:nvPr/>
        </p:nvSpPr>
        <p:spPr>
          <a:xfrm>
            <a:off x="777240" y="2935224"/>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935224"/>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312724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3044952"/>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templates/a3-summary.csv</a:t>
            </a:r>
          </a:p>
          <a:p>
            <a:pPr algn="l">
              <a:spcAft>
                <a:spcPts val="300"/>
              </a:spcAft>
            </a:pPr>
            <a:r>
              <a:rPr sz="1000" b="0">
                <a:solidFill>
                  <a:srgbClr val="5B6372"/>
                </a:solidFill>
                <a:latin typeface="Arial"/>
              </a:rPr>
              <a:t>Worksheet to complete · a3_section, content</a:t>
            </a:r>
          </a:p>
        </p:txBody>
      </p:sp>
      <p:sp>
        <p:nvSpPr>
          <p:cNvPr id="16" name="Rectangle 15"/>
          <p:cNvSpPr/>
          <p:nvPr/>
        </p:nvSpPr>
        <p:spPr>
          <a:xfrm>
            <a:off x="777240" y="4087368"/>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2793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templates/control-plan.csv</a:t>
            </a:r>
          </a:p>
          <a:p>
            <a:pPr algn="l">
              <a:spcAft>
                <a:spcPts val="300"/>
              </a:spcAft>
            </a:pPr>
            <a:r>
              <a:rPr sz="1000" b="0">
                <a:solidFill>
                  <a:srgbClr val="5B6372"/>
                </a:solidFill>
                <a:latin typeface="Arial"/>
              </a:rPr>
              <a:t>Worksheet to complete · process_step, metric, target, owner, +2 more</a:t>
            </a:r>
          </a:p>
        </p:txBody>
      </p:sp>
      <p:sp>
        <p:nvSpPr>
          <p:cNvPr id="21" name="Rectangle 20"/>
          <p:cNvSpPr/>
          <p:nvPr/>
        </p:nvSpPr>
        <p:spPr>
          <a:xfrm>
            <a:off x="777240" y="5239512"/>
            <a:ext cx="10634472"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5349240"/>
            <a:ext cx="9482328" cy="749808"/>
          </a:xfrm>
          <a:prstGeom prst="rect">
            <a:avLst/>
          </a:prstGeom>
          <a:noFill/>
        </p:spPr>
        <p:txBody>
          <a:bodyPr wrap="square" anchor="ctr">
            <a:spAutoFit/>
          </a:bodyPr>
          <a:lstStyle/>
          <a:p>
            <a:pPr algn="l">
              <a:spcAft>
                <a:spcPts val="300"/>
              </a:spcAft>
            </a:pPr>
            <a:r>
              <a:rPr sz="1400" b="1">
                <a:solidFill>
                  <a:srgbClr val="161B26"/>
                </a:solidFill>
                <a:latin typeface="Arial"/>
              </a:rPr>
              <a:t>templates/handover-checklist.csv</a:t>
            </a:r>
          </a:p>
          <a:p>
            <a:pPr algn="l">
              <a:spcAft>
                <a:spcPts val="300"/>
              </a:spcAft>
            </a:pPr>
            <a:r>
              <a:rPr sz="1000" b="0">
                <a:solidFill>
                  <a:srgbClr val="5B6372"/>
                </a:solidFill>
                <a:latin typeface="Arial"/>
              </a:rPr>
              <a:t>Worksheet to complete · handover_item, accepted_by, date, notes</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10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400" b="1">
                <a:solidFill>
                  <a:srgbClr val="161B26"/>
                </a:solidFill>
                <a:latin typeface="Arial"/>
              </a:rPr>
              <a:t>Control Plan, A3 Summary, Handover, and Certification Readiness</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Every control plan row has a named owner and a reaction plan, and your A3 fits on one page.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DMAIC · CONTROL · HANDS-ON</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Rectangle 5"/>
          <p:cNvSpPr/>
          <p:nvPr/>
        </p:nvSpPr>
        <p:spPr>
          <a:xfrm>
            <a:off x="777240" y="1691640"/>
            <a:ext cx="1554480" cy="4572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737360"/>
            <a:ext cx="1554480" cy="365760"/>
          </a:xfrm>
          <a:prstGeom prst="rect">
            <a:avLst/>
          </a:prstGeom>
          <a:noFill/>
        </p:spPr>
        <p:txBody>
          <a:bodyPr wrap="square" anchor="t">
            <a:spAutoFit/>
          </a:bodyPr>
          <a:lstStyle/>
          <a:p>
            <a:pPr algn="ctr">
              <a:spcAft>
                <a:spcPts val="400"/>
              </a:spcAft>
            </a:pPr>
            <a:r>
              <a:rPr sz="1600" b="1">
                <a:solidFill>
                  <a:srgbClr val="FFFFFF"/>
                </a:solidFill>
                <a:latin typeface="Arial"/>
              </a:rPr>
              <a:t>ACTIVITY 14</a:t>
            </a:r>
          </a:p>
        </p:txBody>
      </p:sp>
      <p:sp>
        <p:nvSpPr>
          <p:cNvPr id="8" name="Rectangle 7"/>
          <p:cNvSpPr/>
          <p:nvPr/>
        </p:nvSpPr>
        <p:spPr>
          <a:xfrm>
            <a:off x="2468880" y="1691640"/>
            <a:ext cx="1463040" cy="4572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68880" y="1737360"/>
            <a:ext cx="1463040" cy="365760"/>
          </a:xfrm>
          <a:prstGeom prst="rect">
            <a:avLst/>
          </a:prstGeom>
          <a:noFill/>
        </p:spPr>
        <p:txBody>
          <a:bodyPr wrap="square" anchor="t">
            <a:spAutoFit/>
          </a:bodyPr>
          <a:lstStyle/>
          <a:p>
            <a:pPr algn="ctr">
              <a:spcAft>
                <a:spcPts val="400"/>
              </a:spcAft>
            </a:pPr>
            <a:r>
              <a:rPr sz="1300" b="1">
                <a:solidFill>
                  <a:srgbClr val="FFFFFF"/>
                </a:solidFill>
                <a:latin typeface="Arial"/>
              </a:rPr>
              <a:t>ELECTIVE</a:t>
            </a:r>
          </a:p>
        </p:txBody>
      </p:sp>
      <p:sp>
        <p:nvSpPr>
          <p:cNvPr id="10" name="TextBox 9"/>
          <p:cNvSpPr txBox="1"/>
          <p:nvPr/>
        </p:nvSpPr>
        <p:spPr>
          <a:xfrm>
            <a:off x="777240" y="2331720"/>
            <a:ext cx="10698480" cy="1463040"/>
          </a:xfrm>
          <a:prstGeom prst="rect">
            <a:avLst/>
          </a:prstGeom>
          <a:noFill/>
        </p:spPr>
        <p:txBody>
          <a:bodyPr wrap="square" anchor="t">
            <a:spAutoFit/>
          </a:bodyPr>
          <a:lstStyle/>
          <a:p>
            <a:pPr algn="l">
              <a:spcAft>
                <a:spcPts val="400"/>
              </a:spcAft>
            </a:pPr>
            <a:r>
              <a:rPr sz="2000" b="0">
                <a:solidFill>
                  <a:srgbClr val="161B26"/>
                </a:solidFill>
                <a:latin typeface="Arial"/>
              </a:rPr>
              <a:t>Close the loop. Compute the measures of central tendency and dispersion that describe your data, then convert the selected countermeasures into a dated implementation plan with owners and barriers identified.</a:t>
            </a:r>
          </a:p>
        </p:txBody>
      </p:sp>
      <p:sp>
        <p:nvSpPr>
          <p:cNvPr id="11" name="Rectangle 10"/>
          <p:cNvSpPr/>
          <p:nvPr/>
        </p:nvSpPr>
        <p:spPr>
          <a:xfrm>
            <a:off x="777240" y="3931920"/>
            <a:ext cx="10698480" cy="18288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005840" y="4114800"/>
            <a:ext cx="10058400" cy="365760"/>
          </a:xfrm>
          <a:prstGeom prst="rect">
            <a:avLst/>
          </a:prstGeom>
          <a:noFill/>
        </p:spPr>
        <p:txBody>
          <a:bodyPr wrap="square" anchor="t">
            <a:spAutoFit/>
          </a:bodyPr>
          <a:lstStyle/>
          <a:p>
            <a:pPr algn="l">
              <a:spcAft>
                <a:spcPts val="400"/>
              </a:spcAft>
            </a:pPr>
            <a:r>
              <a:rPr sz="1400" b="1">
                <a:solidFill>
                  <a:srgbClr val="1F6FEB"/>
                </a:solidFill>
                <a:latin typeface="Arial"/>
              </a:rPr>
              <a:t>You'll build</a:t>
            </a:r>
          </a:p>
        </p:txBody>
      </p:sp>
      <p:sp>
        <p:nvSpPr>
          <p:cNvPr id="13" name="TextBox 12"/>
          <p:cNvSpPr txBox="1"/>
          <p:nvPr/>
        </p:nvSpPr>
        <p:spPr>
          <a:xfrm>
            <a:off x="1005840" y="4480560"/>
            <a:ext cx="10058400" cy="548640"/>
          </a:xfrm>
          <a:prstGeom prst="rect">
            <a:avLst/>
          </a:prstGeom>
          <a:noFill/>
        </p:spPr>
        <p:txBody>
          <a:bodyPr wrap="square" anchor="t">
            <a:spAutoFit/>
          </a:bodyPr>
          <a:lstStyle/>
          <a:p>
            <a:pPr algn="l">
              <a:spcAft>
                <a:spcPts val="400"/>
              </a:spcAft>
            </a:pPr>
            <a:r>
              <a:rPr sz="1800" b="1">
                <a:solidFill>
                  <a:srgbClr val="161B26"/>
                </a:solidFill>
                <a:latin typeface="Arial"/>
              </a:rPr>
              <a:t>A descriptive statistics summary and a dated implementation plan.</a:t>
            </a:r>
          </a:p>
        </p:txBody>
      </p:sp>
      <p:sp>
        <p:nvSpPr>
          <p:cNvPr id="14" name="TextBox 13"/>
          <p:cNvSpPr txBox="1"/>
          <p:nvPr/>
        </p:nvSpPr>
        <p:spPr>
          <a:xfrm>
            <a:off x="1005840" y="5120640"/>
            <a:ext cx="10241280" cy="548640"/>
          </a:xfrm>
          <a:prstGeom prst="rect">
            <a:avLst/>
          </a:prstGeom>
          <a:noFill/>
        </p:spPr>
        <p:txBody>
          <a:bodyPr wrap="square" anchor="t">
            <a:spAutoFit/>
          </a:bodyPr>
          <a:lstStyle/>
          <a:p>
            <a:pPr algn="l">
              <a:spcAft>
                <a:spcPts val="400"/>
              </a:spcAft>
            </a:pPr>
            <a:r>
              <a:rPr sz="1300" b="1">
                <a:solidFill>
                  <a:srgbClr val="5B6372"/>
                </a:solidFill>
                <a:latin typeface="Arial"/>
              </a:rPr>
              <a:t>Tools &amp; techniques:  </a:t>
            </a:r>
            <a:r>
              <a:rPr sz="1300" b="0">
                <a:solidFill>
                  <a:srgbClr val="5B6372"/>
                </a:solidFill>
                <a:latin typeface="Arial"/>
              </a:rPr>
              <a:t>Mean, median, range, standard deviation, implementation planning</a:t>
            </a:r>
          </a:p>
        </p:txBody>
      </p:sp>
      <p:sp>
        <p:nvSpPr>
          <p:cNvPr id="15" name="TextBox 14"/>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6" name="TextBox 15"/>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7" name="TextBox 16"/>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1</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1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mean and median for your assignment-time data and compare them.</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2</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2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Compute the range and standard deviation to describe the spread.</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249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3</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3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Explain what the mean-versus-median difference reveals about outliers and skew.</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Elective — Descriptive Statistics and </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Oval 5"/>
          <p:cNvSpPr/>
          <p:nvPr/>
        </p:nvSpPr>
        <p:spPr>
          <a:xfrm>
            <a:off x="777240" y="2286000"/>
            <a:ext cx="1280160" cy="128016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2286000"/>
            <a:ext cx="1280160" cy="1280160"/>
          </a:xfrm>
          <a:prstGeom prst="rect">
            <a:avLst/>
          </a:prstGeom>
          <a:noFill/>
        </p:spPr>
        <p:txBody>
          <a:bodyPr wrap="square" anchor="ctr">
            <a:spAutoFit/>
          </a:bodyPr>
          <a:lstStyle/>
          <a:p>
            <a:pPr algn="ctr">
              <a:spcAft>
                <a:spcPts val="400"/>
              </a:spcAft>
            </a:pPr>
            <a:r>
              <a:rPr sz="3600" b="1">
                <a:solidFill>
                  <a:srgbClr val="FFFFFF"/>
                </a:solidFill>
                <a:latin typeface="Arial"/>
              </a:rPr>
              <a:t>4</a:t>
            </a:r>
          </a:p>
        </p:txBody>
      </p:sp>
      <p:sp>
        <p:nvSpPr>
          <p:cNvPr id="8" name="TextBox 7"/>
          <p:cNvSpPr txBox="1"/>
          <p:nvPr/>
        </p:nvSpPr>
        <p:spPr>
          <a:xfrm>
            <a:off x="868680" y="1783080"/>
            <a:ext cx="10058400" cy="365760"/>
          </a:xfrm>
          <a:prstGeom prst="rect">
            <a:avLst/>
          </a:prstGeom>
          <a:noFill/>
        </p:spPr>
        <p:txBody>
          <a:bodyPr wrap="square" anchor="t">
            <a:spAutoFit/>
          </a:bodyPr>
          <a:lstStyle/>
          <a:p>
            <a:pPr algn="l">
              <a:spcAft>
                <a:spcPts val="400"/>
              </a:spcAft>
            </a:pPr>
            <a:r>
              <a:rPr sz="1300" b="1">
                <a:solidFill>
                  <a:srgbClr val="5B6372"/>
                </a:solidFill>
                <a:latin typeface="Arial"/>
              </a:rPr>
              <a:t>STEP 4 OF 4</a:t>
            </a:r>
          </a:p>
        </p:txBody>
      </p:sp>
      <p:sp>
        <p:nvSpPr>
          <p:cNvPr id="9" name="TextBox 8"/>
          <p:cNvSpPr txBox="1"/>
          <p:nvPr/>
        </p:nvSpPr>
        <p:spPr>
          <a:xfrm>
            <a:off x="2331720" y="2194560"/>
            <a:ext cx="9235440" cy="1463040"/>
          </a:xfrm>
          <a:prstGeom prst="rect">
            <a:avLst/>
          </a:prstGeom>
          <a:noFill/>
        </p:spPr>
        <p:txBody>
          <a:bodyPr wrap="square" anchor="ctr">
            <a:spAutoFit/>
          </a:bodyPr>
          <a:lstStyle/>
          <a:p>
            <a:pPr algn="l">
              <a:spcAft>
                <a:spcPts val="400"/>
              </a:spcAft>
            </a:pPr>
            <a:r>
              <a:rPr sz="2200" b="0">
                <a:solidFill>
                  <a:srgbClr val="161B26"/>
                </a:solidFill>
                <a:latin typeface="Arial"/>
              </a:rPr>
              <a:t>Write the implementation plan: action, owner, date, barriers and mitigation.</a:t>
            </a:r>
          </a:p>
        </p:txBody>
      </p:sp>
      <p:sp>
        <p:nvSpPr>
          <p:cNvPr id="10" name="TextBox 9"/>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1" name="TextBox 10"/>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2" name="TextBox 11"/>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ACTIVITY 14 · activities/14 - Descriptive Statistics and.../</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Activity 14 — Your Data Files</a:t>
            </a:r>
          </a:p>
        </p:txBody>
      </p:sp>
      <p:sp>
        <p:nvSpPr>
          <p:cNvPr id="6" name="Rectangle 5"/>
          <p:cNvSpPr/>
          <p:nvPr/>
        </p:nvSpPr>
        <p:spPr>
          <a:xfrm>
            <a:off x="777240" y="178308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85988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85988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data/assignment-times.csv</a:t>
            </a:r>
          </a:p>
          <a:p>
            <a:pPr algn="l">
              <a:spcAft>
                <a:spcPts val="300"/>
              </a:spcAft>
            </a:pPr>
            <a:r>
              <a:rPr sz="1000" b="0">
                <a:solidFill>
                  <a:srgbClr val="5B6372"/>
                </a:solidFill>
                <a:latin typeface="Arial"/>
              </a:rPr>
              <a:t>400 rows · date, ticket_id, assignment_time_min</a:t>
            </a:r>
          </a:p>
        </p:txBody>
      </p:sp>
      <p:sp>
        <p:nvSpPr>
          <p:cNvPr id="11" name="Rectangle 10"/>
          <p:cNvSpPr/>
          <p:nvPr/>
        </p:nvSpPr>
        <p:spPr>
          <a:xfrm>
            <a:off x="777240" y="270479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704795"/>
            <a:ext cx="91440" cy="683971"/>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7816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7816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814523"/>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data/daily-summary.csv</a:t>
            </a:r>
          </a:p>
          <a:p>
            <a:pPr algn="l">
              <a:spcAft>
                <a:spcPts val="300"/>
              </a:spcAft>
            </a:pPr>
            <a:r>
              <a:rPr sz="1000" b="0">
                <a:solidFill>
                  <a:srgbClr val="5B6372"/>
                </a:solidFill>
                <a:latin typeface="Arial"/>
              </a:rPr>
              <a:t>10 rows · date, tickets, mean_assignment_min, median_assignment_min, +2 more</a:t>
            </a:r>
          </a:p>
        </p:txBody>
      </p:sp>
      <p:sp>
        <p:nvSpPr>
          <p:cNvPr id="16" name="Rectangle 15"/>
          <p:cNvSpPr/>
          <p:nvPr/>
        </p:nvSpPr>
        <p:spPr>
          <a:xfrm>
            <a:off x="777240" y="362651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3626510"/>
            <a:ext cx="91440" cy="683971"/>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703319"/>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70331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736238"/>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data/service-desk-tickets.csv</a:t>
            </a:r>
          </a:p>
          <a:p>
            <a:pPr algn="l">
              <a:spcAft>
                <a:spcPts val="300"/>
              </a:spcAft>
            </a:pPr>
            <a:r>
              <a:rPr sz="1000" b="0">
                <a:solidFill>
                  <a:srgbClr val="5B6372"/>
                </a:solidFill>
                <a:latin typeface="Arial"/>
              </a:rPr>
              <a:t>400 rows · ticket_id, date, ticket_type, channel, assigned_queue, agent, +5 more</a:t>
            </a:r>
          </a:p>
        </p:txBody>
      </p:sp>
      <p:sp>
        <p:nvSpPr>
          <p:cNvPr id="21" name="Rectangle 20"/>
          <p:cNvSpPr/>
          <p:nvPr/>
        </p:nvSpPr>
        <p:spPr>
          <a:xfrm>
            <a:off x="777240" y="4548225"/>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4548225"/>
            <a:ext cx="91440" cy="683971"/>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462503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462503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4657953"/>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templates/descriptive-statistics.csv</a:t>
            </a:r>
          </a:p>
          <a:p>
            <a:pPr algn="l">
              <a:spcAft>
                <a:spcPts val="300"/>
              </a:spcAft>
            </a:pPr>
            <a:r>
              <a:rPr sz="1000" b="0">
                <a:solidFill>
                  <a:srgbClr val="5B6372"/>
                </a:solidFill>
                <a:latin typeface="Arial"/>
              </a:rPr>
              <a:t>Worksheet to complete · statistic, formula_or_function, your_value</a:t>
            </a:r>
          </a:p>
        </p:txBody>
      </p:sp>
      <p:sp>
        <p:nvSpPr>
          <p:cNvPr id="26" name="Rectangle 25"/>
          <p:cNvSpPr/>
          <p:nvPr/>
        </p:nvSpPr>
        <p:spPr>
          <a:xfrm>
            <a:off x="777240" y="5469940"/>
            <a:ext cx="10634472" cy="683971"/>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5469940"/>
            <a:ext cx="91440" cy="683971"/>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5546749"/>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5546749"/>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5579668"/>
            <a:ext cx="9482328" cy="519379"/>
          </a:xfrm>
          <a:prstGeom prst="rect">
            <a:avLst/>
          </a:prstGeom>
          <a:noFill/>
        </p:spPr>
        <p:txBody>
          <a:bodyPr wrap="square" anchor="ctr">
            <a:spAutoFit/>
          </a:bodyPr>
          <a:lstStyle/>
          <a:p>
            <a:pPr algn="l">
              <a:spcAft>
                <a:spcPts val="300"/>
              </a:spcAft>
            </a:pPr>
            <a:r>
              <a:rPr sz="1400" b="1">
                <a:solidFill>
                  <a:srgbClr val="161B26"/>
                </a:solidFill>
                <a:latin typeface="Arial"/>
              </a:rPr>
              <a:t>templates/implementation-plan.csv</a:t>
            </a:r>
          </a:p>
          <a:p>
            <a:pPr algn="l">
              <a:spcAft>
                <a:spcPts val="300"/>
              </a:spcAft>
            </a:pPr>
            <a:r>
              <a:rPr sz="1000" b="0">
                <a:solidFill>
                  <a:srgbClr val="5B6372"/>
                </a:solidFill>
                <a:latin typeface="Arial"/>
              </a:rPr>
              <a:t>Worksheet to complete · action, owner, start_date, due_date, barrier, +1 more</a:t>
            </a:r>
          </a:p>
        </p:txBody>
      </p:sp>
      <p:sp>
        <p:nvSpPr>
          <p:cNvPr id="31" name="TextBox 3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2" name="TextBox 3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3" name="TextBox 3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ACTIVITY 14 · VERIFY</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2700" b="1">
                <a:solidFill>
                  <a:srgbClr val="161B26"/>
                </a:solidFill>
                <a:latin typeface="Arial"/>
              </a:rPr>
              <a:t>Elective — Descriptive Statistics and Implementation Planning</a:t>
            </a:r>
          </a:p>
        </p:txBody>
      </p:sp>
      <p:sp>
        <p:nvSpPr>
          <p:cNvPr id="6" name="Rectangle 5"/>
          <p:cNvSpPr/>
          <p:nvPr/>
        </p:nvSpPr>
        <p:spPr>
          <a:xfrm>
            <a:off x="777240" y="2103120"/>
            <a:ext cx="10698480" cy="2377440"/>
          </a:xfrm>
          <a:prstGeom prst="rect">
            <a:avLst/>
          </a:prstGeom>
          <a:solidFill>
            <a:srgbClr val="E8F7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97280" y="2377440"/>
            <a:ext cx="10058400" cy="457200"/>
          </a:xfrm>
          <a:prstGeom prst="rect">
            <a:avLst/>
          </a:prstGeom>
          <a:noFill/>
        </p:spPr>
        <p:txBody>
          <a:bodyPr wrap="square" anchor="t">
            <a:spAutoFit/>
          </a:bodyPr>
          <a:lstStyle/>
          <a:p>
            <a:pPr algn="l">
              <a:spcAft>
                <a:spcPts val="400"/>
              </a:spcAft>
            </a:pPr>
            <a:r>
              <a:rPr sz="2000" b="1">
                <a:solidFill>
                  <a:srgbClr val="127A3E"/>
                </a:solidFill>
                <a:latin typeface="Arial"/>
              </a:rPr>
              <a:t>✅  Check your work</a:t>
            </a:r>
          </a:p>
        </p:txBody>
      </p:sp>
      <p:sp>
        <p:nvSpPr>
          <p:cNvPr id="8" name="TextBox 7"/>
          <p:cNvSpPr txBox="1"/>
          <p:nvPr/>
        </p:nvSpPr>
        <p:spPr>
          <a:xfrm>
            <a:off x="1097280" y="3017520"/>
            <a:ext cx="10058400" cy="1280160"/>
          </a:xfrm>
          <a:prstGeom prst="rect">
            <a:avLst/>
          </a:prstGeom>
          <a:noFill/>
        </p:spPr>
        <p:txBody>
          <a:bodyPr wrap="square" anchor="t">
            <a:spAutoFit/>
          </a:bodyPr>
          <a:lstStyle/>
          <a:p>
            <a:pPr algn="l">
              <a:spcAft>
                <a:spcPts val="400"/>
              </a:spcAft>
            </a:pPr>
            <a:r>
              <a:rPr sz="1800" b="0">
                <a:solidFill>
                  <a:srgbClr val="161B26"/>
                </a:solidFill>
                <a:latin typeface="Arial"/>
              </a:rPr>
              <a:t>You can explain why the mean and median differ in your data, and every implementation action has an owner and a date.</a:t>
            </a:r>
          </a:p>
        </p:txBody>
      </p:sp>
      <p:sp>
        <p:nvSpPr>
          <p:cNvPr id="9" name="TextBox 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10" name="TextBox 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11" name="TextBox 1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253</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PHASE RECAP</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Recap — Control</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1500">
                <a:solidFill>
                  <a:srgbClr val="161B26"/>
                </a:solidFill>
                <a:latin typeface="Arial"/>
              </a:rPr>
              <a:t>•  Control plan — Metric, target, monitoring method, frequency, owner and reaction plan.</a:t>
            </a:r>
          </a:p>
          <a:p>
            <a:pPr>
              <a:spcAft>
                <a:spcPts val="1000"/>
              </a:spcAft>
            </a:pPr>
            <a:r>
              <a:rPr sz="1500">
                <a:solidFill>
                  <a:srgbClr val="161B26"/>
                </a:solidFill>
                <a:latin typeface="Arial"/>
              </a:rPr>
              <a:t>•  Process control — A process is in control when it varies consistently within expected limits.</a:t>
            </a:r>
          </a:p>
          <a:p>
            <a:pPr>
              <a:spcAft>
                <a:spcPts val="1000"/>
              </a:spcAft>
            </a:pPr>
            <a:r>
              <a:rPr sz="1500">
                <a:solidFill>
                  <a:srgbClr val="161B26"/>
                </a:solidFill>
                <a:latin typeface="Arial"/>
              </a:rPr>
              <a:t>•  Visual management — Boards and dashboards keep the improved performance visible to everyone.</a:t>
            </a:r>
          </a:p>
          <a:p>
            <a:pPr>
              <a:spcAft>
                <a:spcPts val="1000"/>
              </a:spcAft>
            </a:pPr>
            <a:r>
              <a:rPr sz="1500">
                <a:solidFill>
                  <a:srgbClr val="161B26"/>
                </a:solidFill>
                <a:latin typeface="Arial"/>
              </a:rPr>
              <a:t>•  Standard operating procedures — Written instructions that lock in the improved method.</a:t>
            </a:r>
          </a:p>
          <a:p>
            <a:pPr>
              <a:spcAft>
                <a:spcPts val="1000"/>
              </a:spcAft>
            </a:pPr>
            <a:r>
              <a:rPr sz="1500">
                <a:solidFill>
                  <a:srgbClr val="161B26"/>
                </a:solidFill>
                <a:latin typeface="Arial"/>
              </a:rPr>
              <a:t>•  Team huddles — Short, regular stand-ups that surface problems while they are still small.</a:t>
            </a:r>
          </a:p>
          <a:p>
            <a:pPr>
              <a:spcAft>
                <a:spcPts val="1000"/>
              </a:spcAft>
            </a:pPr>
            <a:r>
              <a:rPr sz="1500">
                <a:solidFill>
                  <a:srgbClr val="161B26"/>
                </a:solidFill>
                <a:latin typeface="Arial"/>
              </a:rPr>
              <a:t>•  A3 and handover — One-page storytelling to summarise, hand over and sustain the improvement.</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254</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777240" y="2286000"/>
            <a:ext cx="128016" cy="18288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143000" y="2331720"/>
            <a:ext cx="10058400" cy="548640"/>
          </a:xfrm>
          <a:prstGeom prst="rect">
            <a:avLst/>
          </a:prstGeom>
          <a:noFill/>
        </p:spPr>
        <p:txBody>
          <a:bodyPr wrap="square" anchor="t">
            <a:spAutoFit/>
          </a:bodyPr>
          <a:lstStyle/>
          <a:p>
            <a:pPr algn="l">
              <a:spcAft>
                <a:spcPts val="400"/>
              </a:spcAft>
            </a:pPr>
            <a:r>
              <a:rPr sz="1800" b="1">
                <a:solidFill>
                  <a:srgbClr val="1F6FEB"/>
                </a:solidFill>
                <a:latin typeface="Arial"/>
              </a:rPr>
              <a:t>WRAP-UP</a:t>
            </a:r>
          </a:p>
        </p:txBody>
      </p:sp>
      <p:sp>
        <p:nvSpPr>
          <p:cNvPr id="6" name="TextBox 5"/>
          <p:cNvSpPr txBox="1"/>
          <p:nvPr/>
        </p:nvSpPr>
        <p:spPr>
          <a:xfrm>
            <a:off x="1143000" y="2743200"/>
            <a:ext cx="10424160" cy="1463040"/>
          </a:xfrm>
          <a:prstGeom prst="rect">
            <a:avLst/>
          </a:prstGeom>
          <a:noFill/>
        </p:spPr>
        <p:txBody>
          <a:bodyPr wrap="square" anchor="t">
            <a:spAutoFit/>
          </a:bodyPr>
          <a:lstStyle/>
          <a:p>
            <a:pPr algn="l">
              <a:spcAft>
                <a:spcPts val="400"/>
              </a:spcAft>
            </a:pPr>
            <a:r>
              <a:rPr sz="4000" b="1">
                <a:solidFill>
                  <a:srgbClr val="161B26"/>
                </a:solidFill>
                <a:latin typeface="Arial"/>
              </a:rPr>
              <a:t>Course Summary &amp; Next Steps</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255</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YOUR IMPROVEMENT PACKAGE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What You Achieved — The Full DMAIC Journey</a:t>
            </a:r>
          </a:p>
        </p:txBody>
      </p:sp>
      <p:sp>
        <p:nvSpPr>
          <p:cNvPr id="6" name="Chevron 5"/>
          <p:cNvSpPr/>
          <p:nvPr/>
        </p:nvSpPr>
        <p:spPr>
          <a:xfrm>
            <a:off x="777240" y="1874519"/>
            <a:ext cx="2169431" cy="868680"/>
          </a:xfrm>
          <a:prstGeom prst="chevron">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23544"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D</a:t>
            </a:r>
          </a:p>
        </p:txBody>
      </p:sp>
      <p:sp>
        <p:nvSpPr>
          <p:cNvPr id="8" name="Rectangle 7"/>
          <p:cNvSpPr/>
          <p:nvPr/>
        </p:nvSpPr>
        <p:spPr>
          <a:xfrm>
            <a:off x="832104"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32104" y="3054095"/>
            <a:ext cx="1980590" cy="82296"/>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978408" y="3255263"/>
            <a:ext cx="1687982" cy="502920"/>
          </a:xfrm>
          <a:prstGeom prst="rect">
            <a:avLst/>
          </a:prstGeom>
          <a:noFill/>
        </p:spPr>
        <p:txBody>
          <a:bodyPr wrap="square" anchor="t">
            <a:spAutoFit/>
          </a:bodyPr>
          <a:lstStyle/>
          <a:p>
            <a:pPr algn="l">
              <a:spcAft>
                <a:spcPts val="400"/>
              </a:spcAft>
            </a:pPr>
            <a:r>
              <a:rPr sz="1500" b="1">
                <a:solidFill>
                  <a:srgbClr val="1F6FEB"/>
                </a:solidFill>
                <a:latin typeface="Arial"/>
              </a:rPr>
              <a:t>Define</a:t>
            </a:r>
          </a:p>
        </p:txBody>
      </p:sp>
      <p:sp>
        <p:nvSpPr>
          <p:cNvPr id="11" name="TextBox 10"/>
          <p:cNvSpPr txBox="1"/>
          <p:nvPr/>
        </p:nvSpPr>
        <p:spPr>
          <a:xfrm>
            <a:off x="978408" y="3803903"/>
            <a:ext cx="1706270" cy="2194560"/>
          </a:xfrm>
          <a:prstGeom prst="rect">
            <a:avLst/>
          </a:prstGeom>
          <a:noFill/>
        </p:spPr>
        <p:txBody>
          <a:bodyPr wrap="square">
            <a:spAutoFit/>
          </a:bodyPr>
          <a:lstStyle/>
          <a:p>
            <a:pPr>
              <a:spcAft>
                <a:spcPts val="600"/>
              </a:spcAft>
            </a:pPr>
            <a:r>
              <a:rPr sz="1100">
                <a:solidFill>
                  <a:srgbClr val="161B26"/>
                </a:solidFill>
                <a:latin typeface="Arial"/>
              </a:rPr>
              <a:t>•  Captured VOC and CTQ</a:t>
            </a:r>
          </a:p>
          <a:p>
            <a:pPr>
              <a:spcAft>
                <a:spcPts val="600"/>
              </a:spcAft>
            </a:pPr>
            <a:r>
              <a:rPr sz="1100">
                <a:solidFill>
                  <a:srgbClr val="161B26"/>
                </a:solidFill>
                <a:latin typeface="Arial"/>
              </a:rPr>
              <a:t>•  Wrote the charter</a:t>
            </a:r>
          </a:p>
          <a:p>
            <a:pPr>
              <a:spcAft>
                <a:spcPts val="600"/>
              </a:spcAft>
            </a:pPr>
            <a:r>
              <a:rPr sz="1100">
                <a:solidFill>
                  <a:srgbClr val="161B26"/>
                </a:solidFill>
                <a:latin typeface="Arial"/>
              </a:rPr>
              <a:t>•  Built the SIPOC</a:t>
            </a:r>
          </a:p>
          <a:p>
            <a:pPr>
              <a:spcAft>
                <a:spcPts val="600"/>
              </a:spcAft>
            </a:pPr>
            <a:r>
              <a:rPr sz="1100">
                <a:solidFill>
                  <a:srgbClr val="161B26"/>
                </a:solidFill>
                <a:latin typeface="Arial"/>
              </a:rPr>
              <a:t>•  Mapped the process</a:t>
            </a:r>
          </a:p>
        </p:txBody>
      </p:sp>
      <p:sp>
        <p:nvSpPr>
          <p:cNvPr id="12" name="Chevron 11"/>
          <p:cNvSpPr/>
          <p:nvPr/>
        </p:nvSpPr>
        <p:spPr>
          <a:xfrm>
            <a:off x="2904134" y="1874519"/>
            <a:ext cx="2169431" cy="868680"/>
          </a:xfrm>
          <a:prstGeom prst="chevron">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050438"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M</a:t>
            </a:r>
          </a:p>
        </p:txBody>
      </p:sp>
      <p:sp>
        <p:nvSpPr>
          <p:cNvPr id="14" name="Rectangle 13"/>
          <p:cNvSpPr/>
          <p:nvPr/>
        </p:nvSpPr>
        <p:spPr>
          <a:xfrm>
            <a:off x="2958998"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2958998" y="3054095"/>
            <a:ext cx="1980590" cy="82296"/>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105302" y="3255263"/>
            <a:ext cx="1687982" cy="502920"/>
          </a:xfrm>
          <a:prstGeom prst="rect">
            <a:avLst/>
          </a:prstGeom>
          <a:noFill/>
        </p:spPr>
        <p:txBody>
          <a:bodyPr wrap="square" anchor="t">
            <a:spAutoFit/>
          </a:bodyPr>
          <a:lstStyle/>
          <a:p>
            <a:pPr algn="l">
              <a:spcAft>
                <a:spcPts val="400"/>
              </a:spcAft>
            </a:pPr>
            <a:r>
              <a:rPr sz="1500" b="1">
                <a:solidFill>
                  <a:srgbClr val="10B981"/>
                </a:solidFill>
                <a:latin typeface="Arial"/>
              </a:rPr>
              <a:t>Measure</a:t>
            </a:r>
          </a:p>
        </p:txBody>
      </p:sp>
      <p:sp>
        <p:nvSpPr>
          <p:cNvPr id="17" name="TextBox 16"/>
          <p:cNvSpPr txBox="1"/>
          <p:nvPr/>
        </p:nvSpPr>
        <p:spPr>
          <a:xfrm>
            <a:off x="3105302" y="3803903"/>
            <a:ext cx="1706270" cy="2194560"/>
          </a:xfrm>
          <a:prstGeom prst="rect">
            <a:avLst/>
          </a:prstGeom>
          <a:noFill/>
        </p:spPr>
        <p:txBody>
          <a:bodyPr wrap="square">
            <a:spAutoFit/>
          </a:bodyPr>
          <a:lstStyle/>
          <a:p>
            <a:pPr>
              <a:spcAft>
                <a:spcPts val="600"/>
              </a:spcAft>
            </a:pPr>
            <a:r>
              <a:rPr sz="1100">
                <a:solidFill>
                  <a:srgbClr val="161B26"/>
                </a:solidFill>
                <a:latin typeface="Arial"/>
              </a:rPr>
              <a:t>•  Found the 8 wastes</a:t>
            </a:r>
          </a:p>
          <a:p>
            <a:pPr>
              <a:spcAft>
                <a:spcPts val="600"/>
              </a:spcAft>
            </a:pPr>
            <a:r>
              <a:rPr sz="1100">
                <a:solidFill>
                  <a:srgbClr val="161B26"/>
                </a:solidFill>
                <a:latin typeface="Arial"/>
              </a:rPr>
              <a:t>•  Built the data plan</a:t>
            </a:r>
          </a:p>
          <a:p>
            <a:pPr>
              <a:spcAft>
                <a:spcPts val="600"/>
              </a:spcAft>
            </a:pPr>
            <a:r>
              <a:rPr sz="1100">
                <a:solidFill>
                  <a:srgbClr val="161B26"/>
                </a:solidFill>
                <a:latin typeface="Arial"/>
              </a:rPr>
              <a:t>•  Collected the baseline</a:t>
            </a:r>
          </a:p>
          <a:p>
            <a:pPr>
              <a:spcAft>
                <a:spcPts val="600"/>
              </a:spcAft>
            </a:pPr>
            <a:r>
              <a:rPr sz="1100">
                <a:solidFill>
                  <a:srgbClr val="161B26"/>
                </a:solidFill>
                <a:latin typeface="Arial"/>
              </a:rPr>
              <a:t>•  Calculated DPMO</a:t>
            </a:r>
          </a:p>
        </p:txBody>
      </p:sp>
      <p:sp>
        <p:nvSpPr>
          <p:cNvPr id="18" name="Chevron 17"/>
          <p:cNvSpPr/>
          <p:nvPr/>
        </p:nvSpPr>
        <p:spPr>
          <a:xfrm>
            <a:off x="5031028" y="1874519"/>
            <a:ext cx="2169431" cy="868680"/>
          </a:xfrm>
          <a:prstGeom prst="chevron">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77332"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A</a:t>
            </a:r>
          </a:p>
        </p:txBody>
      </p:sp>
      <p:sp>
        <p:nvSpPr>
          <p:cNvPr id="20" name="Rectangle 19"/>
          <p:cNvSpPr/>
          <p:nvPr/>
        </p:nvSpPr>
        <p:spPr>
          <a:xfrm>
            <a:off x="5085892"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5085892" y="3054095"/>
            <a:ext cx="1980590" cy="82296"/>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32196" y="3255263"/>
            <a:ext cx="1687982" cy="502920"/>
          </a:xfrm>
          <a:prstGeom prst="rect">
            <a:avLst/>
          </a:prstGeom>
          <a:noFill/>
        </p:spPr>
        <p:txBody>
          <a:bodyPr wrap="square" anchor="t">
            <a:spAutoFit/>
          </a:bodyPr>
          <a:lstStyle/>
          <a:p>
            <a:pPr algn="l">
              <a:spcAft>
                <a:spcPts val="400"/>
              </a:spcAft>
            </a:pPr>
            <a:r>
              <a:rPr sz="1500" b="1">
                <a:solidFill>
                  <a:srgbClr val="7C3AED"/>
                </a:solidFill>
                <a:latin typeface="Arial"/>
              </a:rPr>
              <a:t>Analyze</a:t>
            </a:r>
          </a:p>
        </p:txBody>
      </p:sp>
      <p:sp>
        <p:nvSpPr>
          <p:cNvPr id="23" name="TextBox 22"/>
          <p:cNvSpPr txBox="1"/>
          <p:nvPr/>
        </p:nvSpPr>
        <p:spPr>
          <a:xfrm>
            <a:off x="5232196"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Pareto</a:t>
            </a:r>
          </a:p>
          <a:p>
            <a:pPr>
              <a:spcAft>
                <a:spcPts val="600"/>
              </a:spcAft>
            </a:pPr>
            <a:r>
              <a:rPr sz="1100">
                <a:solidFill>
                  <a:srgbClr val="161B26"/>
                </a:solidFill>
                <a:latin typeface="Arial"/>
              </a:rPr>
              <a:t>•  Read the run chart</a:t>
            </a:r>
          </a:p>
          <a:p>
            <a:pPr>
              <a:spcAft>
                <a:spcPts val="600"/>
              </a:spcAft>
            </a:pPr>
            <a:r>
              <a:rPr sz="1100">
                <a:solidFill>
                  <a:srgbClr val="161B26"/>
                </a:solidFill>
                <a:latin typeface="Arial"/>
              </a:rPr>
              <a:t>•  Ran 5 Whys and Fishbone</a:t>
            </a:r>
          </a:p>
          <a:p>
            <a:pPr>
              <a:spcAft>
                <a:spcPts val="600"/>
              </a:spcAft>
            </a:pPr>
            <a:r>
              <a:rPr sz="1100">
                <a:solidFill>
                  <a:srgbClr val="161B26"/>
                </a:solidFill>
                <a:latin typeface="Arial"/>
              </a:rPr>
              <a:t>•  Proved the cause</a:t>
            </a:r>
          </a:p>
        </p:txBody>
      </p:sp>
      <p:sp>
        <p:nvSpPr>
          <p:cNvPr id="24" name="Chevron 23"/>
          <p:cNvSpPr/>
          <p:nvPr/>
        </p:nvSpPr>
        <p:spPr>
          <a:xfrm>
            <a:off x="7157922" y="1874519"/>
            <a:ext cx="2169431" cy="868680"/>
          </a:xfrm>
          <a:prstGeom prst="chevron">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304226"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I</a:t>
            </a:r>
          </a:p>
        </p:txBody>
      </p:sp>
      <p:sp>
        <p:nvSpPr>
          <p:cNvPr id="26" name="Rectangle 25"/>
          <p:cNvSpPr/>
          <p:nvPr/>
        </p:nvSpPr>
        <p:spPr>
          <a:xfrm>
            <a:off x="7212786"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212786" y="3054095"/>
            <a:ext cx="1980590" cy="82296"/>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359090" y="3255263"/>
            <a:ext cx="1687982" cy="502920"/>
          </a:xfrm>
          <a:prstGeom prst="rect">
            <a:avLst/>
          </a:prstGeom>
          <a:noFill/>
        </p:spPr>
        <p:txBody>
          <a:bodyPr wrap="square" anchor="t">
            <a:spAutoFit/>
          </a:bodyPr>
          <a:lstStyle/>
          <a:p>
            <a:pPr algn="l">
              <a:spcAft>
                <a:spcPts val="400"/>
              </a:spcAft>
            </a:pPr>
            <a:r>
              <a:rPr sz="1500" b="1">
                <a:solidFill>
                  <a:srgbClr val="F59E0B"/>
                </a:solidFill>
                <a:latin typeface="Arial"/>
              </a:rPr>
              <a:t>Improve</a:t>
            </a:r>
          </a:p>
        </p:txBody>
      </p:sp>
      <p:sp>
        <p:nvSpPr>
          <p:cNvPr id="29" name="TextBox 28"/>
          <p:cNvSpPr txBox="1"/>
          <p:nvPr/>
        </p:nvSpPr>
        <p:spPr>
          <a:xfrm>
            <a:off x="7359090" y="3803903"/>
            <a:ext cx="1706270" cy="2194560"/>
          </a:xfrm>
          <a:prstGeom prst="rect">
            <a:avLst/>
          </a:prstGeom>
          <a:noFill/>
        </p:spPr>
        <p:txBody>
          <a:bodyPr wrap="square">
            <a:spAutoFit/>
          </a:bodyPr>
          <a:lstStyle/>
          <a:p>
            <a:pPr>
              <a:spcAft>
                <a:spcPts val="600"/>
              </a:spcAft>
            </a:pPr>
            <a:r>
              <a:rPr sz="1100">
                <a:solidFill>
                  <a:srgbClr val="161B26"/>
                </a:solidFill>
                <a:latin typeface="Arial"/>
              </a:rPr>
              <a:t>•  Selected solutions</a:t>
            </a:r>
          </a:p>
          <a:p>
            <a:pPr>
              <a:spcAft>
                <a:spcPts val="600"/>
              </a:spcAft>
            </a:pPr>
            <a:r>
              <a:rPr sz="1100">
                <a:solidFill>
                  <a:srgbClr val="161B26"/>
                </a:solidFill>
                <a:latin typeface="Arial"/>
              </a:rPr>
              <a:t>•  Applied 5S and poka-yoke</a:t>
            </a:r>
          </a:p>
          <a:p>
            <a:pPr>
              <a:spcAft>
                <a:spcPts val="600"/>
              </a:spcAft>
            </a:pPr>
            <a:r>
              <a:rPr sz="1100">
                <a:solidFill>
                  <a:srgbClr val="161B26"/>
                </a:solidFill>
                <a:latin typeface="Arial"/>
              </a:rPr>
              <a:t>•  Wrote standard work</a:t>
            </a:r>
          </a:p>
          <a:p>
            <a:pPr>
              <a:spcAft>
                <a:spcPts val="600"/>
              </a:spcAft>
            </a:pPr>
            <a:r>
              <a:rPr sz="1100">
                <a:solidFill>
                  <a:srgbClr val="161B26"/>
                </a:solidFill>
                <a:latin typeface="Arial"/>
              </a:rPr>
              <a:t>•  Piloted the change</a:t>
            </a:r>
          </a:p>
        </p:txBody>
      </p:sp>
      <p:sp>
        <p:nvSpPr>
          <p:cNvPr id="30" name="Chevron 29"/>
          <p:cNvSpPr/>
          <p:nvPr/>
        </p:nvSpPr>
        <p:spPr>
          <a:xfrm>
            <a:off x="9284816" y="1874519"/>
            <a:ext cx="2169431" cy="868680"/>
          </a:xfrm>
          <a:prstGeom prst="chevron">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431120" y="1874519"/>
            <a:ext cx="1829128" cy="868680"/>
          </a:xfrm>
          <a:prstGeom prst="rect">
            <a:avLst/>
          </a:prstGeom>
          <a:noFill/>
        </p:spPr>
        <p:txBody>
          <a:bodyPr wrap="square" anchor="ctr">
            <a:spAutoFit/>
          </a:bodyPr>
          <a:lstStyle/>
          <a:p>
            <a:pPr algn="ctr">
              <a:spcAft>
                <a:spcPts val="400"/>
              </a:spcAft>
            </a:pPr>
            <a:r>
              <a:rPr sz="2600" b="1">
                <a:solidFill>
                  <a:srgbClr val="FFFFFF"/>
                </a:solidFill>
                <a:latin typeface="Arial"/>
              </a:rPr>
              <a:t>C</a:t>
            </a:r>
          </a:p>
        </p:txBody>
      </p:sp>
      <p:sp>
        <p:nvSpPr>
          <p:cNvPr id="32" name="Rectangle 31"/>
          <p:cNvSpPr/>
          <p:nvPr/>
        </p:nvSpPr>
        <p:spPr>
          <a:xfrm>
            <a:off x="9339680" y="3054095"/>
            <a:ext cx="1980590" cy="306324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9339680" y="3054095"/>
            <a:ext cx="1980590" cy="82296"/>
          </a:xfrm>
          <a:prstGeom prst="rect">
            <a:avLst/>
          </a:prstGeom>
          <a:solidFill>
            <a:srgbClr val="DC2C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485984" y="3255263"/>
            <a:ext cx="1687982" cy="502920"/>
          </a:xfrm>
          <a:prstGeom prst="rect">
            <a:avLst/>
          </a:prstGeom>
          <a:noFill/>
        </p:spPr>
        <p:txBody>
          <a:bodyPr wrap="square" anchor="t">
            <a:spAutoFit/>
          </a:bodyPr>
          <a:lstStyle/>
          <a:p>
            <a:pPr algn="l">
              <a:spcAft>
                <a:spcPts val="400"/>
              </a:spcAft>
            </a:pPr>
            <a:r>
              <a:rPr sz="1500" b="1">
                <a:solidFill>
                  <a:srgbClr val="DC2C2C"/>
                </a:solidFill>
                <a:latin typeface="Arial"/>
              </a:rPr>
              <a:t>Control</a:t>
            </a:r>
          </a:p>
        </p:txBody>
      </p:sp>
      <p:sp>
        <p:nvSpPr>
          <p:cNvPr id="35" name="TextBox 34"/>
          <p:cNvSpPr txBox="1"/>
          <p:nvPr/>
        </p:nvSpPr>
        <p:spPr>
          <a:xfrm>
            <a:off x="9485984" y="3803903"/>
            <a:ext cx="1706270" cy="2194560"/>
          </a:xfrm>
          <a:prstGeom prst="rect">
            <a:avLst/>
          </a:prstGeom>
          <a:noFill/>
        </p:spPr>
        <p:txBody>
          <a:bodyPr wrap="square">
            <a:spAutoFit/>
          </a:bodyPr>
          <a:lstStyle/>
          <a:p>
            <a:pPr>
              <a:spcAft>
                <a:spcPts val="600"/>
              </a:spcAft>
            </a:pPr>
            <a:r>
              <a:rPr sz="1100">
                <a:solidFill>
                  <a:srgbClr val="161B26"/>
                </a:solidFill>
                <a:latin typeface="Arial"/>
              </a:rPr>
              <a:t>•  Built the control plan</a:t>
            </a:r>
          </a:p>
          <a:p>
            <a:pPr>
              <a:spcAft>
                <a:spcPts val="600"/>
              </a:spcAft>
            </a:pPr>
            <a:r>
              <a:rPr sz="1100">
                <a:solidFill>
                  <a:srgbClr val="161B26"/>
                </a:solidFill>
                <a:latin typeface="Arial"/>
              </a:rPr>
              <a:t>•  Set visual management</a:t>
            </a:r>
          </a:p>
          <a:p>
            <a:pPr>
              <a:spcAft>
                <a:spcPts val="600"/>
              </a:spcAft>
            </a:pPr>
            <a:r>
              <a:rPr sz="1100">
                <a:solidFill>
                  <a:srgbClr val="161B26"/>
                </a:solidFill>
                <a:latin typeface="Arial"/>
              </a:rPr>
              <a:t>•  Wrote the A3</a:t>
            </a:r>
          </a:p>
          <a:p>
            <a:pPr>
              <a:spcAft>
                <a:spcPts val="600"/>
              </a:spcAft>
            </a:pPr>
            <a:r>
              <a:rPr sz="1100">
                <a:solidFill>
                  <a:srgbClr val="161B26"/>
                </a:solidFill>
                <a:latin typeface="Arial"/>
              </a:rPr>
              <a:t>•  Handed over</a:t>
            </a:r>
          </a:p>
        </p:txBody>
      </p:sp>
      <p:sp>
        <p:nvSpPr>
          <p:cNvPr id="36" name="TextBox 3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7" name="TextBox 3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8" name="TextBox 3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256</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WHAT YOU BUILT</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Your Integrated Improvement Package</a:t>
            </a:r>
          </a:p>
        </p:txBody>
      </p:sp>
      <p:sp>
        <p:nvSpPr>
          <p:cNvPr id="6" name="Rectangle 5"/>
          <p:cNvSpPr/>
          <p:nvPr/>
        </p:nvSpPr>
        <p:spPr>
          <a:xfrm>
            <a:off x="777240"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97510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Role and scenario</a:t>
            </a:r>
          </a:p>
          <a:p>
            <a:pPr algn="l">
              <a:spcAft>
                <a:spcPts val="300"/>
              </a:spcAft>
            </a:pPr>
            <a:r>
              <a:rPr sz="1000" b="0">
                <a:solidFill>
                  <a:srgbClr val="5B6372"/>
                </a:solidFill>
                <a:latin typeface="Arial"/>
              </a:rPr>
              <a:t>Yellow Belt responsibility table and a selected improvement scenario.</a:t>
            </a:r>
          </a:p>
        </p:txBody>
      </p:sp>
      <p:sp>
        <p:nvSpPr>
          <p:cNvPr id="11" name="Rectangle 10"/>
          <p:cNvSpPr/>
          <p:nvPr/>
        </p:nvSpPr>
        <p:spPr>
          <a:xfrm>
            <a:off x="6231636" y="1783080"/>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197510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197510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VOC, CTQ and waste</a:t>
            </a:r>
          </a:p>
          <a:p>
            <a:pPr algn="l">
              <a:spcAft>
                <a:spcPts val="300"/>
              </a:spcAft>
            </a:pPr>
            <a:r>
              <a:rPr sz="1000" b="0">
                <a:solidFill>
                  <a:srgbClr val="5B6372"/>
                </a:solidFill>
                <a:latin typeface="Arial"/>
              </a:rPr>
              <a:t>Customer requirements translated to CTQs, plus a waste walk log.</a:t>
            </a:r>
          </a:p>
        </p:txBody>
      </p:sp>
      <p:sp>
        <p:nvSpPr>
          <p:cNvPr id="16" name="Rectangle 15"/>
          <p:cNvSpPr/>
          <p:nvPr/>
        </p:nvSpPr>
        <p:spPr>
          <a:xfrm>
            <a:off x="777240"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935224"/>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31272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SIPOC and process map</a:t>
            </a:r>
          </a:p>
          <a:p>
            <a:pPr algn="l">
              <a:spcAft>
                <a:spcPts val="300"/>
              </a:spcAft>
            </a:pPr>
            <a:r>
              <a:rPr sz="1000" b="0">
                <a:solidFill>
                  <a:srgbClr val="5B6372"/>
                </a:solidFill>
                <a:latin typeface="Arial"/>
              </a:rPr>
              <a:t>Macro and detailed maps with pain points and handoffs marked.</a:t>
            </a:r>
          </a:p>
        </p:txBody>
      </p:sp>
      <p:sp>
        <p:nvSpPr>
          <p:cNvPr id="21" name="Rectangle 20"/>
          <p:cNvSpPr/>
          <p:nvPr/>
        </p:nvSpPr>
        <p:spPr>
          <a:xfrm>
            <a:off x="6231636" y="2935224"/>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2935224"/>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3127248"/>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31272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3044952"/>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Charter and Define pack</a:t>
            </a:r>
          </a:p>
          <a:p>
            <a:pPr algn="l">
              <a:spcAft>
                <a:spcPts val="300"/>
              </a:spcAft>
            </a:pPr>
            <a:r>
              <a:rPr sz="1000" b="0">
                <a:solidFill>
                  <a:srgbClr val="5B6372"/>
                </a:solidFill>
                <a:latin typeface="Arial"/>
              </a:rPr>
              <a:t>PDCA charter, problem statement, scope and stakeholder map.</a:t>
            </a:r>
          </a:p>
        </p:txBody>
      </p:sp>
      <p:sp>
        <p:nvSpPr>
          <p:cNvPr id="26" name="Rectangle 25"/>
          <p:cNvSpPr/>
          <p:nvPr/>
        </p:nvSpPr>
        <p:spPr>
          <a:xfrm>
            <a:off x="777240"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4087368"/>
            <a:ext cx="91440" cy="9144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4279392"/>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Measurement and analysis</a:t>
            </a:r>
          </a:p>
          <a:p>
            <a:pPr algn="l">
              <a:spcAft>
                <a:spcPts val="300"/>
              </a:spcAft>
            </a:pPr>
            <a:r>
              <a:rPr sz="1000" b="0">
                <a:solidFill>
                  <a:srgbClr val="5B6372"/>
                </a:solidFill>
                <a:latin typeface="Arial"/>
              </a:rPr>
              <a:t>Data collection plan, check sheet, Pareto, run chart and metrics.</a:t>
            </a:r>
          </a:p>
        </p:txBody>
      </p:sp>
      <p:sp>
        <p:nvSpPr>
          <p:cNvPr id="31" name="Rectangle 30"/>
          <p:cNvSpPr/>
          <p:nvPr/>
        </p:nvSpPr>
        <p:spPr>
          <a:xfrm>
            <a:off x="6231636" y="4087368"/>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6231636" y="4087368"/>
            <a:ext cx="91440" cy="91440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6469380" y="4279392"/>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69380" y="42793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7164324" y="4197096"/>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Root cause and countermeasures</a:t>
            </a:r>
          </a:p>
          <a:p>
            <a:pPr algn="l">
              <a:spcAft>
                <a:spcPts val="300"/>
              </a:spcAft>
            </a:pPr>
            <a:r>
              <a:rPr sz="1000" b="0">
                <a:solidFill>
                  <a:srgbClr val="5B6372"/>
                </a:solidFill>
                <a:latin typeface="Arial"/>
              </a:rPr>
              <a:t>5 Whys, Fishbone, evidence tests and prioritised countermeasures.</a:t>
            </a:r>
          </a:p>
        </p:txBody>
      </p:sp>
      <p:sp>
        <p:nvSpPr>
          <p:cNvPr id="36" name="Rectangle 35"/>
          <p:cNvSpPr/>
          <p:nvPr/>
        </p:nvSpPr>
        <p:spPr>
          <a:xfrm>
            <a:off x="777240"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5239512"/>
            <a:ext cx="91440" cy="91440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5431536"/>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Control plan and A3</a:t>
            </a:r>
          </a:p>
          <a:p>
            <a:pPr algn="l">
              <a:spcAft>
                <a:spcPts val="300"/>
              </a:spcAft>
            </a:pPr>
            <a:r>
              <a:rPr sz="1000" b="0">
                <a:solidFill>
                  <a:srgbClr val="5B6372"/>
                </a:solidFill>
                <a:latin typeface="Arial"/>
              </a:rPr>
              <a:t>Control plan, visual management approach, A3 summary and handover.</a:t>
            </a:r>
          </a:p>
        </p:txBody>
      </p:sp>
      <p:sp>
        <p:nvSpPr>
          <p:cNvPr id="41" name="Rectangle 40"/>
          <p:cNvSpPr/>
          <p:nvPr/>
        </p:nvSpPr>
        <p:spPr>
          <a:xfrm>
            <a:off x="6231636" y="5239512"/>
            <a:ext cx="5180076" cy="91440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6231636" y="5239512"/>
            <a:ext cx="91440" cy="9144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6469380" y="543153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469380" y="543153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7164324" y="5349240"/>
            <a:ext cx="4027932" cy="749808"/>
          </a:xfrm>
          <a:prstGeom prst="rect">
            <a:avLst/>
          </a:prstGeom>
          <a:noFill/>
        </p:spPr>
        <p:txBody>
          <a:bodyPr wrap="square" anchor="ctr">
            <a:spAutoFit/>
          </a:bodyPr>
          <a:lstStyle/>
          <a:p>
            <a:pPr algn="l">
              <a:spcAft>
                <a:spcPts val="300"/>
              </a:spcAft>
            </a:pPr>
            <a:r>
              <a:rPr sz="1400" b="1">
                <a:solidFill>
                  <a:srgbClr val="161B26"/>
                </a:solidFill>
                <a:latin typeface="Arial"/>
              </a:rPr>
              <a:t>Certification readiness</a:t>
            </a:r>
          </a:p>
          <a:p>
            <a:pPr algn="l">
              <a:spcAft>
                <a:spcPts val="300"/>
              </a:spcAft>
            </a:pPr>
            <a:r>
              <a:rPr sz="1000" b="0">
                <a:solidFill>
                  <a:srgbClr val="5B6372"/>
                </a:solidFill>
                <a:latin typeface="Arial"/>
              </a:rPr>
              <a:t>Your personal review plan for continuing your certification path.</a:t>
            </a:r>
          </a:p>
        </p:txBody>
      </p:sp>
      <p:sp>
        <p:nvSpPr>
          <p:cNvPr id="46" name="TextBox 4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47" name="TextBox 4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48" name="TextBox 4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257</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CHECK YOUR UNDERSTANDING</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Readiness Checklist</a:t>
            </a:r>
          </a:p>
        </p:txBody>
      </p:sp>
      <p:sp>
        <p:nvSpPr>
          <p:cNvPr id="6" name="Rectangle 5"/>
          <p:cNvSpPr/>
          <p:nvPr/>
        </p:nvSpPr>
        <p:spPr>
          <a:xfrm>
            <a:off x="777240" y="178308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1655064"/>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16550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7452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the Yellow Belt role and where it stops?</a:t>
            </a:r>
          </a:p>
        </p:txBody>
      </p:sp>
      <p:sp>
        <p:nvSpPr>
          <p:cNvPr id="11" name="Rectangle 10"/>
          <p:cNvSpPr/>
          <p:nvPr/>
        </p:nvSpPr>
        <p:spPr>
          <a:xfrm>
            <a:off x="777240" y="229514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777240" y="2295144"/>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014984" y="2167128"/>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14984" y="216712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1709928" y="238658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define Lean, Six Sigma and Lean Six Sigma in your own words?</a:t>
            </a:r>
          </a:p>
        </p:txBody>
      </p:sp>
      <p:sp>
        <p:nvSpPr>
          <p:cNvPr id="16" name="Rectangle 15"/>
          <p:cNvSpPr/>
          <p:nvPr/>
        </p:nvSpPr>
        <p:spPr>
          <a:xfrm>
            <a:off x="777240" y="280720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2807208"/>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2679192"/>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267919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289864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trace a VOC statement through to a CTQ and a metric?</a:t>
            </a:r>
          </a:p>
        </p:txBody>
      </p:sp>
      <p:sp>
        <p:nvSpPr>
          <p:cNvPr id="21" name="Rectangle 20"/>
          <p:cNvSpPr/>
          <p:nvPr/>
        </p:nvSpPr>
        <p:spPr>
          <a:xfrm>
            <a:off x="777240" y="331927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777240" y="3319272"/>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1014984" y="3191256"/>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014984" y="319125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1709928" y="341071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name the eight wastes and give a service example of each?</a:t>
            </a:r>
          </a:p>
        </p:txBody>
      </p:sp>
      <p:sp>
        <p:nvSpPr>
          <p:cNvPr id="26" name="Rectangle 25"/>
          <p:cNvSpPr/>
          <p:nvPr/>
        </p:nvSpPr>
        <p:spPr>
          <a:xfrm>
            <a:off x="777240" y="3831336"/>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777240" y="3831336"/>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1014984" y="3703320"/>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1014984" y="3703320"/>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5</a:t>
            </a:r>
          </a:p>
        </p:txBody>
      </p:sp>
      <p:sp>
        <p:nvSpPr>
          <p:cNvPr id="30" name="TextBox 29"/>
          <p:cNvSpPr txBox="1"/>
          <p:nvPr/>
        </p:nvSpPr>
        <p:spPr>
          <a:xfrm>
            <a:off x="1709928" y="3922776"/>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each DMAIC phase and what it delivers?</a:t>
            </a:r>
          </a:p>
        </p:txBody>
      </p:sp>
      <p:sp>
        <p:nvSpPr>
          <p:cNvPr id="31" name="Rectangle 30"/>
          <p:cNvSpPr/>
          <p:nvPr/>
        </p:nvSpPr>
        <p:spPr>
          <a:xfrm>
            <a:off x="777240" y="4343400"/>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777240" y="4343400"/>
            <a:ext cx="91440" cy="274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1014984" y="4215384"/>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1014984" y="421538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6</a:t>
            </a:r>
          </a:p>
        </p:txBody>
      </p:sp>
      <p:sp>
        <p:nvSpPr>
          <p:cNvPr id="35" name="TextBox 34"/>
          <p:cNvSpPr txBox="1"/>
          <p:nvPr/>
        </p:nvSpPr>
        <p:spPr>
          <a:xfrm>
            <a:off x="1709928" y="4434840"/>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calculate yield, DPU, DPO and DPMO from raw data?</a:t>
            </a:r>
          </a:p>
        </p:txBody>
      </p:sp>
      <p:sp>
        <p:nvSpPr>
          <p:cNvPr id="36" name="Rectangle 35"/>
          <p:cNvSpPr/>
          <p:nvPr/>
        </p:nvSpPr>
        <p:spPr>
          <a:xfrm>
            <a:off x="777240" y="4855464"/>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777240" y="4855464"/>
            <a:ext cx="91440" cy="274320"/>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1014984" y="4727448"/>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1014984" y="4727448"/>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7</a:t>
            </a:r>
          </a:p>
        </p:txBody>
      </p:sp>
      <p:sp>
        <p:nvSpPr>
          <p:cNvPr id="40" name="TextBox 39"/>
          <p:cNvSpPr txBox="1"/>
          <p:nvPr/>
        </p:nvSpPr>
        <p:spPr>
          <a:xfrm>
            <a:off x="1709928" y="4946904"/>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interpret a Pareto chart and a run chart?</a:t>
            </a:r>
          </a:p>
        </p:txBody>
      </p:sp>
      <p:sp>
        <p:nvSpPr>
          <p:cNvPr id="41" name="Rectangle 40"/>
          <p:cNvSpPr/>
          <p:nvPr/>
        </p:nvSpPr>
        <p:spPr>
          <a:xfrm>
            <a:off x="777240" y="5367528"/>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ectangle 41"/>
          <p:cNvSpPr/>
          <p:nvPr/>
        </p:nvSpPr>
        <p:spPr>
          <a:xfrm>
            <a:off x="777240" y="5367528"/>
            <a:ext cx="91440" cy="274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1014984" y="5239512"/>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1014984" y="5239512"/>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8</a:t>
            </a:r>
          </a:p>
        </p:txBody>
      </p:sp>
      <p:sp>
        <p:nvSpPr>
          <p:cNvPr id="45" name="TextBox 44"/>
          <p:cNvSpPr txBox="1"/>
          <p:nvPr/>
        </p:nvSpPr>
        <p:spPr>
          <a:xfrm>
            <a:off x="1709928" y="5458968"/>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explain your root cause with the evidence behind it?</a:t>
            </a:r>
          </a:p>
        </p:txBody>
      </p:sp>
      <p:sp>
        <p:nvSpPr>
          <p:cNvPr id="46" name="Rectangle 45"/>
          <p:cNvSpPr/>
          <p:nvPr/>
        </p:nvSpPr>
        <p:spPr>
          <a:xfrm>
            <a:off x="777240" y="5879592"/>
            <a:ext cx="10634472" cy="274320"/>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777240" y="5879592"/>
            <a:ext cx="91440" cy="274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1014984" y="57515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1014984" y="57515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9</a:t>
            </a:r>
          </a:p>
        </p:txBody>
      </p:sp>
      <p:sp>
        <p:nvSpPr>
          <p:cNvPr id="50" name="TextBox 49"/>
          <p:cNvSpPr txBox="1"/>
          <p:nvPr/>
        </p:nvSpPr>
        <p:spPr>
          <a:xfrm>
            <a:off x="1709928" y="5971032"/>
            <a:ext cx="9482328" cy="128016"/>
          </a:xfrm>
          <a:prstGeom prst="rect">
            <a:avLst/>
          </a:prstGeom>
          <a:noFill/>
        </p:spPr>
        <p:txBody>
          <a:bodyPr wrap="square" anchor="ctr">
            <a:spAutoFit/>
          </a:bodyPr>
          <a:lstStyle/>
          <a:p>
            <a:pPr algn="l">
              <a:spcAft>
                <a:spcPts val="400"/>
              </a:spcAft>
            </a:pPr>
            <a:r>
              <a:rPr sz="1400" b="0">
                <a:solidFill>
                  <a:srgbClr val="161B26"/>
                </a:solidFill>
                <a:latin typeface="Arial"/>
              </a:rPr>
              <a:t>Can you describe how the control plan sustains the gain?</a:t>
            </a:r>
          </a:p>
        </p:txBody>
      </p:sp>
      <p:sp>
        <p:nvSpPr>
          <p:cNvPr id="51" name="TextBox 50"/>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52" name="TextBox 51"/>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53" name="TextBox 52"/>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258</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F59E0B"/>
                </a:solidFill>
                <a:latin typeface="Arial"/>
              </a:rPr>
              <a:t>NEXT STEPS</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Continuing Your Lean Six Sigma Journey</a:t>
            </a:r>
          </a:p>
        </p:txBody>
      </p:sp>
      <p:sp>
        <p:nvSpPr>
          <p:cNvPr id="6" name="Rectangle 5"/>
          <p:cNvSpPr/>
          <p:nvPr/>
        </p:nvSpPr>
        <p:spPr>
          <a:xfrm>
            <a:off x="777240"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1783080"/>
            <a:ext cx="91440" cy="2066544"/>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014984" y="2551176"/>
            <a:ext cx="530352" cy="530352"/>
          </a:xfrm>
          <a:prstGeom prst="ellipse">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14984"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1</a:t>
            </a:r>
          </a:p>
        </p:txBody>
      </p:sp>
      <p:sp>
        <p:nvSpPr>
          <p:cNvPr id="10" name="TextBox 9"/>
          <p:cNvSpPr txBox="1"/>
          <p:nvPr/>
        </p:nvSpPr>
        <p:spPr>
          <a:xfrm>
            <a:off x="1709928"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Apply it at work</a:t>
            </a:r>
          </a:p>
          <a:p>
            <a:pPr algn="l">
              <a:spcAft>
                <a:spcPts val="300"/>
              </a:spcAft>
            </a:pPr>
            <a:r>
              <a:rPr sz="1200" b="0">
                <a:solidFill>
                  <a:srgbClr val="5B6372"/>
                </a:solidFill>
                <a:latin typeface="Arial"/>
              </a:rPr>
              <a:t>Run one small PDCA improvement in your own area within 30 days.</a:t>
            </a:r>
          </a:p>
        </p:txBody>
      </p:sp>
      <p:sp>
        <p:nvSpPr>
          <p:cNvPr id="11" name="Rectangle 10"/>
          <p:cNvSpPr/>
          <p:nvPr/>
        </p:nvSpPr>
        <p:spPr>
          <a:xfrm>
            <a:off x="6231636" y="1783080"/>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31636" y="1783080"/>
            <a:ext cx="91440" cy="2066544"/>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469380" y="2551176"/>
            <a:ext cx="530352" cy="530352"/>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69380" y="2551176"/>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2</a:t>
            </a:r>
          </a:p>
        </p:txBody>
      </p:sp>
      <p:sp>
        <p:nvSpPr>
          <p:cNvPr id="15" name="TextBox 14"/>
          <p:cNvSpPr txBox="1"/>
          <p:nvPr/>
        </p:nvSpPr>
        <p:spPr>
          <a:xfrm>
            <a:off x="7164324" y="1892808"/>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Green Belt</a:t>
            </a:r>
          </a:p>
          <a:p>
            <a:pPr algn="l">
              <a:spcAft>
                <a:spcPts val="300"/>
              </a:spcAft>
            </a:pPr>
            <a:r>
              <a:rPr sz="1200" b="0">
                <a:solidFill>
                  <a:srgbClr val="5B6372"/>
                </a:solidFill>
                <a:latin typeface="Arial"/>
              </a:rPr>
              <a:t>The next step — leads smaller DMAIC projects and handles the statistics.</a:t>
            </a:r>
          </a:p>
        </p:txBody>
      </p:sp>
      <p:sp>
        <p:nvSpPr>
          <p:cNvPr id="16" name="Rectangle 15"/>
          <p:cNvSpPr/>
          <p:nvPr/>
        </p:nvSpPr>
        <p:spPr>
          <a:xfrm>
            <a:off x="777240"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77240" y="4087368"/>
            <a:ext cx="91440" cy="2066544"/>
          </a:xfrm>
          <a:prstGeom prst="rect">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014984" y="4855464"/>
            <a:ext cx="530352" cy="530352"/>
          </a:xfrm>
          <a:prstGeom prst="ellipse">
            <a:avLst/>
          </a:prstGeom>
          <a:solidFill>
            <a:srgbClr val="7C3A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14984"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3</a:t>
            </a:r>
          </a:p>
        </p:txBody>
      </p:sp>
      <p:sp>
        <p:nvSpPr>
          <p:cNvPr id="20" name="TextBox 19"/>
          <p:cNvSpPr txBox="1"/>
          <p:nvPr/>
        </p:nvSpPr>
        <p:spPr>
          <a:xfrm>
            <a:off x="1709928"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Keep the templates</a:t>
            </a:r>
          </a:p>
          <a:p>
            <a:pPr algn="l">
              <a:spcAft>
                <a:spcPts val="300"/>
              </a:spcAft>
            </a:pPr>
            <a:r>
              <a:rPr sz="1200" b="0">
                <a:solidFill>
                  <a:srgbClr val="5B6372"/>
                </a:solidFill>
                <a:latin typeface="Arial"/>
              </a:rPr>
              <a:t>Your lab outputs are reusable templates for real projects.</a:t>
            </a:r>
          </a:p>
        </p:txBody>
      </p:sp>
      <p:sp>
        <p:nvSpPr>
          <p:cNvPr id="21" name="Rectangle 20"/>
          <p:cNvSpPr/>
          <p:nvPr/>
        </p:nvSpPr>
        <p:spPr>
          <a:xfrm>
            <a:off x="6231636" y="4087368"/>
            <a:ext cx="5180076" cy="2066544"/>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6231636" y="4087368"/>
            <a:ext cx="91440" cy="206654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6469380" y="4855464"/>
            <a:ext cx="530352" cy="530352"/>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69380" y="4855464"/>
            <a:ext cx="530352" cy="530352"/>
          </a:xfrm>
          <a:prstGeom prst="rect">
            <a:avLst/>
          </a:prstGeom>
          <a:noFill/>
        </p:spPr>
        <p:txBody>
          <a:bodyPr wrap="square" anchor="ctr">
            <a:spAutoFit/>
          </a:bodyPr>
          <a:lstStyle/>
          <a:p>
            <a:pPr algn="ctr">
              <a:spcAft>
                <a:spcPts val="400"/>
              </a:spcAft>
            </a:pPr>
            <a:r>
              <a:rPr sz="1700" b="1">
                <a:solidFill>
                  <a:srgbClr val="FFFFFF"/>
                </a:solidFill>
                <a:latin typeface="Arial"/>
              </a:rPr>
              <a:t>4</a:t>
            </a:r>
          </a:p>
        </p:txBody>
      </p:sp>
      <p:sp>
        <p:nvSpPr>
          <p:cNvPr id="25" name="TextBox 24"/>
          <p:cNvSpPr txBox="1"/>
          <p:nvPr/>
        </p:nvSpPr>
        <p:spPr>
          <a:xfrm>
            <a:off x="7164324" y="4197096"/>
            <a:ext cx="4027932" cy="1901952"/>
          </a:xfrm>
          <a:prstGeom prst="rect">
            <a:avLst/>
          </a:prstGeom>
          <a:noFill/>
        </p:spPr>
        <p:txBody>
          <a:bodyPr wrap="square" anchor="ctr">
            <a:spAutoFit/>
          </a:bodyPr>
          <a:lstStyle/>
          <a:p>
            <a:pPr algn="l">
              <a:spcAft>
                <a:spcPts val="300"/>
              </a:spcAft>
            </a:pPr>
            <a:r>
              <a:rPr sz="1600" b="1">
                <a:solidFill>
                  <a:srgbClr val="161B26"/>
                </a:solidFill>
                <a:latin typeface="Arial"/>
              </a:rPr>
              <a:t>Join the community</a:t>
            </a:r>
          </a:p>
          <a:p>
            <a:pPr algn="l">
              <a:spcAft>
                <a:spcPts val="300"/>
              </a:spcAft>
            </a:pPr>
            <a:r>
              <a:rPr sz="1200" b="0">
                <a:solidFill>
                  <a:srgbClr val="5B6372"/>
                </a:solidFill>
                <a:latin typeface="Arial"/>
              </a:rPr>
              <a:t>Share improvements with colleagues; Kaizen spreads by example.</a:t>
            </a:r>
          </a:p>
        </p:txBody>
      </p:sp>
      <p:sp>
        <p:nvSpPr>
          <p:cNvPr id="26" name="TextBox 25"/>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27" name="TextBox 26"/>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28" name="TextBox 27"/>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259</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0B981"/>
                </a:solidFill>
                <a:latin typeface="Arial"/>
              </a:rPr>
              <a:t>YOUR FEEDBACK</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Course Feedback</a:t>
            </a:r>
          </a:p>
        </p:txBody>
      </p:sp>
      <p:sp>
        <p:nvSpPr>
          <p:cNvPr id="6" name="Rectangle 5"/>
          <p:cNvSpPr/>
          <p:nvPr/>
        </p:nvSpPr>
        <p:spPr>
          <a:xfrm>
            <a:off x="777240"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777240"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624203"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624203"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1</a:t>
            </a:r>
          </a:p>
        </p:txBody>
      </p:sp>
      <p:sp>
        <p:nvSpPr>
          <p:cNvPr id="10" name="TextBox 9"/>
          <p:cNvSpPr txBox="1"/>
          <p:nvPr/>
        </p:nvSpPr>
        <p:spPr>
          <a:xfrm>
            <a:off x="905256"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Open the course feedback form shared by your trainer</a:t>
            </a:r>
          </a:p>
        </p:txBody>
      </p:sp>
      <p:sp>
        <p:nvSpPr>
          <p:cNvPr id="11" name="TextBox 10"/>
          <p:cNvSpPr txBox="1"/>
          <p:nvPr/>
        </p:nvSpPr>
        <p:spPr>
          <a:xfrm>
            <a:off x="3166110"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2" name="Rectangle 11"/>
          <p:cNvSpPr/>
          <p:nvPr/>
        </p:nvSpPr>
        <p:spPr>
          <a:xfrm>
            <a:off x="3513582"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13582"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360545"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60545"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2</a:t>
            </a:r>
          </a:p>
        </p:txBody>
      </p:sp>
      <p:sp>
        <p:nvSpPr>
          <p:cNvPr id="16" name="TextBox 15"/>
          <p:cNvSpPr txBox="1"/>
          <p:nvPr/>
        </p:nvSpPr>
        <p:spPr>
          <a:xfrm>
            <a:off x="3641598"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Rate the content, the delivery and the hands-on activities</a:t>
            </a:r>
          </a:p>
        </p:txBody>
      </p:sp>
      <p:sp>
        <p:nvSpPr>
          <p:cNvPr id="17" name="TextBox 16"/>
          <p:cNvSpPr txBox="1"/>
          <p:nvPr/>
        </p:nvSpPr>
        <p:spPr>
          <a:xfrm>
            <a:off x="5902452"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18" name="Rectangle 17"/>
          <p:cNvSpPr/>
          <p:nvPr/>
        </p:nvSpPr>
        <p:spPr>
          <a:xfrm>
            <a:off x="6249924"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249924"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7096887"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096887"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3</a:t>
            </a:r>
          </a:p>
        </p:txBody>
      </p:sp>
      <p:sp>
        <p:nvSpPr>
          <p:cNvPr id="22" name="TextBox 21"/>
          <p:cNvSpPr txBox="1"/>
          <p:nvPr/>
        </p:nvSpPr>
        <p:spPr>
          <a:xfrm>
            <a:off x="6377940"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Tell us what worked and what we should change</a:t>
            </a:r>
          </a:p>
        </p:txBody>
      </p:sp>
      <p:sp>
        <p:nvSpPr>
          <p:cNvPr id="23" name="TextBox 22"/>
          <p:cNvSpPr txBox="1"/>
          <p:nvPr/>
        </p:nvSpPr>
        <p:spPr>
          <a:xfrm>
            <a:off x="8638794" y="3497580"/>
            <a:ext cx="384048" cy="548640"/>
          </a:xfrm>
          <a:prstGeom prst="rect">
            <a:avLst/>
          </a:prstGeom>
          <a:noFill/>
        </p:spPr>
        <p:txBody>
          <a:bodyPr wrap="square" anchor="ctr">
            <a:spAutoFit/>
          </a:bodyPr>
          <a:lstStyle/>
          <a:p>
            <a:pPr algn="ctr">
              <a:spcAft>
                <a:spcPts val="400"/>
              </a:spcAft>
            </a:pPr>
            <a:r>
              <a:rPr sz="1500" b="1">
                <a:solidFill>
                  <a:srgbClr val="10B981"/>
                </a:solidFill>
                <a:latin typeface="Arial"/>
              </a:rPr>
              <a:t>▶</a:t>
            </a:r>
          </a:p>
        </p:txBody>
      </p:sp>
      <p:sp>
        <p:nvSpPr>
          <p:cNvPr id="24" name="Rectangle 23"/>
          <p:cNvSpPr/>
          <p:nvPr/>
        </p:nvSpPr>
        <p:spPr>
          <a:xfrm>
            <a:off x="8986266" y="2642616"/>
            <a:ext cx="2425446" cy="2258568"/>
          </a:xfrm>
          <a:prstGeom prst="rect">
            <a:avLst/>
          </a:prstGeom>
          <a:solidFill>
            <a:srgbClr val="F5F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986266" y="2642616"/>
            <a:ext cx="2425446" cy="91440"/>
          </a:xfrm>
          <a:prstGeom prst="rect">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9833229" y="3026664"/>
            <a:ext cx="731520" cy="731520"/>
          </a:xfrm>
          <a:prstGeom prst="ellipse">
            <a:avLst/>
          </a:prstGeom>
          <a:solidFill>
            <a:srgbClr val="10B98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833229" y="3026664"/>
            <a:ext cx="731520" cy="731520"/>
          </a:xfrm>
          <a:prstGeom prst="rect">
            <a:avLst/>
          </a:prstGeom>
          <a:noFill/>
        </p:spPr>
        <p:txBody>
          <a:bodyPr wrap="square" anchor="ctr">
            <a:spAutoFit/>
          </a:bodyPr>
          <a:lstStyle/>
          <a:p>
            <a:pPr algn="ctr">
              <a:spcAft>
                <a:spcPts val="400"/>
              </a:spcAft>
            </a:pPr>
            <a:r>
              <a:rPr sz="2800" b="1">
                <a:solidFill>
                  <a:srgbClr val="FFFFFF"/>
                </a:solidFill>
                <a:latin typeface="Arial"/>
              </a:rPr>
              <a:t>4</a:t>
            </a:r>
          </a:p>
        </p:txBody>
      </p:sp>
      <p:sp>
        <p:nvSpPr>
          <p:cNvPr id="28" name="TextBox 27"/>
          <p:cNvSpPr txBox="1"/>
          <p:nvPr/>
        </p:nvSpPr>
        <p:spPr>
          <a:xfrm>
            <a:off x="9114282" y="3941064"/>
            <a:ext cx="2169414" cy="850392"/>
          </a:xfrm>
          <a:prstGeom prst="rect">
            <a:avLst/>
          </a:prstGeom>
          <a:noFill/>
        </p:spPr>
        <p:txBody>
          <a:bodyPr wrap="square" anchor="t">
            <a:spAutoFit/>
          </a:bodyPr>
          <a:lstStyle/>
          <a:p>
            <a:pPr algn="ctr">
              <a:spcAft>
                <a:spcPts val="400"/>
              </a:spcAft>
            </a:pPr>
            <a:r>
              <a:rPr sz="1300" b="0">
                <a:solidFill>
                  <a:srgbClr val="161B26"/>
                </a:solidFill>
                <a:latin typeface="Arial"/>
              </a:rPr>
              <a:t>Complete and submit — your feedback shapes this course</a:t>
            </a:r>
          </a:p>
        </p:txBody>
      </p:sp>
      <p:sp>
        <p:nvSpPr>
          <p:cNvPr id="29" name="TextBox 28"/>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30" name="TextBox 29"/>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31" name="TextBox 30"/>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260</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141732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77240" y="457200"/>
            <a:ext cx="10607040" cy="365760"/>
          </a:xfrm>
          <a:prstGeom prst="rect">
            <a:avLst/>
          </a:prstGeom>
          <a:noFill/>
        </p:spPr>
        <p:txBody>
          <a:bodyPr wrap="square" anchor="t">
            <a:spAutoFit/>
          </a:bodyPr>
          <a:lstStyle/>
          <a:p>
            <a:pPr algn="l">
              <a:spcAft>
                <a:spcPts val="400"/>
              </a:spcAft>
            </a:pPr>
            <a:r>
              <a:rPr sz="1400" b="1">
                <a:solidFill>
                  <a:srgbClr val="1F6FEB"/>
                </a:solidFill>
                <a:latin typeface="Arial"/>
              </a:rPr>
              <a:t>AFTER THE COURSE</a:t>
            </a:r>
          </a:p>
        </p:txBody>
      </p:sp>
      <p:sp>
        <p:nvSpPr>
          <p:cNvPr id="5" name="TextBox 4"/>
          <p:cNvSpPr txBox="1"/>
          <p:nvPr/>
        </p:nvSpPr>
        <p:spPr>
          <a:xfrm>
            <a:off x="777240" y="841248"/>
            <a:ext cx="10881360" cy="685800"/>
          </a:xfrm>
          <a:prstGeom prst="rect">
            <a:avLst/>
          </a:prstGeom>
          <a:noFill/>
        </p:spPr>
        <p:txBody>
          <a:bodyPr wrap="square" anchor="t">
            <a:spAutoFit/>
          </a:bodyPr>
          <a:lstStyle/>
          <a:p>
            <a:pPr algn="l">
              <a:spcAft>
                <a:spcPts val="400"/>
              </a:spcAft>
            </a:pPr>
            <a:r>
              <a:rPr sz="3000" b="1">
                <a:solidFill>
                  <a:srgbClr val="161B26"/>
                </a:solidFill>
                <a:latin typeface="Arial"/>
              </a:rPr>
              <a:t>Certificate &amp; Support</a:t>
            </a:r>
          </a:p>
        </p:txBody>
      </p:sp>
      <p:sp>
        <p:nvSpPr>
          <p:cNvPr id="6" name="TextBox 5"/>
          <p:cNvSpPr txBox="1"/>
          <p:nvPr/>
        </p:nvSpPr>
        <p:spPr>
          <a:xfrm>
            <a:off x="777240" y="1783080"/>
            <a:ext cx="10607040" cy="4480560"/>
          </a:xfrm>
          <a:prstGeom prst="rect">
            <a:avLst/>
          </a:prstGeom>
          <a:noFill/>
        </p:spPr>
        <p:txBody>
          <a:bodyPr wrap="square">
            <a:spAutoFit/>
          </a:bodyPr>
          <a:lstStyle/>
          <a:p>
            <a:pPr>
              <a:spcAft>
                <a:spcPts val="1000"/>
              </a:spcAft>
            </a:pPr>
            <a:r>
              <a:rPr sz="2000">
                <a:solidFill>
                  <a:srgbClr val="161B26"/>
                </a:solidFill>
                <a:latin typeface="Arial"/>
              </a:rPr>
              <a:t>•  A certificate of completion is awarded on full attendance and completion of the course activities.</a:t>
            </a:r>
          </a:p>
          <a:p>
            <a:pPr>
              <a:spcAft>
                <a:spcPts val="1000"/>
              </a:spcAft>
            </a:pPr>
            <a:r>
              <a:rPr sz="2000">
                <a:solidFill>
                  <a:srgbClr val="161B26"/>
                </a:solidFill>
                <a:latin typeface="Arial"/>
              </a:rPr>
              <a:t>•  Email: enquiry@tertiaryinfotech.com</a:t>
            </a:r>
          </a:p>
          <a:p>
            <a:pPr>
              <a:spcAft>
                <a:spcPts val="1000"/>
              </a:spcAft>
            </a:pPr>
            <a:r>
              <a:rPr sz="2000">
                <a:solidFill>
                  <a:srgbClr val="161B26"/>
                </a:solidFill>
                <a:latin typeface="Arial"/>
              </a:rPr>
              <a:t>•  Tel / WhatsApp: +65 6100 0613</a:t>
            </a:r>
          </a:p>
          <a:p>
            <a:pPr>
              <a:spcAft>
                <a:spcPts val="1000"/>
              </a:spcAft>
            </a:pPr>
            <a:r>
              <a:rPr sz="2000">
                <a:solidFill>
                  <a:srgbClr val="161B26"/>
                </a:solidFill>
                <a:latin typeface="Arial"/>
              </a:rPr>
              <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256032" cy="6858000"/>
          </a:xfrm>
          <a:prstGeom prst="rect">
            <a:avLst/>
          </a:prstGeom>
          <a:solidFill>
            <a:srgbClr val="1F6F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1005840" y="2011680"/>
            <a:ext cx="10058400" cy="457200"/>
          </a:xfrm>
          <a:prstGeom prst="rect">
            <a:avLst/>
          </a:prstGeom>
          <a:noFill/>
        </p:spPr>
        <p:txBody>
          <a:bodyPr wrap="square" anchor="t">
            <a:spAutoFit/>
          </a:bodyPr>
          <a:lstStyle/>
          <a:p>
            <a:pPr algn="l">
              <a:spcAft>
                <a:spcPts val="400"/>
              </a:spcAft>
            </a:pPr>
            <a:r>
              <a:rPr sz="1600" b="1">
                <a:solidFill>
                  <a:srgbClr val="1F6FEB"/>
                </a:solidFill>
                <a:latin typeface="Arial"/>
              </a:rPr>
              <a:t>END OF COURSE</a:t>
            </a:r>
          </a:p>
        </p:txBody>
      </p:sp>
      <p:sp>
        <p:nvSpPr>
          <p:cNvPr id="5" name="TextBox 4"/>
          <p:cNvSpPr txBox="1"/>
          <p:nvPr/>
        </p:nvSpPr>
        <p:spPr>
          <a:xfrm>
            <a:off x="1005840" y="2560320"/>
            <a:ext cx="10332720" cy="2194560"/>
          </a:xfrm>
          <a:prstGeom prst="rect">
            <a:avLst/>
          </a:prstGeom>
          <a:noFill/>
        </p:spPr>
        <p:txBody>
          <a:bodyPr wrap="square" anchor="t">
            <a:spAutoFit/>
          </a:bodyPr>
          <a:lstStyle/>
          <a:p>
            <a:pPr algn="l">
              <a:spcAft>
                <a:spcPts val="400"/>
              </a:spcAft>
            </a:pPr>
            <a:r>
              <a:rPr sz="3800" b="1">
                <a:solidFill>
                  <a:srgbClr val="161B26"/>
                </a:solidFill>
                <a:latin typeface="Arial"/>
              </a:rPr>
              <a:t>Thank You!</a:t>
            </a:r>
          </a:p>
        </p:txBody>
      </p:sp>
      <p:sp>
        <p:nvSpPr>
          <p:cNvPr id="6" name="TextBox 5"/>
          <p:cNvSpPr txBox="1"/>
          <p:nvPr/>
        </p:nvSpPr>
        <p:spPr>
          <a:xfrm>
            <a:off x="1024128" y="4572000"/>
            <a:ext cx="10058400" cy="1188720"/>
          </a:xfrm>
          <a:prstGeom prst="rect">
            <a:avLst/>
          </a:prstGeom>
          <a:noFill/>
        </p:spPr>
        <p:txBody>
          <a:bodyPr wrap="square" anchor="t">
            <a:spAutoFit/>
          </a:bodyPr>
          <a:lstStyle/>
          <a:p>
            <a:pPr algn="l">
              <a:spcAft>
                <a:spcPts val="400"/>
              </a:spcAft>
            </a:pPr>
            <a:r>
              <a:rPr sz="2000" b="0">
                <a:solidFill>
                  <a:srgbClr val="5B6372"/>
                </a:solidFill>
                <a:latin typeface="Arial"/>
              </a:rPr>
              <a:t>Go and improve one process this month — that is what a Yellow Belt is for.</a:t>
            </a:r>
          </a:p>
        </p:txBody>
      </p:sp>
      <p:sp>
        <p:nvSpPr>
          <p:cNvPr id="7" name="TextBox 6"/>
          <p:cNvSpPr txBox="1"/>
          <p:nvPr/>
        </p:nvSpPr>
        <p:spPr>
          <a:xfrm>
            <a:off x="365760" y="6446520"/>
            <a:ext cx="6858000" cy="320040"/>
          </a:xfrm>
          <a:prstGeom prst="rect">
            <a:avLst/>
          </a:prstGeom>
          <a:noFill/>
        </p:spPr>
        <p:txBody>
          <a:bodyPr wrap="square" anchor="t">
            <a:spAutoFit/>
          </a:bodyPr>
          <a:lstStyle/>
          <a:p>
            <a:pPr algn="l">
              <a:spcAft>
                <a:spcPts val="400"/>
              </a:spcAft>
            </a:pPr>
            <a:r>
              <a:rPr sz="900" b="0">
                <a:solidFill>
                  <a:srgbClr val="5B6372"/>
                </a:solidFill>
                <a:latin typeface="Arial"/>
              </a:rPr>
              <a:t>Certified Lean Six Sigma Yellow Belt (CLSSYB)  ·  C524</a:t>
            </a:r>
          </a:p>
        </p:txBody>
      </p:sp>
      <p:sp>
        <p:nvSpPr>
          <p:cNvPr id="8" name="TextBox 7"/>
          <p:cNvSpPr txBox="1"/>
          <p:nvPr/>
        </p:nvSpPr>
        <p:spPr>
          <a:xfrm>
            <a:off x="4572000" y="6446520"/>
            <a:ext cx="3017520" cy="320040"/>
          </a:xfrm>
          <a:prstGeom prst="rect">
            <a:avLst/>
          </a:prstGeom>
          <a:noFill/>
        </p:spPr>
        <p:txBody>
          <a:bodyPr wrap="square" anchor="t">
            <a:spAutoFit/>
          </a:bodyPr>
          <a:lstStyle/>
          <a:p>
            <a:pPr algn="ctr">
              <a:spcAft>
                <a:spcPts val="400"/>
              </a:spcAft>
            </a:pPr>
            <a:r>
              <a:rPr sz="900" b="0">
                <a:solidFill>
                  <a:srgbClr val="5B6372"/>
                </a:solidFill>
                <a:latin typeface="Arial"/>
              </a:rPr>
              <a:t>© 2026 Tertiary Infotech Academy Pte Ltd</a:t>
            </a:r>
          </a:p>
        </p:txBody>
      </p:sp>
      <p:sp>
        <p:nvSpPr>
          <p:cNvPr id="9" name="TextBox 8"/>
          <p:cNvSpPr txBox="1"/>
          <p:nvPr/>
        </p:nvSpPr>
        <p:spPr>
          <a:xfrm>
            <a:off x="11338560" y="6446520"/>
            <a:ext cx="548640" cy="320040"/>
          </a:xfrm>
          <a:prstGeom prst="rect">
            <a:avLst/>
          </a:prstGeom>
          <a:noFill/>
        </p:spPr>
        <p:txBody>
          <a:bodyPr wrap="square" anchor="t">
            <a:spAutoFit/>
          </a:bodyPr>
          <a:lstStyle/>
          <a:p>
            <a:pPr algn="r">
              <a:spcAft>
                <a:spcPts val="400"/>
              </a:spcAft>
            </a:pPr>
            <a:r>
              <a:rPr sz="900" b="0">
                <a:solidFill>
                  <a:srgbClr val="5B6372"/>
                </a:solidFill>
                <a:latin typeface="Arial"/>
              </a:rPr>
              <a:t>262</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